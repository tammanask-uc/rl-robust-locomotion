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b1763ad-d076-1b47-b539-3cafef287ab5}">
          <p14:sldIdLst>
            <p14:sldId id="256"/>
            <p14:sldId id="257"/>
            <p14:sldId id="258"/>
            <p14:sldId id="259"/>
          </p14:sldIdLst>
        </p14:section>
        <p14:section name="Methodology and implementation" id="{875316bb-f963-f4aa-8987-45525aca8472}">
          <p14:sldIdLst>
            <p14:sldId id="260"/>
            <p14:sldId id="261"/>
            <p14:sldId id="262"/>
            <p14:sldId id="263"/>
          </p14:sldIdLst>
        </p14:section>
        <p14:section name="Results" id="{b13160db-b558-f7d2-cea3-a51f4703e6f0}">
          <p14:sldIdLst>
            <p14:sldId id="264"/>
            <p14:sldId id="265"/>
            <p14:sldId id="266"/>
            <p14:sldId id="267"/>
            <p14:sldId id="268"/>
            <p14:sldId id="269"/>
            <p14:sldId id="270"/>
          </p14:sldIdLst>
        </p14:section>
        <p14:section name="Demonstration" id="{76a88b18-3c90-6d93-b5a7-f61af85f3b41}">
          <p14:sldIdLst>
            <p14:sldId id="271"/>
          </p14:sldIdLst>
        </p14:section>
        <p14:section name="Reflection" id="{ef7746d1-f824-5a01-bdfd-c69971f20179}">
          <p14:sldIdLst>
            <p14:sldId id="272"/>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A37"/>
                </a:solidFill>
                <a:latin typeface="+mn-lt"/>
              </a:defRPr>
            </a:pPr>
            <a:r>
              <a:rPr sz="1400" b="0" i="0" u="none" strike="noStrike">
                <a:solidFill>
                  <a:srgbClr val="1F2A37"/>
                </a:solidFill>
                <a:latin typeface="+mn-lt"/>
              </a:rPr>
              <a:t>PPO, nominal training</a:t>
            </a:r>
          </a:p>
        </c:rich>
      </c:tx>
      <c:layout/>
      <c:overlay val="0"/>
    </c:title>
    <c:autoTitleDeleted val="0"/>
    <c:plotArea>
      <c:layout/>
      <c:lineChart>
        <c:varyColors val="0"/>
        <c:ser>
          <c:idx val="0"/>
          <c:order val="0"/>
          <c:tx>
            <c:strRef>
              <c:f>Sheet1!$B$1</c:f>
              <c:strCache>
                <c:ptCount val="1"/>
                <c:pt idx="0">
                  <c:v>Seed 0</c:v>
                </c:pt>
              </c:strCache>
            </c:strRef>
          </c:tx>
          <c:spPr>
            <a:solidFill>
              <a:srgbClr val="8DB4DA"/>
            </a:solidFill>
            <a:ln w="25400" cap="flat">
              <a:solidFill>
                <a:srgbClr val="8DB4DA"/>
              </a:solidFill>
              <a:prstDash val="solid"/>
              <a:round/>
            </a:ln>
            <a:effectLst/>
          </c:spPr>
          <c:invertIfNegative val="0"/>
          <c:dLbls>
            <c:numFmt formatCode="#,##0" sourceLinked="0"/>
            <c:txPr>
              <a:bodyPr/>
              <a:lstStyle/>
              <a:p>
                <a:pPr>
                  <a:defRPr b="0" i="0" strike="noStrike" sz="1000" u="none">
                    <a:solidFill>
                      <a:srgbClr val="1F2A37"/>
                    </a:solidFill>
                    <a:latin typeface="+mn-lt"/>
                  </a:defRPr>
                </a:pPr>
              </a:p>
            </c:txPr>
            <c:showLegendKey val="0"/>
            <c:showVal val="0"/>
            <c:showCatName val="0"/>
            <c:showSerName val="0"/>
            <c:showPercent val="0"/>
            <c:showBubbleSize val="0"/>
            <c:showLeaderLines val="0"/>
          </c:dLbls>
          <c:marker>
            <c:symbol val="none"/>
            <c:size val="6"/>
            <c:spPr>
              <a:solidFill>
                <a:srgbClr val="8DB4DA"/>
              </a:solidFill>
              <a:ln w="9525" cap="flat">
                <a:solidFill>
                  <a:srgbClr val="8DB4DA"/>
                </a:solidFill>
                <a:prstDash val="solid"/>
                <a:round/>
              </a:ln>
              <a:effectLst/>
            </c:spPr>
          </c:marker>
          <c:cat>
            <c:multiLvlStrRef>
              <c:f>Sheet1!$A$2:$A$21</c:f>
              <c:multiLvlStrCache>
                <c:ptCount val="20"/>
                <c:lvl>
                  <c:pt idx="0">
                    <c:v>25K</c:v>
                  </c:pt>
                  <c:pt idx="1">
                    <c:v>50K</c:v>
                  </c:pt>
                  <c:pt idx="2">
                    <c:v>75K</c:v>
                  </c:pt>
                  <c:pt idx="3">
                    <c:v>100K</c:v>
                  </c:pt>
                  <c:pt idx="4">
                    <c:v>125K</c:v>
                  </c:pt>
                  <c:pt idx="5">
                    <c:v>150K</c:v>
                  </c:pt>
                  <c:pt idx="6">
                    <c:v>175K</c:v>
                  </c:pt>
                  <c:pt idx="7">
                    <c:v>200K</c:v>
                  </c:pt>
                  <c:pt idx="8">
                    <c:v>225K</c:v>
                  </c:pt>
                  <c:pt idx="9">
                    <c:v>250K</c:v>
                  </c:pt>
                  <c:pt idx="10">
                    <c:v>275K</c:v>
                  </c:pt>
                  <c:pt idx="11">
                    <c:v>300K</c:v>
                  </c:pt>
                  <c:pt idx="12">
                    <c:v>325K</c:v>
                  </c:pt>
                  <c:pt idx="13">
                    <c:v>350K</c:v>
                  </c:pt>
                  <c:pt idx="14">
                    <c:v>375K</c:v>
                  </c:pt>
                  <c:pt idx="15">
                    <c:v>400K</c:v>
                  </c:pt>
                  <c:pt idx="16">
                    <c:v>425K</c:v>
                  </c:pt>
                  <c:pt idx="17">
                    <c:v>450K</c:v>
                  </c:pt>
                  <c:pt idx="18">
                    <c:v>475K</c:v>
                  </c:pt>
                  <c:pt idx="19">
                    <c:v>500K</c:v>
                  </c:pt>
                </c:lvl>
              </c:multiLvlStrCache>
            </c:multiLvlStrRef>
          </c:cat>
          <c:val>
            <c:numRef>
              <c:f>Sheet1!$B$2:$B$21</c:f>
              <c:numCache>
                <c:formatCode>General</c:formatCode>
                <c:ptCount val="20"/>
                <c:pt idx="0">
                  <c:v>297</c:v>
                </c:pt>
                <c:pt idx="1">
                  <c:v>502</c:v>
                </c:pt>
                <c:pt idx="2">
                  <c:v>2447</c:v>
                </c:pt>
                <c:pt idx="3">
                  <c:v>2067</c:v>
                </c:pt>
                <c:pt idx="4">
                  <c:v>2644</c:v>
                </c:pt>
                <c:pt idx="5">
                  <c:v>1328</c:v>
                </c:pt>
                <c:pt idx="6">
                  <c:v>1055</c:v>
                </c:pt>
                <c:pt idx="7">
                  <c:v>1307</c:v>
                </c:pt>
                <c:pt idx="8">
                  <c:v>1471</c:v>
                </c:pt>
                <c:pt idx="9">
                  <c:v>2758</c:v>
                </c:pt>
                <c:pt idx="10">
                  <c:v>1072</c:v>
                </c:pt>
                <c:pt idx="11">
                  <c:v>1168</c:v>
                </c:pt>
                <c:pt idx="12">
                  <c:v>1472</c:v>
                </c:pt>
                <c:pt idx="13">
                  <c:v>1784</c:v>
                </c:pt>
                <c:pt idx="14">
                  <c:v>1212</c:v>
                </c:pt>
                <c:pt idx="15">
                  <c:v>2185</c:v>
                </c:pt>
                <c:pt idx="16">
                  <c:v>2947</c:v>
                </c:pt>
                <c:pt idx="17">
                  <c:v>1578</c:v>
                </c:pt>
                <c:pt idx="18">
                  <c:v>1352</c:v>
                </c:pt>
                <c:pt idx="19">
                  <c:v>1208</c:v>
                </c:pt>
              </c:numCache>
            </c:numRef>
          </c:val>
          <c:smooth val="0"/>
        </c:ser>
        <c:ser>
          <c:idx val="1"/>
          <c:order val="1"/>
          <c:tx>
            <c:strRef>
              <c:f>Sheet1!$C$1</c:f>
              <c:strCache>
                <c:ptCount val="1"/>
                <c:pt idx="0">
                  <c:v>Seed 1</c:v>
                </c:pt>
              </c:strCache>
            </c:strRef>
          </c:tx>
          <c:spPr>
            <a:solidFill>
              <a:srgbClr val="2E5E8C"/>
            </a:solidFill>
            <a:ln w="25400" cap="flat">
              <a:solidFill>
                <a:srgbClr val="2E5E8C"/>
              </a:solidFill>
              <a:prstDash val="solid"/>
              <a:round/>
            </a:ln>
            <a:effectLst/>
          </c:spPr>
          <c:invertIfNegative val="0"/>
          <c:dLbls>
            <c:numFmt formatCode="#,##0" sourceLinked="0"/>
            <c:txPr>
              <a:bodyPr/>
              <a:lstStyle/>
              <a:p>
                <a:pPr>
                  <a:defRPr b="0" i="0" strike="noStrike" sz="1000" u="none">
                    <a:solidFill>
                      <a:srgbClr val="1F2A37"/>
                    </a:solidFill>
                    <a:latin typeface="+mn-lt"/>
                  </a:defRPr>
                </a:pPr>
              </a:p>
            </c:txPr>
            <c:showLegendKey val="0"/>
            <c:showVal val="0"/>
            <c:showCatName val="0"/>
            <c:showSerName val="0"/>
            <c:showPercent val="0"/>
            <c:showBubbleSize val="0"/>
            <c:showLeaderLines val="0"/>
          </c:dLbls>
          <c:marker>
            <c:symbol val="none"/>
            <c:size val="6"/>
            <c:spPr>
              <a:solidFill>
                <a:srgbClr val="2E5E8C"/>
              </a:solidFill>
              <a:ln w="9525" cap="flat">
                <a:solidFill>
                  <a:srgbClr val="2E5E8C"/>
                </a:solidFill>
                <a:prstDash val="solid"/>
                <a:round/>
              </a:ln>
              <a:effectLst/>
            </c:spPr>
          </c:marker>
          <c:cat>
            <c:multiLvlStrRef>
              <c:f>Sheet1!$A$2:$A$21</c:f>
              <c:multiLvlStrCache>
                <c:ptCount val="20"/>
                <c:lvl>
                  <c:pt idx="0">
                    <c:v>25K</c:v>
                  </c:pt>
                  <c:pt idx="1">
                    <c:v>50K</c:v>
                  </c:pt>
                  <c:pt idx="2">
                    <c:v>75K</c:v>
                  </c:pt>
                  <c:pt idx="3">
                    <c:v>100K</c:v>
                  </c:pt>
                  <c:pt idx="4">
                    <c:v>125K</c:v>
                  </c:pt>
                  <c:pt idx="5">
                    <c:v>150K</c:v>
                  </c:pt>
                  <c:pt idx="6">
                    <c:v>175K</c:v>
                  </c:pt>
                  <c:pt idx="7">
                    <c:v>200K</c:v>
                  </c:pt>
                  <c:pt idx="8">
                    <c:v>225K</c:v>
                  </c:pt>
                  <c:pt idx="9">
                    <c:v>250K</c:v>
                  </c:pt>
                  <c:pt idx="10">
                    <c:v>275K</c:v>
                  </c:pt>
                  <c:pt idx="11">
                    <c:v>300K</c:v>
                  </c:pt>
                  <c:pt idx="12">
                    <c:v>325K</c:v>
                  </c:pt>
                  <c:pt idx="13">
                    <c:v>350K</c:v>
                  </c:pt>
                  <c:pt idx="14">
                    <c:v>375K</c:v>
                  </c:pt>
                  <c:pt idx="15">
                    <c:v>400K</c:v>
                  </c:pt>
                  <c:pt idx="16">
                    <c:v>425K</c:v>
                  </c:pt>
                  <c:pt idx="17">
                    <c:v>450K</c:v>
                  </c:pt>
                  <c:pt idx="18">
                    <c:v>475K</c:v>
                  </c:pt>
                  <c:pt idx="19">
                    <c:v>500K</c:v>
                  </c:pt>
                </c:lvl>
              </c:multiLvlStrCache>
            </c:multiLvlStrRef>
          </c:cat>
          <c:val>
            <c:numRef>
              <c:f>Sheet1!$C$2:$C$21</c:f>
              <c:numCache>
                <c:formatCode>General</c:formatCode>
                <c:ptCount val="20"/>
                <c:pt idx="0">
                  <c:v>300</c:v>
                </c:pt>
                <c:pt idx="1">
                  <c:v>426</c:v>
                </c:pt>
                <c:pt idx="2">
                  <c:v>750</c:v>
                </c:pt>
                <c:pt idx="3">
                  <c:v>557</c:v>
                </c:pt>
                <c:pt idx="4">
                  <c:v>329</c:v>
                </c:pt>
                <c:pt idx="5">
                  <c:v>799</c:v>
                </c:pt>
                <c:pt idx="6">
                  <c:v>373</c:v>
                </c:pt>
                <c:pt idx="7">
                  <c:v>825</c:v>
                </c:pt>
                <c:pt idx="8">
                  <c:v>2497</c:v>
                </c:pt>
                <c:pt idx="9">
                  <c:v>960</c:v>
                </c:pt>
                <c:pt idx="10">
                  <c:v>2963</c:v>
                </c:pt>
                <c:pt idx="11">
                  <c:v>2890</c:v>
                </c:pt>
                <c:pt idx="12">
                  <c:v>1729</c:v>
                </c:pt>
                <c:pt idx="13">
                  <c:v>3160</c:v>
                </c:pt>
                <c:pt idx="14">
                  <c:v>2758</c:v>
                </c:pt>
                <c:pt idx="15">
                  <c:v>2974</c:v>
                </c:pt>
                <c:pt idx="16">
                  <c:v>2959</c:v>
                </c:pt>
                <c:pt idx="17">
                  <c:v>3156</c:v>
                </c:pt>
                <c:pt idx="18">
                  <c:v>1432</c:v>
                </c:pt>
                <c:pt idx="19">
                  <c:v>3306</c:v>
                </c:pt>
              </c:numCache>
            </c:numRef>
          </c:val>
          <c:smooth val="0"/>
        </c:ser>
        <c:ser>
          <c:idx val="2"/>
          <c:order val="2"/>
          <c:tx>
            <c:strRef>
              <c:f>Sheet1!$D$1</c:f>
              <c:strCache>
                <c:ptCount val="1"/>
                <c:pt idx="0">
                  <c:v>Seed 2</c:v>
                </c:pt>
              </c:strCache>
            </c:strRef>
          </c:tx>
          <c:spPr>
            <a:solidFill>
              <a:srgbClr val="16263D"/>
            </a:solidFill>
            <a:ln w="25400" cap="flat">
              <a:solidFill>
                <a:srgbClr val="16263D"/>
              </a:solidFill>
              <a:prstDash val="solid"/>
              <a:round/>
            </a:ln>
            <a:effectLst/>
          </c:spPr>
          <c:invertIfNegative val="0"/>
          <c:dLbls>
            <c:numFmt formatCode="#,##0" sourceLinked="0"/>
            <c:txPr>
              <a:bodyPr/>
              <a:lstStyle/>
              <a:p>
                <a:pPr>
                  <a:defRPr b="0" i="0" strike="noStrike" sz="1000" u="none">
                    <a:solidFill>
                      <a:srgbClr val="1F2A37"/>
                    </a:solidFill>
                    <a:latin typeface="+mn-lt"/>
                  </a:defRPr>
                </a:pPr>
              </a:p>
            </c:txPr>
            <c:showLegendKey val="0"/>
            <c:showVal val="0"/>
            <c:showCatName val="0"/>
            <c:showSerName val="0"/>
            <c:showPercent val="0"/>
            <c:showBubbleSize val="0"/>
            <c:showLeaderLines val="0"/>
          </c:dLbls>
          <c:marker>
            <c:symbol val="none"/>
            <c:size val="6"/>
            <c:spPr>
              <a:solidFill>
                <a:srgbClr val="16263D"/>
              </a:solidFill>
              <a:ln w="9525" cap="flat">
                <a:solidFill>
                  <a:srgbClr val="16263D"/>
                </a:solidFill>
                <a:prstDash val="solid"/>
                <a:round/>
              </a:ln>
              <a:effectLst/>
            </c:spPr>
          </c:marker>
          <c:cat>
            <c:multiLvlStrRef>
              <c:f>Sheet1!$A$2:$A$21</c:f>
              <c:multiLvlStrCache>
                <c:ptCount val="20"/>
                <c:lvl>
                  <c:pt idx="0">
                    <c:v>25K</c:v>
                  </c:pt>
                  <c:pt idx="1">
                    <c:v>50K</c:v>
                  </c:pt>
                  <c:pt idx="2">
                    <c:v>75K</c:v>
                  </c:pt>
                  <c:pt idx="3">
                    <c:v>100K</c:v>
                  </c:pt>
                  <c:pt idx="4">
                    <c:v>125K</c:v>
                  </c:pt>
                  <c:pt idx="5">
                    <c:v>150K</c:v>
                  </c:pt>
                  <c:pt idx="6">
                    <c:v>175K</c:v>
                  </c:pt>
                  <c:pt idx="7">
                    <c:v>200K</c:v>
                  </c:pt>
                  <c:pt idx="8">
                    <c:v>225K</c:v>
                  </c:pt>
                  <c:pt idx="9">
                    <c:v>250K</c:v>
                  </c:pt>
                  <c:pt idx="10">
                    <c:v>275K</c:v>
                  </c:pt>
                  <c:pt idx="11">
                    <c:v>300K</c:v>
                  </c:pt>
                  <c:pt idx="12">
                    <c:v>325K</c:v>
                  </c:pt>
                  <c:pt idx="13">
                    <c:v>350K</c:v>
                  </c:pt>
                  <c:pt idx="14">
                    <c:v>375K</c:v>
                  </c:pt>
                  <c:pt idx="15">
                    <c:v>400K</c:v>
                  </c:pt>
                  <c:pt idx="16">
                    <c:v>425K</c:v>
                  </c:pt>
                  <c:pt idx="17">
                    <c:v>450K</c:v>
                  </c:pt>
                  <c:pt idx="18">
                    <c:v>475K</c:v>
                  </c:pt>
                  <c:pt idx="19">
                    <c:v>500K</c:v>
                  </c:pt>
                </c:lvl>
              </c:multiLvlStrCache>
            </c:multiLvlStrRef>
          </c:cat>
          <c:val>
            <c:numRef>
              <c:f>Sheet1!$D$2:$D$21</c:f>
              <c:numCache>
                <c:formatCode>General</c:formatCode>
                <c:ptCount val="20"/>
                <c:pt idx="0">
                  <c:v>293</c:v>
                </c:pt>
                <c:pt idx="1">
                  <c:v>371</c:v>
                </c:pt>
                <c:pt idx="2">
                  <c:v>715</c:v>
                </c:pt>
                <c:pt idx="3">
                  <c:v>647</c:v>
                </c:pt>
                <c:pt idx="4">
                  <c:v>1064</c:v>
                </c:pt>
                <c:pt idx="5">
                  <c:v>1437</c:v>
                </c:pt>
                <c:pt idx="6">
                  <c:v>2009</c:v>
                </c:pt>
                <c:pt idx="7">
                  <c:v>2696</c:v>
                </c:pt>
                <c:pt idx="8">
                  <c:v>3007</c:v>
                </c:pt>
                <c:pt idx="9">
                  <c:v>3142</c:v>
                </c:pt>
                <c:pt idx="10">
                  <c:v>3323</c:v>
                </c:pt>
                <c:pt idx="11">
                  <c:v>3347</c:v>
                </c:pt>
                <c:pt idx="12">
                  <c:v>3204</c:v>
                </c:pt>
                <c:pt idx="13">
                  <c:v>1244</c:v>
                </c:pt>
                <c:pt idx="14">
                  <c:v>3443</c:v>
                </c:pt>
                <c:pt idx="15">
                  <c:v>3328</c:v>
                </c:pt>
                <c:pt idx="16">
                  <c:v>3393</c:v>
                </c:pt>
                <c:pt idx="17">
                  <c:v>3435</c:v>
                </c:pt>
                <c:pt idx="18">
                  <c:v>1746</c:v>
                </c:pt>
                <c:pt idx="19">
                  <c:v>3441</c:v>
                </c:pt>
              </c:numCache>
            </c:numRef>
          </c:val>
          <c:smooth val="0"/>
        </c:ser>
        <c:dLbls>
          <c:numFmt formatCode="#,##0" sourceLinked="0"/>
          <c:txPr>
            <a:bodyPr/>
            <a:lstStyle/>
            <a:p>
              <a:pPr>
                <a:defRPr b="0" i="0" strike="noStrike" sz="1000" u="none">
                  <a:solidFill>
                    <a:srgbClr val="1F2A37"/>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6B7A"/>
                </a:solidFill>
                <a:latin typeface="+mn-lt"/>
              </a:defRPr>
            </a:pPr>
            <a:endParaRPr lang="en-US"/>
          </a:p>
        </c:txPr>
        <c:crossAx val="2094734552"/>
        <c:crosses val="autoZero"/>
        <c:auto val="1"/>
        <c:lblAlgn val="ctr"/>
        <c:noMultiLvlLbl val="1"/>
        <c:tickLblSkip val="4"/>
      </c:catAx>
      <c:valAx>
        <c:axId val="2094734552"/>
        <c:scaling>
          <c:orientation val="minMax"/>
          <c:max val="3600"/>
          <c:min val="0"/>
        </c:scaling>
        <c:delete val="0"/>
        <c:axPos val="l"/>
        <c:majorGridlines>
          <c:spPr>
            <a:ln w="9525" cap="flat">
              <a:solidFill>
                <a:srgbClr val="E3E8EE"/>
              </a:solidFill>
              <a:prstDash val="solid"/>
              <a:round/>
            </a:ln>
          </c:spPr>
        </c:majorGridlines>
        <c:title>
          <c:tx>
            <c:rich>
              <a:bodyPr/>
              <a:lstStyle/>
              <a:p>
                <a:pPr>
                  <a:defRPr sz="1100" b="0" i="0" u="none" strike="noStrike">
                    <a:solidFill>
                      <a:srgbClr val="5F6B7A"/>
                    </a:solidFill>
                    <a:latin typeface="+mn-lt"/>
                  </a:defRPr>
                </a:pPr>
                <a:r>
                  <a:rPr sz="1100" b="0" i="0" u="none" strike="noStrike">
                    <a:solidFill>
                      <a:srgbClr val="5F6B7A"/>
                    </a:solidFill>
                    <a:latin typeface="+mn-lt"/>
                  </a:rPr>
                  <a:t>Validation return</a:t>
                </a:r>
              </a:p>
            </c:rich>
          </c:tx>
          <c:layout/>
          <c:overlay val="0"/>
        </c:title>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6B7A"/>
                </a:solidFill>
                <a:latin typeface="+mn-lt"/>
              </a:defRPr>
            </a:pPr>
            <a:endParaRPr lang="en-US"/>
          </a:p>
        </c:txPr>
        <c:crossAx val="2094734554"/>
        <c:crosses val="autoZero"/>
        <c:crossBetween val="between"/>
        <c:majorUnit val="1000"/>
      </c:valAx>
      <c:spPr>
        <a:noFill/>
        <a:ln>
          <a:noFill/>
        </a:ln>
        <a:effectLst/>
      </c:spPr>
    </c:plotArea>
    <c:legend>
      <c:legendPos val="b"/>
      <c:overlay val="0"/>
      <c:txPr>
        <a:bodyPr/>
        <a:lstStyle/>
        <a:p>
          <a:pPr>
            <a:defRPr sz="1200">
              <a:solidFill>
                <a:srgbClr val="1F2A37"/>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A37"/>
                </a:solidFill>
                <a:latin typeface="+mn-lt"/>
              </a:defRPr>
            </a:pPr>
            <a:r>
              <a:rPr sz="1400" b="0" i="0" u="none" strike="noStrike">
                <a:solidFill>
                  <a:srgbClr val="1F2A37"/>
                </a:solidFill>
                <a:latin typeface="+mn-lt"/>
              </a:rPr>
              <a:t>SAC, nominal training</a:t>
            </a:r>
          </a:p>
        </c:rich>
      </c:tx>
      <c:layout/>
      <c:overlay val="0"/>
    </c:title>
    <c:autoTitleDeleted val="0"/>
    <c:plotArea>
      <c:layout/>
      <c:lineChart>
        <c:varyColors val="0"/>
        <c:ser>
          <c:idx val="0"/>
          <c:order val="0"/>
          <c:tx>
            <c:strRef>
              <c:f>Sheet1!$B$1</c:f>
              <c:strCache>
                <c:ptCount val="1"/>
                <c:pt idx="0">
                  <c:v>Seed 0*</c:v>
                </c:pt>
              </c:strCache>
            </c:strRef>
          </c:tx>
          <c:spPr>
            <a:solidFill>
              <a:srgbClr val="F0B47A"/>
            </a:solidFill>
            <a:ln w="25400" cap="flat">
              <a:solidFill>
                <a:srgbClr val="F0B47A"/>
              </a:solidFill>
              <a:prstDash val="solid"/>
              <a:round/>
            </a:ln>
            <a:effectLst/>
          </c:spPr>
          <c:invertIfNegative val="0"/>
          <c:dLbls>
            <c:numFmt formatCode="#,##0" sourceLinked="0"/>
            <c:txPr>
              <a:bodyPr/>
              <a:lstStyle/>
              <a:p>
                <a:pPr>
                  <a:defRPr b="0" i="0" strike="noStrike" sz="1000" u="none">
                    <a:solidFill>
                      <a:srgbClr val="1F2A37"/>
                    </a:solidFill>
                    <a:latin typeface="+mn-lt"/>
                  </a:defRPr>
                </a:pPr>
              </a:p>
            </c:txPr>
            <c:showLegendKey val="0"/>
            <c:showVal val="0"/>
            <c:showCatName val="0"/>
            <c:showSerName val="0"/>
            <c:showPercent val="0"/>
            <c:showBubbleSize val="0"/>
            <c:showLeaderLines val="0"/>
          </c:dLbls>
          <c:marker>
            <c:symbol val="none"/>
            <c:size val="6"/>
            <c:spPr>
              <a:solidFill>
                <a:srgbClr val="F0B47A"/>
              </a:solidFill>
              <a:ln w="9525" cap="flat">
                <a:solidFill>
                  <a:srgbClr val="F0B47A"/>
                </a:solidFill>
                <a:prstDash val="solid"/>
                <a:round/>
              </a:ln>
              <a:effectLst/>
            </c:spPr>
          </c:marker>
          <c:cat>
            <c:multiLvlStrRef>
              <c:f>Sheet1!$A$2:$A$21</c:f>
              <c:multiLvlStrCache>
                <c:ptCount val="20"/>
                <c:lvl>
                  <c:pt idx="0">
                    <c:v>25K</c:v>
                  </c:pt>
                  <c:pt idx="1">
                    <c:v>50K</c:v>
                  </c:pt>
                  <c:pt idx="2">
                    <c:v>75K</c:v>
                  </c:pt>
                  <c:pt idx="3">
                    <c:v>100K</c:v>
                  </c:pt>
                  <c:pt idx="4">
                    <c:v>125K</c:v>
                  </c:pt>
                  <c:pt idx="5">
                    <c:v>150K</c:v>
                  </c:pt>
                  <c:pt idx="6">
                    <c:v>175K</c:v>
                  </c:pt>
                  <c:pt idx="7">
                    <c:v>200K</c:v>
                  </c:pt>
                  <c:pt idx="8">
                    <c:v>225K</c:v>
                  </c:pt>
                  <c:pt idx="9">
                    <c:v>250K</c:v>
                  </c:pt>
                  <c:pt idx="10">
                    <c:v>275K</c:v>
                  </c:pt>
                  <c:pt idx="11">
                    <c:v>300K</c:v>
                  </c:pt>
                  <c:pt idx="12">
                    <c:v>325K</c:v>
                  </c:pt>
                  <c:pt idx="13">
                    <c:v>350K</c:v>
                  </c:pt>
                  <c:pt idx="14">
                    <c:v>375K</c:v>
                  </c:pt>
                  <c:pt idx="15">
                    <c:v>400K</c:v>
                  </c:pt>
                  <c:pt idx="16">
                    <c:v>425K</c:v>
                  </c:pt>
                  <c:pt idx="17">
                    <c:v>450K</c:v>
                  </c:pt>
                  <c:pt idx="18">
                    <c:v>475K</c:v>
                  </c:pt>
                  <c:pt idx="19">
                    <c:v>500K</c:v>
                  </c:pt>
                </c:lvl>
              </c:multiLvlStrCache>
            </c:multiLvlStrRef>
          </c:cat>
          <c:val>
            <c:numRef>
              <c:f>Sheet1!$B$2:$B$21</c:f>
              <c:numCache>
                <c:formatCode>General</c:formatCode>
                <c:ptCount val="20"/>
                <c:pt idx="0">
                  <c:v/>
                </c:pt>
                <c:pt idx="1">
                  <c:v/>
                </c:pt>
                <c:pt idx="2">
                  <c:v/>
                </c:pt>
                <c:pt idx="3">
                  <c:v/>
                </c:pt>
                <c:pt idx="4">
                  <c:v/>
                </c:pt>
                <c:pt idx="5">
                  <c:v/>
                </c:pt>
                <c:pt idx="6">
                  <c:v/>
                </c:pt>
                <c:pt idx="7">
                  <c:v/>
                </c:pt>
                <c:pt idx="8">
                  <c:v/>
                </c:pt>
                <c:pt idx="9">
                  <c:v/>
                </c:pt>
                <c:pt idx="10">
                  <c:v/>
                </c:pt>
                <c:pt idx="11">
                  <c:v/>
                </c:pt>
                <c:pt idx="12">
                  <c:v>1521</c:v>
                </c:pt>
                <c:pt idx="13">
                  <c:v>2176</c:v>
                </c:pt>
                <c:pt idx="14">
                  <c:v>3367</c:v>
                </c:pt>
                <c:pt idx="15">
                  <c:v>216</c:v>
                </c:pt>
                <c:pt idx="16">
                  <c:v>2274</c:v>
                </c:pt>
                <c:pt idx="17">
                  <c:v>2594</c:v>
                </c:pt>
                <c:pt idx="18">
                  <c:v>3339</c:v>
                </c:pt>
                <c:pt idx="19">
                  <c:v>3335</c:v>
                </c:pt>
              </c:numCache>
            </c:numRef>
          </c:val>
          <c:smooth val="0"/>
        </c:ser>
        <c:ser>
          <c:idx val="1"/>
          <c:order val="1"/>
          <c:tx>
            <c:strRef>
              <c:f>Sheet1!$C$1</c:f>
              <c:strCache>
                <c:ptCount val="1"/>
                <c:pt idx="0">
                  <c:v>Seed 1</c:v>
                </c:pt>
              </c:strCache>
            </c:strRef>
          </c:tx>
          <c:spPr>
            <a:solidFill>
              <a:srgbClr val="D2802F"/>
            </a:solidFill>
            <a:ln w="25400" cap="flat">
              <a:solidFill>
                <a:srgbClr val="D2802F"/>
              </a:solidFill>
              <a:prstDash val="solid"/>
              <a:round/>
            </a:ln>
            <a:effectLst/>
          </c:spPr>
          <c:invertIfNegative val="0"/>
          <c:dLbls>
            <c:numFmt formatCode="#,##0" sourceLinked="0"/>
            <c:txPr>
              <a:bodyPr/>
              <a:lstStyle/>
              <a:p>
                <a:pPr>
                  <a:defRPr b="0" i="0" strike="noStrike" sz="1000" u="none">
                    <a:solidFill>
                      <a:srgbClr val="1F2A37"/>
                    </a:solidFill>
                    <a:latin typeface="+mn-lt"/>
                  </a:defRPr>
                </a:pPr>
              </a:p>
            </c:txPr>
            <c:showLegendKey val="0"/>
            <c:showVal val="0"/>
            <c:showCatName val="0"/>
            <c:showSerName val="0"/>
            <c:showPercent val="0"/>
            <c:showBubbleSize val="0"/>
            <c:showLeaderLines val="0"/>
          </c:dLbls>
          <c:marker>
            <c:symbol val="none"/>
            <c:size val="6"/>
            <c:spPr>
              <a:solidFill>
                <a:srgbClr val="D2802F"/>
              </a:solidFill>
              <a:ln w="9525" cap="flat">
                <a:solidFill>
                  <a:srgbClr val="D2802F"/>
                </a:solidFill>
                <a:prstDash val="solid"/>
                <a:round/>
              </a:ln>
              <a:effectLst/>
            </c:spPr>
          </c:marker>
          <c:cat>
            <c:multiLvlStrRef>
              <c:f>Sheet1!$A$2:$A$21</c:f>
              <c:multiLvlStrCache>
                <c:ptCount val="20"/>
                <c:lvl>
                  <c:pt idx="0">
                    <c:v>25K</c:v>
                  </c:pt>
                  <c:pt idx="1">
                    <c:v>50K</c:v>
                  </c:pt>
                  <c:pt idx="2">
                    <c:v>75K</c:v>
                  </c:pt>
                  <c:pt idx="3">
                    <c:v>100K</c:v>
                  </c:pt>
                  <c:pt idx="4">
                    <c:v>125K</c:v>
                  </c:pt>
                  <c:pt idx="5">
                    <c:v>150K</c:v>
                  </c:pt>
                  <c:pt idx="6">
                    <c:v>175K</c:v>
                  </c:pt>
                  <c:pt idx="7">
                    <c:v>200K</c:v>
                  </c:pt>
                  <c:pt idx="8">
                    <c:v>225K</c:v>
                  </c:pt>
                  <c:pt idx="9">
                    <c:v>250K</c:v>
                  </c:pt>
                  <c:pt idx="10">
                    <c:v>275K</c:v>
                  </c:pt>
                  <c:pt idx="11">
                    <c:v>300K</c:v>
                  </c:pt>
                  <c:pt idx="12">
                    <c:v>325K</c:v>
                  </c:pt>
                  <c:pt idx="13">
                    <c:v>350K</c:v>
                  </c:pt>
                  <c:pt idx="14">
                    <c:v>375K</c:v>
                  </c:pt>
                  <c:pt idx="15">
                    <c:v>400K</c:v>
                  </c:pt>
                  <c:pt idx="16">
                    <c:v>425K</c:v>
                  </c:pt>
                  <c:pt idx="17">
                    <c:v>450K</c:v>
                  </c:pt>
                  <c:pt idx="18">
                    <c:v>475K</c:v>
                  </c:pt>
                  <c:pt idx="19">
                    <c:v>500K</c:v>
                  </c:pt>
                </c:lvl>
              </c:multiLvlStrCache>
            </c:multiLvlStrRef>
          </c:cat>
          <c:val>
            <c:numRef>
              <c:f>Sheet1!$C$2:$C$21</c:f>
              <c:numCache>
                <c:formatCode>General</c:formatCode>
                <c:ptCount val="20"/>
                <c:pt idx="0">
                  <c:v>351</c:v>
                </c:pt>
                <c:pt idx="1">
                  <c:v>585</c:v>
                </c:pt>
                <c:pt idx="2">
                  <c:v>589</c:v>
                </c:pt>
                <c:pt idx="3">
                  <c:v>784</c:v>
                </c:pt>
                <c:pt idx="4">
                  <c:v>2091</c:v>
                </c:pt>
                <c:pt idx="5">
                  <c:v>731</c:v>
                </c:pt>
                <c:pt idx="6">
                  <c:v>1018</c:v>
                </c:pt>
                <c:pt idx="7">
                  <c:v>1738</c:v>
                </c:pt>
                <c:pt idx="8">
                  <c:v>2197</c:v>
                </c:pt>
                <c:pt idx="9">
                  <c:v>3122</c:v>
                </c:pt>
                <c:pt idx="10">
                  <c:v>729</c:v>
                </c:pt>
                <c:pt idx="11">
                  <c:v>1418</c:v>
                </c:pt>
                <c:pt idx="12">
                  <c:v>3181</c:v>
                </c:pt>
                <c:pt idx="13">
                  <c:v>3154</c:v>
                </c:pt>
                <c:pt idx="14">
                  <c:v>3199</c:v>
                </c:pt>
                <c:pt idx="15">
                  <c:v>3133</c:v>
                </c:pt>
                <c:pt idx="16">
                  <c:v>3199</c:v>
                </c:pt>
                <c:pt idx="17">
                  <c:v>3172</c:v>
                </c:pt>
                <c:pt idx="18">
                  <c:v>3240</c:v>
                </c:pt>
                <c:pt idx="19">
                  <c:v>3179</c:v>
                </c:pt>
              </c:numCache>
            </c:numRef>
          </c:val>
          <c:smooth val="0"/>
        </c:ser>
        <c:ser>
          <c:idx val="2"/>
          <c:order val="2"/>
          <c:tx>
            <c:strRef>
              <c:f>Sheet1!$D$1</c:f>
              <c:strCache>
                <c:ptCount val="1"/>
                <c:pt idx="0">
                  <c:v>Seed 2</c:v>
                </c:pt>
              </c:strCache>
            </c:strRef>
          </c:tx>
          <c:spPr>
            <a:solidFill>
              <a:srgbClr val="8A4B12"/>
            </a:solidFill>
            <a:ln w="25400" cap="flat">
              <a:solidFill>
                <a:srgbClr val="8A4B12"/>
              </a:solidFill>
              <a:prstDash val="solid"/>
              <a:round/>
            </a:ln>
            <a:effectLst/>
          </c:spPr>
          <c:invertIfNegative val="0"/>
          <c:dLbls>
            <c:numFmt formatCode="#,##0" sourceLinked="0"/>
            <c:txPr>
              <a:bodyPr/>
              <a:lstStyle/>
              <a:p>
                <a:pPr>
                  <a:defRPr b="0" i="0" strike="noStrike" sz="1000" u="none">
                    <a:solidFill>
                      <a:srgbClr val="1F2A37"/>
                    </a:solidFill>
                    <a:latin typeface="+mn-lt"/>
                  </a:defRPr>
                </a:pPr>
              </a:p>
            </c:txPr>
            <c:showLegendKey val="0"/>
            <c:showVal val="0"/>
            <c:showCatName val="0"/>
            <c:showSerName val="0"/>
            <c:showPercent val="0"/>
            <c:showBubbleSize val="0"/>
            <c:showLeaderLines val="0"/>
          </c:dLbls>
          <c:marker>
            <c:symbol val="none"/>
            <c:size val="6"/>
            <c:spPr>
              <a:solidFill>
                <a:srgbClr val="8A4B12"/>
              </a:solidFill>
              <a:ln w="9525" cap="flat">
                <a:solidFill>
                  <a:srgbClr val="8A4B12"/>
                </a:solidFill>
                <a:prstDash val="solid"/>
                <a:round/>
              </a:ln>
              <a:effectLst/>
            </c:spPr>
          </c:marker>
          <c:cat>
            <c:multiLvlStrRef>
              <c:f>Sheet1!$A$2:$A$21</c:f>
              <c:multiLvlStrCache>
                <c:ptCount val="20"/>
                <c:lvl>
                  <c:pt idx="0">
                    <c:v>25K</c:v>
                  </c:pt>
                  <c:pt idx="1">
                    <c:v>50K</c:v>
                  </c:pt>
                  <c:pt idx="2">
                    <c:v>75K</c:v>
                  </c:pt>
                  <c:pt idx="3">
                    <c:v>100K</c:v>
                  </c:pt>
                  <c:pt idx="4">
                    <c:v>125K</c:v>
                  </c:pt>
                  <c:pt idx="5">
                    <c:v>150K</c:v>
                  </c:pt>
                  <c:pt idx="6">
                    <c:v>175K</c:v>
                  </c:pt>
                  <c:pt idx="7">
                    <c:v>200K</c:v>
                  </c:pt>
                  <c:pt idx="8">
                    <c:v>225K</c:v>
                  </c:pt>
                  <c:pt idx="9">
                    <c:v>250K</c:v>
                  </c:pt>
                  <c:pt idx="10">
                    <c:v>275K</c:v>
                  </c:pt>
                  <c:pt idx="11">
                    <c:v>300K</c:v>
                  </c:pt>
                  <c:pt idx="12">
                    <c:v>325K</c:v>
                  </c:pt>
                  <c:pt idx="13">
                    <c:v>350K</c:v>
                  </c:pt>
                  <c:pt idx="14">
                    <c:v>375K</c:v>
                  </c:pt>
                  <c:pt idx="15">
                    <c:v>400K</c:v>
                  </c:pt>
                  <c:pt idx="16">
                    <c:v>425K</c:v>
                  </c:pt>
                  <c:pt idx="17">
                    <c:v>450K</c:v>
                  </c:pt>
                  <c:pt idx="18">
                    <c:v>475K</c:v>
                  </c:pt>
                  <c:pt idx="19">
                    <c:v>500K</c:v>
                  </c:pt>
                </c:lvl>
              </c:multiLvlStrCache>
            </c:multiLvlStrRef>
          </c:cat>
          <c:val>
            <c:numRef>
              <c:f>Sheet1!$D$2:$D$21</c:f>
              <c:numCache>
                <c:formatCode>General</c:formatCode>
                <c:ptCount val="20"/>
                <c:pt idx="0">
                  <c:v>185</c:v>
                </c:pt>
                <c:pt idx="1">
                  <c:v>613</c:v>
                </c:pt>
                <c:pt idx="2">
                  <c:v>2273</c:v>
                </c:pt>
                <c:pt idx="3">
                  <c:v>2658</c:v>
                </c:pt>
                <c:pt idx="4">
                  <c:v>2135</c:v>
                </c:pt>
                <c:pt idx="5">
                  <c:v>3120</c:v>
                </c:pt>
                <c:pt idx="6">
                  <c:v>3135</c:v>
                </c:pt>
                <c:pt idx="7">
                  <c:v>3238</c:v>
                </c:pt>
                <c:pt idx="8">
                  <c:v>2520</c:v>
                </c:pt>
                <c:pt idx="9">
                  <c:v>2958</c:v>
                </c:pt>
                <c:pt idx="10">
                  <c:v>1813</c:v>
                </c:pt>
                <c:pt idx="11">
                  <c:v>2299</c:v>
                </c:pt>
                <c:pt idx="12">
                  <c:v>1437</c:v>
                </c:pt>
                <c:pt idx="13">
                  <c:v>3206</c:v>
                </c:pt>
                <c:pt idx="14">
                  <c:v>3245</c:v>
                </c:pt>
                <c:pt idx="15">
                  <c:v>3284</c:v>
                </c:pt>
                <c:pt idx="16">
                  <c:v>3032</c:v>
                </c:pt>
                <c:pt idx="17">
                  <c:v>3248</c:v>
                </c:pt>
                <c:pt idx="18">
                  <c:v>3187</c:v>
                </c:pt>
                <c:pt idx="19">
                  <c:v>3291</c:v>
                </c:pt>
              </c:numCache>
            </c:numRef>
          </c:val>
          <c:smooth val="0"/>
        </c:ser>
        <c:dLbls>
          <c:numFmt formatCode="#,##0" sourceLinked="0"/>
          <c:txPr>
            <a:bodyPr/>
            <a:lstStyle/>
            <a:p>
              <a:pPr>
                <a:defRPr b="0" i="0" strike="noStrike" sz="1000" u="none">
                  <a:solidFill>
                    <a:srgbClr val="1F2A37"/>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6B7A"/>
                </a:solidFill>
                <a:latin typeface="+mn-lt"/>
              </a:defRPr>
            </a:pPr>
            <a:endParaRPr lang="en-US"/>
          </a:p>
        </c:txPr>
        <c:crossAx val="2094734552"/>
        <c:crosses val="autoZero"/>
        <c:auto val="1"/>
        <c:lblAlgn val="ctr"/>
        <c:noMultiLvlLbl val="1"/>
        <c:tickLblSkip val="4"/>
      </c:catAx>
      <c:valAx>
        <c:axId val="2094734552"/>
        <c:scaling>
          <c:orientation val="minMax"/>
          <c:max val="3600"/>
          <c:min val="0"/>
        </c:scaling>
        <c:delete val="0"/>
        <c:axPos val="l"/>
        <c:majorGridlines>
          <c:spPr>
            <a:ln w="9525" cap="flat">
              <a:solidFill>
                <a:srgbClr val="E3E8EE"/>
              </a:solidFill>
              <a:prstDash val="solid"/>
              <a:round/>
            </a:ln>
          </c:spPr>
        </c:majorGridlines>
        <c:title>
          <c:tx>
            <c:rich>
              <a:bodyPr/>
              <a:lstStyle/>
              <a:p>
                <a:pPr>
                  <a:defRPr sz="1100" b="0" i="0" u="none" strike="noStrike">
                    <a:solidFill>
                      <a:srgbClr val="5F6B7A"/>
                    </a:solidFill>
                    <a:latin typeface="+mn-lt"/>
                  </a:defRPr>
                </a:pPr>
                <a:r>
                  <a:rPr sz="1100" b="0" i="0" u="none" strike="noStrike">
                    <a:solidFill>
                      <a:srgbClr val="5F6B7A"/>
                    </a:solidFill>
                    <a:latin typeface="+mn-lt"/>
                  </a:rPr>
                  <a:t>Validation return</a:t>
                </a:r>
              </a:p>
            </c:rich>
          </c:tx>
          <c:layout/>
          <c:overlay val="0"/>
        </c:title>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6B7A"/>
                </a:solidFill>
                <a:latin typeface="+mn-lt"/>
              </a:defRPr>
            </a:pPr>
            <a:endParaRPr lang="en-US"/>
          </a:p>
        </c:txPr>
        <c:crossAx val="2094734554"/>
        <c:crosses val="autoZero"/>
        <c:crossBetween val="between"/>
        <c:majorUnit val="1000"/>
      </c:valAx>
      <c:spPr>
        <a:noFill/>
        <a:ln>
          <a:noFill/>
        </a:ln>
        <a:effectLst/>
      </c:spPr>
    </c:plotArea>
    <c:legend>
      <c:legendPos val="b"/>
      <c:overlay val="0"/>
      <c:txPr>
        <a:bodyPr/>
        <a:lstStyle/>
        <a:p>
          <a:pPr>
            <a:defRPr sz="1200">
              <a:solidFill>
                <a:srgbClr val="1F2A37"/>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A37"/>
                </a:solidFill>
                <a:latin typeface="+mn-lt"/>
              </a:defRPr>
            </a:pPr>
            <a:r>
              <a:rPr sz="1400" b="0" i="0" u="none" strike="noStrike">
                <a:solidFill>
                  <a:srgbClr val="1F2A37"/>
                </a:solidFill>
                <a:latin typeface="+mn-lt"/>
              </a:rPr>
              <a:t>Nominal return per seed (mass 1.0, friction 1.0)</a:t>
            </a:r>
          </a:p>
        </c:rich>
      </c:tx>
      <c:layout/>
      <c:overlay val="0"/>
    </c:title>
    <c:autoTitleDeleted val="0"/>
    <c:plotArea>
      <c:layout/>
      <c:barChart>
        <c:barDir val="col"/>
        <c:grouping val="clustered"/>
        <c:varyColors val="0"/>
        <c:ser>
          <c:idx val="0"/>
          <c:order val="0"/>
          <c:tx>
            <c:strRef>
              <c:f>Sheet1!$B$1</c:f>
              <c:strCache>
                <c:ptCount val="1"/>
                <c:pt idx="0">
                  <c:v>Seed 0</c:v>
                </c:pt>
              </c:strCache>
            </c:strRef>
          </c:tx>
          <c:spPr>
            <a:solidFill>
              <a:srgbClr val="A9BCD0"/>
            </a:solidFill>
            <a:effectLst/>
          </c:spPr>
          <c:invertIfNegative val="0"/>
          <c:dLbls>
            <c:numFmt formatCode="#,##0" sourceLinked="0"/>
            <c:txPr>
              <a:bodyPr/>
              <a:lstStyle/>
              <a:p>
                <a:pPr>
                  <a:defRPr b="0" i="0" strike="noStrike" sz="1000" u="none">
                    <a:solidFill>
                      <a:srgbClr val="1F2A37"/>
                    </a:solidFill>
                    <a:latin typeface="+mn-lt"/>
                  </a:defRPr>
                </a:pPr>
              </a:p>
            </c:txPr>
            <c:showLegendKey val="0"/>
            <c:showVal val="1"/>
            <c:showCatName val="0"/>
            <c:showSerName val="0"/>
            <c:showPercent val="0"/>
            <c:showBubbleSize val="0"/>
            <c:showLeaderLines val="0"/>
          </c:dLbls>
          <c:cat>
            <c:multiLvlStrRef>
              <c:f>Sheet1!$A$2:$A$5</c:f>
              <c:multiLvlStrCache>
                <c:ptCount val="4"/>
                <c:lvl>
                  <c:pt idx="0">
                    <c:v>PPO Nominal</c:v>
                  </c:pt>
                  <c:pt idx="1">
                    <c:v>PPO Randomized</c:v>
                  </c:pt>
                  <c:pt idx="2">
                    <c:v>SAC Nominal</c:v>
                  </c:pt>
                  <c:pt idx="3">
                    <c:v>SAC Randomized</c:v>
                  </c:pt>
                </c:lvl>
              </c:multiLvlStrCache>
            </c:multiLvlStrRef>
          </c:cat>
          <c:val>
            <c:numRef>
              <c:f>Sheet1!$B$2:$B$5</c:f>
              <c:numCache>
                <c:formatCode>General</c:formatCode>
                <c:ptCount val="4"/>
                <c:pt idx="0">
                  <c:v>1193.8</c:v>
                </c:pt>
                <c:pt idx="1">
                  <c:v>3074.5</c:v>
                </c:pt>
                <c:pt idx="2">
                  <c:v>3341.7</c:v>
                </c:pt>
                <c:pt idx="3">
                  <c:v>1621.4</c:v>
                </c:pt>
              </c:numCache>
            </c:numRef>
          </c:val>
        </c:ser>
        <c:ser>
          <c:idx val="1"/>
          <c:order val="1"/>
          <c:tx>
            <c:strRef>
              <c:f>Sheet1!$C$1</c:f>
              <c:strCache>
                <c:ptCount val="1"/>
                <c:pt idx="0">
                  <c:v>Seed 1</c:v>
                </c:pt>
              </c:strCache>
            </c:strRef>
          </c:tx>
          <c:spPr>
            <a:solidFill>
              <a:srgbClr val="5B84AE"/>
            </a:solidFill>
            <a:effectLst/>
          </c:spPr>
          <c:invertIfNegative val="0"/>
          <c:dLbls>
            <c:numFmt formatCode="#,##0" sourceLinked="0"/>
            <c:txPr>
              <a:bodyPr/>
              <a:lstStyle/>
              <a:p>
                <a:pPr>
                  <a:defRPr b="0" i="0" strike="noStrike" sz="1000" u="none">
                    <a:solidFill>
                      <a:srgbClr val="1F2A37"/>
                    </a:solidFill>
                    <a:latin typeface="+mn-lt"/>
                  </a:defRPr>
                </a:pPr>
              </a:p>
            </c:txPr>
            <c:showLegendKey val="0"/>
            <c:showVal val="1"/>
            <c:showCatName val="0"/>
            <c:showSerName val="0"/>
            <c:showPercent val="0"/>
            <c:showBubbleSize val="0"/>
            <c:showLeaderLines val="0"/>
          </c:dLbls>
          <c:cat>
            <c:multiLvlStrRef>
              <c:f>Sheet1!$A$2:$A$5</c:f>
              <c:multiLvlStrCache>
                <c:ptCount val="4"/>
                <c:lvl>
                  <c:pt idx="0">
                    <c:v>PPO Nominal</c:v>
                  </c:pt>
                  <c:pt idx="1">
                    <c:v>PPO Randomized</c:v>
                  </c:pt>
                  <c:pt idx="2">
                    <c:v>SAC Nominal</c:v>
                  </c:pt>
                  <c:pt idx="3">
                    <c:v>SAC Randomized</c:v>
                  </c:pt>
                </c:lvl>
              </c:multiLvlStrCache>
            </c:multiLvlStrRef>
          </c:cat>
          <c:val>
            <c:numRef>
              <c:f>Sheet1!$C$2:$C$5</c:f>
              <c:numCache>
                <c:formatCode>General</c:formatCode>
                <c:ptCount val="4"/>
                <c:pt idx="0">
                  <c:v>3312.7</c:v>
                </c:pt>
                <c:pt idx="1">
                  <c:v>3409.1</c:v>
                </c:pt>
                <c:pt idx="2">
                  <c:v>3187.3</c:v>
                </c:pt>
                <c:pt idx="3">
                  <c:v>3180.3</c:v>
                </c:pt>
              </c:numCache>
            </c:numRef>
          </c:val>
        </c:ser>
        <c:ser>
          <c:idx val="2"/>
          <c:order val="2"/>
          <c:tx>
            <c:strRef>
              <c:f>Sheet1!$D$1</c:f>
              <c:strCache>
                <c:ptCount val="1"/>
                <c:pt idx="0">
                  <c:v>Seed 2</c:v>
                </c:pt>
              </c:strCache>
            </c:strRef>
          </c:tx>
          <c:spPr>
            <a:solidFill>
              <a:srgbClr val="1B3A5C"/>
            </a:solidFill>
            <a:effectLst/>
          </c:spPr>
          <c:invertIfNegative val="0"/>
          <c:dLbls>
            <c:numFmt formatCode="#,##0" sourceLinked="0"/>
            <c:txPr>
              <a:bodyPr/>
              <a:lstStyle/>
              <a:p>
                <a:pPr>
                  <a:defRPr b="0" i="0" strike="noStrike" sz="1000" u="none">
                    <a:solidFill>
                      <a:srgbClr val="1F2A37"/>
                    </a:solidFill>
                    <a:latin typeface="+mn-lt"/>
                  </a:defRPr>
                </a:pPr>
              </a:p>
            </c:txPr>
            <c:showLegendKey val="0"/>
            <c:showVal val="1"/>
            <c:showCatName val="0"/>
            <c:showSerName val="0"/>
            <c:showPercent val="0"/>
            <c:showBubbleSize val="0"/>
            <c:showLeaderLines val="0"/>
          </c:dLbls>
          <c:cat>
            <c:multiLvlStrRef>
              <c:f>Sheet1!$A$2:$A$5</c:f>
              <c:multiLvlStrCache>
                <c:ptCount val="4"/>
                <c:lvl>
                  <c:pt idx="0">
                    <c:v>PPO Nominal</c:v>
                  </c:pt>
                  <c:pt idx="1">
                    <c:v>PPO Randomized</c:v>
                  </c:pt>
                  <c:pt idx="2">
                    <c:v>SAC Nominal</c:v>
                  </c:pt>
                  <c:pt idx="3">
                    <c:v>SAC Randomized</c:v>
                  </c:pt>
                </c:lvl>
              </c:multiLvlStrCache>
            </c:multiLvlStrRef>
          </c:cat>
          <c:val>
            <c:numRef>
              <c:f>Sheet1!$D$2:$D$5</c:f>
              <c:numCache>
                <c:formatCode>General</c:formatCode>
                <c:ptCount val="4"/>
                <c:pt idx="0">
                  <c:v>3431.6</c:v>
                </c:pt>
                <c:pt idx="1">
                  <c:v>1193.4</c:v>
                </c:pt>
                <c:pt idx="2">
                  <c:v>3289.9</c:v>
                </c:pt>
                <c:pt idx="3">
                  <c:v>3238.6</c:v>
                </c:pt>
              </c:numCache>
            </c:numRef>
          </c:val>
        </c:ser>
        <c:dLbls>
          <c:numFmt formatCode="#,##0" sourceLinked="0"/>
          <c:txPr>
            <a:bodyPr/>
            <a:lstStyle/>
            <a:p>
              <a:pPr>
                <a:defRPr b="0" i="0" strike="noStrike" sz="1000" u="none">
                  <a:solidFill>
                    <a:srgbClr val="1F2A37"/>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F6B7A"/>
                </a:solidFill>
                <a:latin typeface="+mn-lt"/>
              </a:defRPr>
            </a:pPr>
            <a:endParaRPr lang="en-US"/>
          </a:p>
        </c:txPr>
        <c:crossAx val="2094734552"/>
        <c:crosses val="autoZero"/>
        <c:auto val="1"/>
        <c:lblAlgn val="ctr"/>
        <c:noMultiLvlLbl val="1"/>
      </c:catAx>
      <c:valAx>
        <c:axId val="2094734552"/>
        <c:scaling>
          <c:orientation val="minMax"/>
          <c:max val="4000"/>
          <c:min val="0"/>
        </c:scaling>
        <c:delete val="0"/>
        <c:axPos val="l"/>
        <c:majorGridlines>
          <c:spPr>
            <a:ln w="9525" cap="flat">
              <a:solidFill>
                <a:srgbClr val="E3E8EE"/>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6B7A"/>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F2A37"/>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A37"/>
                </a:solidFill>
                <a:latin typeface="+mn-lt"/>
              </a:defRPr>
            </a:pPr>
            <a:r>
              <a:rPr sz="1400" b="0" i="0" u="none" strike="noStrike">
                <a:solidFill>
                  <a:srgbClr val="1F2A37"/>
                </a:solidFill>
                <a:latin typeface="+mn-lt"/>
              </a:rPr>
              <a:t>Grid success rate per seed (%), all 25 conditions</a:t>
            </a:r>
          </a:p>
        </c:rich>
      </c:tx>
      <c:layout/>
      <c:overlay val="0"/>
    </c:title>
    <c:autoTitleDeleted val="0"/>
    <c:plotArea>
      <c:layout/>
      <c:barChart>
        <c:barDir val="col"/>
        <c:grouping val="clustered"/>
        <c:varyColors val="0"/>
        <c:ser>
          <c:idx val="0"/>
          <c:order val="0"/>
          <c:tx>
            <c:strRef>
              <c:f>Sheet1!$B$1</c:f>
              <c:strCache>
                <c:ptCount val="1"/>
                <c:pt idx="0">
                  <c:v>Seed 0</c:v>
                </c:pt>
              </c:strCache>
            </c:strRef>
          </c:tx>
          <c:spPr>
            <a:solidFill>
              <a:srgbClr val="A9BCD0"/>
            </a:solidFill>
            <a:effectLst/>
          </c:spPr>
          <c:invertIfNegative val="0"/>
          <c:dLbls>
            <c:numFmt formatCode="0.0" sourceLinked="0"/>
            <c:txPr>
              <a:bodyPr/>
              <a:lstStyle/>
              <a:p>
                <a:pPr>
                  <a:defRPr b="0" i="0" strike="noStrike" sz="1000" u="none">
                    <a:solidFill>
                      <a:srgbClr val="1F2A37"/>
                    </a:solidFill>
                    <a:latin typeface="+mn-lt"/>
                  </a:defRPr>
                </a:pPr>
              </a:p>
            </c:txPr>
            <c:showLegendKey val="0"/>
            <c:showVal val="1"/>
            <c:showCatName val="0"/>
            <c:showSerName val="0"/>
            <c:showPercent val="0"/>
            <c:showBubbleSize val="0"/>
            <c:showLeaderLines val="0"/>
          </c:dLbls>
          <c:cat>
            <c:multiLvlStrRef>
              <c:f>Sheet1!$A$2:$A$5</c:f>
              <c:multiLvlStrCache>
                <c:ptCount val="4"/>
                <c:lvl>
                  <c:pt idx="0">
                    <c:v>PPO Nominal</c:v>
                  </c:pt>
                  <c:pt idx="1">
                    <c:v>PPO Randomized</c:v>
                  </c:pt>
                  <c:pt idx="2">
                    <c:v>SAC Nominal</c:v>
                  </c:pt>
                  <c:pt idx="3">
                    <c:v>SAC Randomized</c:v>
                  </c:pt>
                </c:lvl>
              </c:multiLvlStrCache>
            </c:multiLvlStrRef>
          </c:cat>
          <c:val>
            <c:numRef>
              <c:f>Sheet1!$B$2:$B$5</c:f>
              <c:numCache>
                <c:formatCode>General</c:formatCode>
                <c:ptCount val="4"/>
                <c:pt idx="0">
                  <c:v>7.6</c:v>
                </c:pt>
                <c:pt idx="1">
                  <c:v>3.2</c:v>
                </c:pt>
                <c:pt idx="2">
                  <c:v>20.4</c:v>
                </c:pt>
                <c:pt idx="3">
                  <c:v>3.2</c:v>
                </c:pt>
              </c:numCache>
            </c:numRef>
          </c:val>
        </c:ser>
        <c:ser>
          <c:idx val="1"/>
          <c:order val="1"/>
          <c:tx>
            <c:strRef>
              <c:f>Sheet1!$C$1</c:f>
              <c:strCache>
                <c:ptCount val="1"/>
                <c:pt idx="0">
                  <c:v>Seed 1</c:v>
                </c:pt>
              </c:strCache>
            </c:strRef>
          </c:tx>
          <c:spPr>
            <a:solidFill>
              <a:srgbClr val="5B84AE"/>
            </a:solidFill>
            <a:effectLst/>
          </c:spPr>
          <c:invertIfNegative val="0"/>
          <c:dLbls>
            <c:numFmt formatCode="0.0" sourceLinked="0"/>
            <c:txPr>
              <a:bodyPr/>
              <a:lstStyle/>
              <a:p>
                <a:pPr>
                  <a:defRPr b="0" i="0" strike="noStrike" sz="1000" u="none">
                    <a:solidFill>
                      <a:srgbClr val="1F2A37"/>
                    </a:solidFill>
                    <a:latin typeface="+mn-lt"/>
                  </a:defRPr>
                </a:pPr>
              </a:p>
            </c:txPr>
            <c:showLegendKey val="0"/>
            <c:showVal val="1"/>
            <c:showCatName val="0"/>
            <c:showSerName val="0"/>
            <c:showPercent val="0"/>
            <c:showBubbleSize val="0"/>
            <c:showLeaderLines val="0"/>
          </c:dLbls>
          <c:cat>
            <c:multiLvlStrRef>
              <c:f>Sheet1!$A$2:$A$5</c:f>
              <c:multiLvlStrCache>
                <c:ptCount val="4"/>
                <c:lvl>
                  <c:pt idx="0">
                    <c:v>PPO Nominal</c:v>
                  </c:pt>
                  <c:pt idx="1">
                    <c:v>PPO Randomized</c:v>
                  </c:pt>
                  <c:pt idx="2">
                    <c:v>SAC Nominal</c:v>
                  </c:pt>
                  <c:pt idx="3">
                    <c:v>SAC Randomized</c:v>
                  </c:pt>
                </c:lvl>
              </c:multiLvlStrCache>
            </c:multiLvlStrRef>
          </c:cat>
          <c:val>
            <c:numRef>
              <c:f>Sheet1!$C$2:$C$5</c:f>
              <c:numCache>
                <c:formatCode>General</c:formatCode>
                <c:ptCount val="4"/>
                <c:pt idx="0">
                  <c:v>8.8</c:v>
                </c:pt>
                <c:pt idx="1">
                  <c:v>51.2</c:v>
                </c:pt>
                <c:pt idx="2">
                  <c:v>13.6</c:v>
                </c:pt>
                <c:pt idx="3">
                  <c:v>12</c:v>
                </c:pt>
              </c:numCache>
            </c:numRef>
          </c:val>
        </c:ser>
        <c:ser>
          <c:idx val="2"/>
          <c:order val="2"/>
          <c:tx>
            <c:strRef>
              <c:f>Sheet1!$D$1</c:f>
              <c:strCache>
                <c:ptCount val="1"/>
                <c:pt idx="0">
                  <c:v>Seed 2</c:v>
                </c:pt>
              </c:strCache>
            </c:strRef>
          </c:tx>
          <c:spPr>
            <a:solidFill>
              <a:srgbClr val="1B3A5C"/>
            </a:solidFill>
            <a:effectLst/>
          </c:spPr>
          <c:invertIfNegative val="0"/>
          <c:dLbls>
            <c:numFmt formatCode="0.0" sourceLinked="0"/>
            <c:txPr>
              <a:bodyPr/>
              <a:lstStyle/>
              <a:p>
                <a:pPr>
                  <a:defRPr b="0" i="0" strike="noStrike" sz="1000" u="none">
                    <a:solidFill>
                      <a:srgbClr val="1F2A37"/>
                    </a:solidFill>
                    <a:latin typeface="+mn-lt"/>
                  </a:defRPr>
                </a:pPr>
              </a:p>
            </c:txPr>
            <c:showLegendKey val="0"/>
            <c:showVal val="1"/>
            <c:showCatName val="0"/>
            <c:showSerName val="0"/>
            <c:showPercent val="0"/>
            <c:showBubbleSize val="0"/>
            <c:showLeaderLines val="0"/>
          </c:dLbls>
          <c:cat>
            <c:multiLvlStrRef>
              <c:f>Sheet1!$A$2:$A$5</c:f>
              <c:multiLvlStrCache>
                <c:ptCount val="4"/>
                <c:lvl>
                  <c:pt idx="0">
                    <c:v>PPO Nominal</c:v>
                  </c:pt>
                  <c:pt idx="1">
                    <c:v>PPO Randomized</c:v>
                  </c:pt>
                  <c:pt idx="2">
                    <c:v>SAC Nominal</c:v>
                  </c:pt>
                  <c:pt idx="3">
                    <c:v>SAC Randomized</c:v>
                  </c:pt>
                </c:lvl>
              </c:multiLvlStrCache>
            </c:multiLvlStrRef>
          </c:cat>
          <c:val>
            <c:numRef>
              <c:f>Sheet1!$D$2:$D$5</c:f>
              <c:numCache>
                <c:formatCode>General</c:formatCode>
                <c:ptCount val="4"/>
                <c:pt idx="0">
                  <c:v>10.4</c:v>
                </c:pt>
                <c:pt idx="1">
                  <c:v>8.4</c:v>
                </c:pt>
                <c:pt idx="2">
                  <c:v>4</c:v>
                </c:pt>
                <c:pt idx="3">
                  <c:v>25.6</c:v>
                </c:pt>
              </c:numCache>
            </c:numRef>
          </c:val>
        </c:ser>
        <c:dLbls>
          <c:numFmt formatCode="0.0" sourceLinked="0"/>
          <c:txPr>
            <a:bodyPr/>
            <a:lstStyle/>
            <a:p>
              <a:pPr>
                <a:defRPr b="0" i="0" strike="noStrike" sz="1000" u="none">
                  <a:solidFill>
                    <a:srgbClr val="1F2A37"/>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F6B7A"/>
                </a:solidFill>
                <a:latin typeface="+mn-lt"/>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9525" cap="flat">
              <a:solidFill>
                <a:srgbClr val="E3E8EE"/>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6B7A"/>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F2A37"/>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A37"/>
                </a:solidFill>
                <a:latin typeface="+mn-lt"/>
              </a:defRPr>
            </a:pPr>
            <a:r>
              <a:rPr sz="1400" b="0" i="0" u="none" strike="noStrike">
                <a:solidFill>
                  <a:srgbClr val="1F2A37"/>
                </a:solidFill>
                <a:latin typeface="+mn-lt"/>
              </a:rPr>
              <a:t>Out-of-distribution return per seed (16 outer cells)</a:t>
            </a:r>
          </a:p>
        </c:rich>
      </c:tx>
      <c:layout/>
      <c:overlay val="0"/>
    </c:title>
    <c:autoTitleDeleted val="0"/>
    <c:plotArea>
      <c:layout/>
      <c:barChart>
        <c:barDir val="col"/>
        <c:grouping val="clustered"/>
        <c:varyColors val="0"/>
        <c:ser>
          <c:idx val="0"/>
          <c:order val="0"/>
          <c:tx>
            <c:strRef>
              <c:f>Sheet1!$B$1</c:f>
              <c:strCache>
                <c:ptCount val="1"/>
                <c:pt idx="0">
                  <c:v>Seed 0</c:v>
                </c:pt>
              </c:strCache>
            </c:strRef>
          </c:tx>
          <c:spPr>
            <a:solidFill>
              <a:srgbClr val="A9BCD0"/>
            </a:solidFill>
            <a:effectLst/>
          </c:spPr>
          <c:invertIfNegative val="0"/>
          <c:dLbls>
            <c:numFmt formatCode="#,##0" sourceLinked="0"/>
            <c:txPr>
              <a:bodyPr/>
              <a:lstStyle/>
              <a:p>
                <a:pPr>
                  <a:defRPr b="0" i="0" strike="noStrike" sz="1000" u="none">
                    <a:solidFill>
                      <a:srgbClr val="1F2A37"/>
                    </a:solidFill>
                    <a:latin typeface="+mn-lt"/>
                  </a:defRPr>
                </a:pPr>
              </a:p>
            </c:txPr>
            <c:showLegendKey val="0"/>
            <c:showVal val="1"/>
            <c:showCatName val="0"/>
            <c:showSerName val="0"/>
            <c:showPercent val="0"/>
            <c:showBubbleSize val="0"/>
            <c:showLeaderLines val="0"/>
          </c:dLbls>
          <c:cat>
            <c:multiLvlStrRef>
              <c:f>Sheet1!$A$2:$A$5</c:f>
              <c:multiLvlStrCache>
                <c:ptCount val="4"/>
                <c:lvl>
                  <c:pt idx="0">
                    <c:v>PPO Nominal</c:v>
                  </c:pt>
                  <c:pt idx="1">
                    <c:v>PPO Randomized</c:v>
                  </c:pt>
                  <c:pt idx="2">
                    <c:v>SAC Nominal</c:v>
                  </c:pt>
                  <c:pt idx="3">
                    <c:v>SAC Randomized</c:v>
                  </c:pt>
                </c:lvl>
              </c:multiLvlStrCache>
            </c:multiLvlStrRef>
          </c:cat>
          <c:val>
            <c:numRef>
              <c:f>Sheet1!$B$2:$B$5</c:f>
              <c:numCache>
                <c:formatCode>General</c:formatCode>
                <c:ptCount val="4"/>
                <c:pt idx="0">
                  <c:v>698</c:v>
                </c:pt>
                <c:pt idx="1">
                  <c:v>711</c:v>
                </c:pt>
                <c:pt idx="2">
                  <c:v>770</c:v>
                </c:pt>
                <c:pt idx="3">
                  <c:v>808</c:v>
                </c:pt>
              </c:numCache>
            </c:numRef>
          </c:val>
        </c:ser>
        <c:ser>
          <c:idx val="1"/>
          <c:order val="1"/>
          <c:tx>
            <c:strRef>
              <c:f>Sheet1!$C$1</c:f>
              <c:strCache>
                <c:ptCount val="1"/>
                <c:pt idx="0">
                  <c:v>Seed 1</c:v>
                </c:pt>
              </c:strCache>
            </c:strRef>
          </c:tx>
          <c:spPr>
            <a:solidFill>
              <a:srgbClr val="5B84AE"/>
            </a:solidFill>
            <a:effectLst/>
          </c:spPr>
          <c:invertIfNegative val="0"/>
          <c:dLbls>
            <c:numFmt formatCode="#,##0" sourceLinked="0"/>
            <c:txPr>
              <a:bodyPr/>
              <a:lstStyle/>
              <a:p>
                <a:pPr>
                  <a:defRPr b="0" i="0" strike="noStrike" sz="1000" u="none">
                    <a:solidFill>
                      <a:srgbClr val="1F2A37"/>
                    </a:solidFill>
                    <a:latin typeface="+mn-lt"/>
                  </a:defRPr>
                </a:pPr>
              </a:p>
            </c:txPr>
            <c:showLegendKey val="0"/>
            <c:showVal val="1"/>
            <c:showCatName val="0"/>
            <c:showSerName val="0"/>
            <c:showPercent val="0"/>
            <c:showBubbleSize val="0"/>
            <c:showLeaderLines val="0"/>
          </c:dLbls>
          <c:cat>
            <c:multiLvlStrRef>
              <c:f>Sheet1!$A$2:$A$5</c:f>
              <c:multiLvlStrCache>
                <c:ptCount val="4"/>
                <c:lvl>
                  <c:pt idx="0">
                    <c:v>PPO Nominal</c:v>
                  </c:pt>
                  <c:pt idx="1">
                    <c:v>PPO Randomized</c:v>
                  </c:pt>
                  <c:pt idx="2">
                    <c:v>SAC Nominal</c:v>
                  </c:pt>
                  <c:pt idx="3">
                    <c:v>SAC Randomized</c:v>
                  </c:pt>
                </c:lvl>
              </c:multiLvlStrCache>
            </c:multiLvlStrRef>
          </c:cat>
          <c:val>
            <c:numRef>
              <c:f>Sheet1!$C$2:$C$5</c:f>
              <c:numCache>
                <c:formatCode>General</c:formatCode>
                <c:ptCount val="4"/>
                <c:pt idx="0">
                  <c:v>612</c:v>
                </c:pt>
                <c:pt idx="1">
                  <c:v>1269</c:v>
                </c:pt>
                <c:pt idx="2">
                  <c:v>750</c:v>
                </c:pt>
                <c:pt idx="3">
                  <c:v>803</c:v>
                </c:pt>
              </c:numCache>
            </c:numRef>
          </c:val>
        </c:ser>
        <c:ser>
          <c:idx val="2"/>
          <c:order val="2"/>
          <c:tx>
            <c:strRef>
              <c:f>Sheet1!$D$1</c:f>
              <c:strCache>
                <c:ptCount val="1"/>
                <c:pt idx="0">
                  <c:v>Seed 2</c:v>
                </c:pt>
              </c:strCache>
            </c:strRef>
          </c:tx>
          <c:spPr>
            <a:solidFill>
              <a:srgbClr val="1B3A5C"/>
            </a:solidFill>
            <a:effectLst/>
          </c:spPr>
          <c:invertIfNegative val="0"/>
          <c:dLbls>
            <c:numFmt formatCode="#,##0" sourceLinked="0"/>
            <c:txPr>
              <a:bodyPr/>
              <a:lstStyle/>
              <a:p>
                <a:pPr>
                  <a:defRPr b="0" i="0" strike="noStrike" sz="1000" u="none">
                    <a:solidFill>
                      <a:srgbClr val="1F2A37"/>
                    </a:solidFill>
                    <a:latin typeface="+mn-lt"/>
                  </a:defRPr>
                </a:pPr>
              </a:p>
            </c:txPr>
            <c:showLegendKey val="0"/>
            <c:showVal val="1"/>
            <c:showCatName val="0"/>
            <c:showSerName val="0"/>
            <c:showPercent val="0"/>
            <c:showBubbleSize val="0"/>
            <c:showLeaderLines val="0"/>
          </c:dLbls>
          <c:cat>
            <c:multiLvlStrRef>
              <c:f>Sheet1!$A$2:$A$5</c:f>
              <c:multiLvlStrCache>
                <c:ptCount val="4"/>
                <c:lvl>
                  <c:pt idx="0">
                    <c:v>PPO Nominal</c:v>
                  </c:pt>
                  <c:pt idx="1">
                    <c:v>PPO Randomized</c:v>
                  </c:pt>
                  <c:pt idx="2">
                    <c:v>SAC Nominal</c:v>
                  </c:pt>
                  <c:pt idx="3">
                    <c:v>SAC Randomized</c:v>
                  </c:pt>
                </c:lvl>
              </c:multiLvlStrCache>
            </c:multiLvlStrRef>
          </c:cat>
          <c:val>
            <c:numRef>
              <c:f>Sheet1!$D$2:$D$5</c:f>
              <c:numCache>
                <c:formatCode>General</c:formatCode>
                <c:ptCount val="4"/>
                <c:pt idx="0">
                  <c:v>797</c:v>
                </c:pt>
                <c:pt idx="1">
                  <c:v>939</c:v>
                </c:pt>
                <c:pt idx="2">
                  <c:v>479</c:v>
                </c:pt>
                <c:pt idx="3">
                  <c:v>923</c:v>
                </c:pt>
              </c:numCache>
            </c:numRef>
          </c:val>
        </c:ser>
        <c:dLbls>
          <c:numFmt formatCode="#,##0" sourceLinked="0"/>
          <c:txPr>
            <a:bodyPr/>
            <a:lstStyle/>
            <a:p>
              <a:pPr>
                <a:defRPr b="0" i="0" strike="noStrike" sz="1000" u="none">
                  <a:solidFill>
                    <a:srgbClr val="1F2A37"/>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F6B7A"/>
                </a:solidFill>
                <a:latin typeface="+mn-lt"/>
              </a:defRPr>
            </a:pPr>
            <a:endParaRPr lang="en-US"/>
          </a:p>
        </c:txPr>
        <c:crossAx val="2094734552"/>
        <c:crosses val="autoZero"/>
        <c:auto val="1"/>
        <c:lblAlgn val="ctr"/>
        <c:noMultiLvlLbl val="1"/>
      </c:catAx>
      <c:valAx>
        <c:axId val="2094734552"/>
        <c:scaling>
          <c:orientation val="minMax"/>
          <c:max val="1500"/>
          <c:min val="0"/>
        </c:scaling>
        <c:delete val="0"/>
        <c:axPos val="l"/>
        <c:majorGridlines>
          <c:spPr>
            <a:ln w="9525" cap="flat">
              <a:solidFill>
                <a:srgbClr val="E3E8EE"/>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6B7A"/>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F2A37"/>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Hello, I'm Suresh Tammana. My project asks whether a reinforcement-learning locomotion policy that works well in its training simulator keeps working when the physics changes. I compare PPO and SAC, each trained with fixed physics and with domain randomization, on the MuJoCo Hopper: 12 agents, tested in 3,000 episodes across 25 combinations of mass and friction.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Real robots never match their simulator exactly, so a controller that only works in its training physics is not reliable. In Part 1 I asked how algorithm choice and domain randomization affect the trade-off between peak performance and robustness. To answer it, I train each policy, then test it on a controlled grid of physics changes and measure return, success, and the gap between conditions inside and outside the training range. This matters because payload, wear and surfaces all change these parameters on a real robot.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PPO is on-policy and stabilizes learning by clipping each policy update. SAC is off-policy: it reuses experience from a replay buffer and adds an entropy bonus, which usually makes it more sample-efficient. Domain randomization resamples the physics every episode, and the policy never sees the values, so it must learn behavior that works across them. EPOpt showed robustness gains on this same Hopper task, and Henderson and colleagues warned that MuJoCo results vary a lot between seeds. That warning turns out to be central to my results.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 1 set three hypotheses with fixed tests. H1: SAC learns faster than PPO under nominal training. H2: nominally trained policies keep less than 70 percent of their return out of distribution. H3: randomization raises robustness while costing less than 10 percent of nominal return. I'll return to each with a verdict. Each one has a numeric test, so the verdicts don't depend on my interpretation.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Two algorithms times two training regimes gives four conditions, each trained with three seeds for 500,000 steps: 12 agents. Randomized training scales mass between 0.8 and 1.2 and friction between 0.7 and 1.3. Every agent is then tested on this five-by-five grid, ten episodes per cell. The dark center is nominal, the nine teal cells are inside the training range, and the sixteen grey cells are out-of-distribution. All agents get identical starting conditions in each cell. Validation runs every 25,000 steps on nominal physics.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Hopper is a one-legged planar robot with three actuated joints. It observes eleven values, such as torso height and joint angles and velocities, and outputs three torques. I used the built-in reward: forward velocity, plus a bonus for staying upright, minus a small torque cost. An episode counts as a success only if the robot survives all 1,000 steps and moves at least three meters. Importantly, mass and friction are never observed. That way, a robot that just balances in place doesn't count as a success.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Both algorithms use Stable-Baselines3 with two layers of 256 units and standard, untuned MuJoCo settings, so implementation differences don't confound the comparison. A custom wrapper scales mass and friction relative to the stored nominal values, so changes never accumulate between episodes. Evaluation uses deterministic actions, separate seeds, and the final policy rather than the best checkpoint, which avoids overstating performance. PPO trained on CPU, but SAC needed a GPU to finish in time, so I don't compare wall-clock time.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Several things changed from Part 1, and I want to be transparent. I used three seeds instead of five because of runtime, as Part 1's fallback allowed. PPO ran without input normalization and actually trained 501,760 steps because it collects whole rollouts. With three seeds I report the interquartile mean and show every seed instead of confidence intervals. Two SAC runs lost early validation history in a Colab crash, and the demo is drawn from simulation state because the renderer crashed.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nominal-training validation curves, one line per seed. On its two complete seeds, SAC has a larger learning-curve area, 2,293 versus 1,871 for PPO, and reached a return of 1,500 by 75 to 125 thousand steps. So H1 is directionally supported, but two seeds can't confirm it. Notice PPO's instability: seed 0 reached about 2,900 at 425 thousand steps, then collapsed to about 1,200 by the end. Because Part 1 committed to testing the final policy rather than the best checkpoint, that late collapse is why PPO seed 0 counts as a failure.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Two engineering issues matter. First, two SAC runs crashed; I resumed both from 300-thousand-step checkpoints, including the replay buffer, but the early validation points were lost, and I left those gaps rather than inventing data. Second, PPO's 500-thousand-step validation happens just before its final update. For two unstable randomized seeds, that one update swung nominal return between about 1,000 and over 3,000, which shows how fragile these policies were. The lesson for me was to write every log entry to disk immediately.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At nominal physics, the successful policies all score between about 3,000 and 3,400, so peak performance is similar. The real difference is reliability. SAC Nominal succeeded on all three seeds, with 100 percent success. PPO Nominal succeeded on two of three; seed 0 is the late collapse from the learning curves. Each randomized configuration also had one failed seed. So SAC Nominal is best described as the most reliable learner, with an interquartile mean of 3,281, versus 2,979 for PPO Nominal.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Across all 25 conditions, success is low for everyone. The standout is PPO Randomized seed 1, with 51 percent grid success, more than twice any other agent, but its other two seeds reached only 3 and 8 percent. That one seed is why PPO Randomized has the highest mean grid return, 1,326. Using the interquartile mean that Part 1 specified, it is still highest, but the gap shrinks to about 130 points. So randomization produced a very robust policy on only one of three seeds, exactly the seed variance Henderson warned about.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heatmaps show mean return in every grid cell, averaged over three seeds; the red box marks nominal physics. Three patterns stand out. First, high friction was the hardest shift: at 1.5 times friction, every configuration scores below 600. Second, nominal training gives a narrow peak: SAC Nominal scores 3,273 at the center but drops to between about 1,100 and 1,650 just one step away in friction. Third, PPO Randomized has the widest working region, with every in-distribution cell above 1,400, partly thanks to its exceptional seed 1.</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Looking only at the out-of-distribution cells, randomization helped. For SAC, every randomized seed beats every nominal seed, the cleanest result in the study. For PPO, the interquartile mean rises from 700 to 956, but the seed ranges overlap, so the evidence is weaker. Still, the best out-of-distribution success rate is only about 9 percent: randomization made failure more graceful, but it didn't solve robustness.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Against the Part 1 tests: H1 is directionally supported, but two seeds are too few to confirm it. H2 is clearly supported: nominal policies kept only about a quarter of their return out of distribution, far below the 0.70 threshold. For example, the robustness ratio was 0.28 for PPO and 0.22 for SAC. H3 is partly supported: randomization raised robustness for both algorithms, and PPO's nominal cost was within the 10 percent limit, but SAC's, at 10.7 percent, was just over. The Part 1 success criterion was met. Both nominally trained algorithms exceeded a return of 1,500 with at least 80 percent success.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are real rollouts of the trained policies, drawn from the MuJoCo simulation state. [Play the top video.] At nominal physics, both SAC Nominal and PPO Randomized hop the full 1,000 steps, about 19 meters. [Play the bottom video.] Now with 40 percent more mass and 50 percent more friction, at one-third speed. Watch the knee buckle on landing. SAC Nominal fails at step 153; PPO Randomized lasts about 70 steps longer, then fails the same way. These are best seeds, so this illustrates the pattern rather than proving it. PPO Randomized saw heavier bodies during training, which may explain why it holds on longer. Notice that both robots fall the same way, so randomization delayed the failure rather than preventing it.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policy that collapses at 1.4 times mass in simulation could damage a real robot or hurt someone, so deployment would need safety constraints, staged testing, and human oversight. Since only one of three randomized PPO seeds was robust, judging a controller by its best seed would be misleading, so I report every seed and disclosed my missing data. Robust locomotion is also dual-use, and GPU training has energy costs. I also labeled the demo clearly as best seeds.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main limitation is three seeds: several conclusions hinge on one seed. Mass scaling also doesn't scale inertia, and I tested only one task. What I learned: nominal return and robustness are different properties, seed variance can dominate an RL comparison, long cloud runs must log and checkpoint incrementally, and small implementation details can change what the numbers seem to say. That's why every seed is on my slides.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conclude, three findings. First, brittleness is real: every nominally trained policy lost most of its return out of distribution. Second, SAC was the most reliable nominal learner, succeeding on all three seeds. Third, randomization helps but unreliably: it raised out-of-distribution return on every SAC seed, but strong robustness appeared in only one of three PPO seeds. For future work, I'd run at least five seeds with confidence intervals, scale inertia along with mass, and test wider shifts and adaptive randomization. The takeaway: a high benchmark score is not robustness. Test under controlled shift, and report every seed.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my main references.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Finally, I used Claude to review my work against the rubric, recompute per-seed statistics from my results, fix the demo rendering, and draft these slides and notes. I designed the study, ran the experiments, checked the numbers, and take responsibility for the conclusions. Thank you.</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626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188720"/>
          </a:xfrm>
          <a:prstGeom prst="rect">
            <a:avLst/>
          </a:prstGeom>
          <a:noFill/>
          <a:ln/>
        </p:spPr>
        <p:txBody>
          <a:bodyPr wrap="square" rtlCol="0"/>
          <a:lstStyle>
            <a:lvl1pPr algn="l" indent="0" marL="0">
              <a:buNone/>
              <a:defRPr lang="en-US" sz="4400" b="1" dirty="0">
                <a:solidFill>
                  <a:srgbClr val="FFFFFF"/>
                </a:solidFill>
                <a:latin typeface="Cambria" pitchFamily="34" charset="0"/>
                <a:ea typeface="Cambria" pitchFamily="34" charset="-122"/>
                <a:cs typeface="Cambria" pitchFamily="34" charset="-120"/>
              </a:defRPr>
            </a:lvl1pPr>
          </a:lstStyle>
          <a:p>
            <a:pPr algn="l" indent="0" marL="0">
              <a:buNone/>
            </a:pPr>
            <a:r>
              <a:rPr lang="en-US" sz="4400" b="1" dirty="0">
                <a:solidFill>
                  <a:srgbClr val="FFFFFF"/>
                </a:solidFill>
                <a:latin typeface="Cambria" pitchFamily="34" charset="0"/>
                <a:ea typeface="Cambria" pitchFamily="34" charset="-122"/>
                <a:cs typeface="Cambria" pitchFamily="34" charset="-120"/>
              </a:rPr>
              <a:t>Title</a:t>
            </a: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ING">
    <p:bg>
      <p:bgPr>
        <a:solidFill>
          <a:srgbClr val="1626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0698480" cy="822960"/>
          </a:xfrm>
          <a:prstGeom prst="rect">
            <a:avLst/>
          </a:prstGeom>
          <a:noFill/>
          <a:ln/>
        </p:spPr>
        <p:txBody>
          <a:bodyPr wrap="square" rtlCol="0"/>
          <a:lstStyle>
            <a:lvl1pPr algn="l" indent="0" marL="0">
              <a:buNone/>
              <a:defRPr lang="en-US" sz="3600" b="1" dirty="0">
                <a:solidFill>
                  <a:srgbClr val="FFFFFF"/>
                </a:solidFill>
                <a:latin typeface="Cambria" pitchFamily="34" charset="0"/>
                <a:ea typeface="Cambria" pitchFamily="34" charset="-122"/>
                <a:cs typeface="Cambria" pitchFamily="34" charset="-120"/>
              </a:defRPr>
            </a:lvl1pPr>
          </a:lstStyle>
          <a:p>
            <a:pPr algn="l" indent="0" marL="0">
              <a:buNone/>
            </a:pPr>
            <a:r>
              <a:rPr lang="en-US" sz="3600" b="1" dirty="0">
                <a:solidFill>
                  <a:srgbClr val="FFFFFF"/>
                </a:solidFill>
                <a:latin typeface="Cambria" pitchFamily="34" charset="0"/>
                <a:ea typeface="Cambria" pitchFamily="34" charset="-122"/>
                <a:cs typeface="Cambria" pitchFamily="34" charset="-120"/>
              </a:rPr>
              <a:t>Title</a:t>
            </a:r>
            <a:endParaRPr lang="en-US" sz="3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rtlCol="0"/>
          <a:lstStyle>
            <a:lvl1pPr indent="0" marL="0">
              <a:buNone/>
              <a:defRPr lang="en-US" sz="3400" b="1" dirty="0">
                <a:solidFill>
                  <a:srgbClr val="16263D"/>
                </a:solidFill>
                <a:latin typeface="Cambria" pitchFamily="34" charset="0"/>
                <a:ea typeface="Cambria" pitchFamily="34" charset="-122"/>
                <a:cs typeface="Cambria" pitchFamily="34" charset="-120"/>
              </a:defRPr>
            </a:lvl1pPr>
          </a:lstStyle>
          <a:p>
            <a:pPr indent="0" marL="0">
              <a:buNone/>
            </a:pPr>
            <a:r>
              <a:rPr lang="en-US" sz="3400" b="1" dirty="0">
                <a:solidFill>
                  <a:srgbClr val="16263D"/>
                </a:solidFill>
                <a:latin typeface="Cambria" pitchFamily="34" charset="0"/>
                <a:ea typeface="Cambria" pitchFamily="34" charset="-122"/>
                <a:cs typeface="Cambria" pitchFamily="34" charset="-120"/>
              </a:rPr>
              <a:t>Title</a:t>
            </a:r>
            <a:endParaRPr lang="en-US" sz="34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rgbClr val="5F6B7A"/>
                </a:solidFill>
                <a:latin typeface="Calibri" pitchFamily="34" charset="0"/>
                <a:ea typeface="Calibri" pitchFamily="34" charset="-122"/>
                <a:cs typeface="Calibri" pitchFamily="34" charset="-120"/>
              </a:rPr>
              <a:t>RL Project Part 2  ·  Suresh Tammana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chart" Target="../charts/chart2.xml"/><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4.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video" Target="../media/media-16-1.mp4"/><Relationship Id="rId2" Type="http://schemas.microsoft.com/office/2007/relationships/media" Target="../media/media-16-1.mp4"/><Relationship Id="rId3" Type="http://schemas.openxmlformats.org/officeDocument/2006/relationships/image" Target="../media/image-16-3.png"/><Relationship Id="rId4" Type="http://schemas.openxmlformats.org/officeDocument/2006/relationships/video" Target="../media/media-16-4.mp4"/><Relationship Id="rId5" Type="http://schemas.microsoft.com/office/2007/relationships/media" Target="../media/media-16-4.mp4"/><Relationship Id="rId6" Type="http://schemas.openxmlformats.org/officeDocument/2006/relationships/image" Target="../media/image-16-6.png"/><Relationship Id="rId7" Type="http://schemas.openxmlformats.org/officeDocument/2006/relationships/slideLayout" Target="../slideLayouts/slideLayout4.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188720"/>
          </a:xfrm>
          <a:prstGeom prst="rect">
            <a:avLst/>
          </a:prstGeom>
          <a:noFill/>
          <a:ln/>
        </p:spPr>
        <p:txBody>
          <a:bodyPr wrap="square" lIns="0" tIns="0" rIns="0" bIns="0" rtlCol="0" anchor="b"/>
          <a:lstStyle/>
          <a:p>
            <a:pPr algn="l" indent="0" marL="0">
              <a:buNone/>
            </a:pPr>
            <a:r>
              <a:rPr lang="en-US" sz="4400" b="1" dirty="0">
                <a:solidFill>
                  <a:srgbClr val="FFFFFF"/>
                </a:solidFill>
                <a:latin typeface="Cambria" pitchFamily="34" charset="0"/>
                <a:ea typeface="Cambria" pitchFamily="34" charset="-122"/>
                <a:cs typeface="Cambria" pitchFamily="34" charset="-120"/>
              </a:rPr>
              <a:t>Robust Locomotion Under Dynamics Shift</a:t>
            </a:r>
            <a:endParaRPr lang="en-US" sz="4400" dirty="0"/>
          </a:p>
        </p:txBody>
      </p:sp>
      <p:sp>
        <p:nvSpPr>
          <p:cNvPr id="3" name="Text 1"/>
          <p:cNvSpPr txBox="1"/>
          <p:nvPr/>
        </p:nvSpPr>
        <p:spPr>
          <a:xfrm>
            <a:off x="731520" y="3108960"/>
            <a:ext cx="10698480" cy="548640"/>
          </a:xfrm>
          <a:prstGeom prst="rect">
            <a:avLst/>
          </a:prstGeom>
          <a:noFill/>
          <a:ln/>
        </p:spPr>
        <p:txBody>
          <a:bodyPr wrap="square" lIns="0" tIns="0" rIns="0" bIns="0" rtlCol="0" anchor="ctr"/>
          <a:lstStyle/>
          <a:p>
            <a:pPr indent="0" marL="0">
              <a:buNone/>
            </a:pPr>
            <a:r>
              <a:rPr lang="en-US" sz="2400" dirty="0">
                <a:solidFill>
                  <a:srgbClr val="CADCEB"/>
                </a:solidFill>
              </a:rPr>
              <a:t>PPO vs. SAC with Domain Randomization in Hopper-v5</a:t>
            </a:r>
            <a:endParaRPr lang="en-US" sz="2400" dirty="0"/>
          </a:p>
        </p:txBody>
      </p:sp>
      <p:sp>
        <p:nvSpPr>
          <p:cNvPr id="4" name="Text 2"/>
          <p:cNvSpPr txBox="1"/>
          <p:nvPr/>
        </p:nvSpPr>
        <p:spPr>
          <a:xfrm>
            <a:off x="731520" y="3886200"/>
            <a:ext cx="10698480" cy="365760"/>
          </a:xfrm>
          <a:prstGeom prst="rect">
            <a:avLst/>
          </a:prstGeom>
          <a:noFill/>
          <a:ln/>
        </p:spPr>
        <p:txBody>
          <a:bodyPr wrap="square" lIns="0" tIns="0" rIns="0" bIns="0" rtlCol="0" anchor="ctr"/>
          <a:lstStyle/>
          <a:p>
            <a:pPr indent="0" marL="0">
              <a:buNone/>
            </a:pPr>
            <a:r>
              <a:rPr lang="en-US" sz="1600" dirty="0">
                <a:solidFill>
                  <a:srgbClr val="FFFFFF"/>
                </a:solidFill>
              </a:rPr>
              <a:t>Suresh Tammana  ·  Reinforcement Learning Project, Part 2  ·  October 2026</a:t>
            </a:r>
            <a:endParaRPr lang="en-US" sz="1600" dirty="0"/>
          </a:p>
        </p:txBody>
      </p:sp>
      <p:sp>
        <p:nvSpPr>
          <p:cNvPr id="5" name="Text 3"/>
          <p:cNvSpPr txBox="1"/>
          <p:nvPr/>
        </p:nvSpPr>
        <p:spPr>
          <a:xfrm>
            <a:off x="731520" y="4983480"/>
            <a:ext cx="2651760" cy="640080"/>
          </a:xfrm>
          <a:prstGeom prst="rect">
            <a:avLst/>
          </a:prstGeom>
          <a:noFill/>
          <a:ln/>
        </p:spPr>
        <p:txBody>
          <a:bodyPr wrap="square" lIns="0" tIns="0" rIns="0" bIns="0" rtlCol="0" anchor="ctr"/>
          <a:lstStyle/>
          <a:p>
            <a:pPr indent="0" marL="0">
              <a:buNone/>
            </a:pPr>
            <a:r>
              <a:rPr lang="en-US" sz="3600" b="1" dirty="0">
                <a:solidFill>
                  <a:srgbClr val="D2802F"/>
                </a:solidFill>
                <a:latin typeface="Cambria" pitchFamily="34" charset="0"/>
                <a:ea typeface="Cambria" pitchFamily="34" charset="-122"/>
                <a:cs typeface="Cambria" pitchFamily="34" charset="-120"/>
              </a:rPr>
              <a:t>12</a:t>
            </a:r>
            <a:endParaRPr lang="en-US" sz="3600" dirty="0"/>
          </a:p>
        </p:txBody>
      </p:sp>
      <p:sp>
        <p:nvSpPr>
          <p:cNvPr id="6" name="Text 4"/>
          <p:cNvSpPr txBox="1"/>
          <p:nvPr/>
        </p:nvSpPr>
        <p:spPr>
          <a:xfrm>
            <a:off x="731520" y="5623560"/>
            <a:ext cx="2651760" cy="320040"/>
          </a:xfrm>
          <a:prstGeom prst="rect">
            <a:avLst/>
          </a:prstGeom>
          <a:noFill/>
          <a:ln/>
        </p:spPr>
        <p:txBody>
          <a:bodyPr wrap="square" lIns="0" tIns="0" rIns="0" bIns="0" rtlCol="0" anchor="ctr"/>
          <a:lstStyle/>
          <a:p>
            <a:pPr indent="0" marL="0">
              <a:buNone/>
            </a:pPr>
            <a:r>
              <a:rPr lang="en-US" sz="1400" dirty="0">
                <a:solidFill>
                  <a:srgbClr val="CADCEB"/>
                </a:solidFill>
              </a:rPr>
              <a:t>trained agents</a:t>
            </a:r>
            <a:endParaRPr lang="en-US" sz="1400" dirty="0"/>
          </a:p>
        </p:txBody>
      </p:sp>
      <p:sp>
        <p:nvSpPr>
          <p:cNvPr id="7" name="Text 5"/>
          <p:cNvSpPr txBox="1"/>
          <p:nvPr/>
        </p:nvSpPr>
        <p:spPr>
          <a:xfrm>
            <a:off x="3657600" y="4983480"/>
            <a:ext cx="2651760" cy="640080"/>
          </a:xfrm>
          <a:prstGeom prst="rect">
            <a:avLst/>
          </a:prstGeom>
          <a:noFill/>
          <a:ln/>
        </p:spPr>
        <p:txBody>
          <a:bodyPr wrap="square" lIns="0" tIns="0" rIns="0" bIns="0" rtlCol="0" anchor="ctr"/>
          <a:lstStyle/>
          <a:p>
            <a:pPr indent="0" marL="0">
              <a:buNone/>
            </a:pPr>
            <a:r>
              <a:rPr lang="en-US" sz="3600" b="1" dirty="0">
                <a:solidFill>
                  <a:srgbClr val="D2802F"/>
                </a:solidFill>
                <a:latin typeface="Cambria" pitchFamily="34" charset="0"/>
                <a:ea typeface="Cambria" pitchFamily="34" charset="-122"/>
                <a:cs typeface="Cambria" pitchFamily="34" charset="-120"/>
              </a:rPr>
              <a:t>3,000</a:t>
            </a:r>
            <a:endParaRPr lang="en-US" sz="3600" dirty="0"/>
          </a:p>
        </p:txBody>
      </p:sp>
      <p:sp>
        <p:nvSpPr>
          <p:cNvPr id="8" name="Text 6"/>
          <p:cNvSpPr txBox="1"/>
          <p:nvPr/>
        </p:nvSpPr>
        <p:spPr>
          <a:xfrm>
            <a:off x="3657600" y="5623560"/>
            <a:ext cx="2651760" cy="320040"/>
          </a:xfrm>
          <a:prstGeom prst="rect">
            <a:avLst/>
          </a:prstGeom>
          <a:noFill/>
          <a:ln/>
        </p:spPr>
        <p:txBody>
          <a:bodyPr wrap="square" lIns="0" tIns="0" rIns="0" bIns="0" rtlCol="0" anchor="ctr"/>
          <a:lstStyle/>
          <a:p>
            <a:pPr indent="0" marL="0">
              <a:buNone/>
            </a:pPr>
            <a:r>
              <a:rPr lang="en-US" sz="1400" dirty="0">
                <a:solidFill>
                  <a:srgbClr val="CADCEB"/>
                </a:solidFill>
              </a:rPr>
              <a:t>robustness episodes</a:t>
            </a:r>
            <a:endParaRPr lang="en-US" sz="1400" dirty="0"/>
          </a:p>
        </p:txBody>
      </p:sp>
      <p:sp>
        <p:nvSpPr>
          <p:cNvPr id="9" name="Text 7"/>
          <p:cNvSpPr txBox="1"/>
          <p:nvPr/>
        </p:nvSpPr>
        <p:spPr>
          <a:xfrm>
            <a:off x="6583680" y="4983480"/>
            <a:ext cx="2651760" cy="640080"/>
          </a:xfrm>
          <a:prstGeom prst="rect">
            <a:avLst/>
          </a:prstGeom>
          <a:noFill/>
          <a:ln/>
        </p:spPr>
        <p:txBody>
          <a:bodyPr wrap="square" lIns="0" tIns="0" rIns="0" bIns="0" rtlCol="0" anchor="ctr"/>
          <a:lstStyle/>
          <a:p>
            <a:pPr indent="0" marL="0">
              <a:buNone/>
            </a:pPr>
            <a:r>
              <a:rPr lang="en-US" sz="3600" b="1" dirty="0">
                <a:solidFill>
                  <a:srgbClr val="D2802F"/>
                </a:solidFill>
                <a:latin typeface="Cambria" pitchFamily="34" charset="0"/>
                <a:ea typeface="Cambria" pitchFamily="34" charset="-122"/>
                <a:cs typeface="Cambria" pitchFamily="34" charset="-120"/>
              </a:rPr>
              <a:t>25</a:t>
            </a:r>
            <a:endParaRPr lang="en-US" sz="3600" dirty="0"/>
          </a:p>
        </p:txBody>
      </p:sp>
      <p:sp>
        <p:nvSpPr>
          <p:cNvPr id="10" name="Text 8"/>
          <p:cNvSpPr txBox="1"/>
          <p:nvPr/>
        </p:nvSpPr>
        <p:spPr>
          <a:xfrm>
            <a:off x="6583680" y="5623560"/>
            <a:ext cx="2651760" cy="320040"/>
          </a:xfrm>
          <a:prstGeom prst="rect">
            <a:avLst/>
          </a:prstGeom>
          <a:noFill/>
          <a:ln/>
        </p:spPr>
        <p:txBody>
          <a:bodyPr wrap="square" lIns="0" tIns="0" rIns="0" bIns="0" rtlCol="0" anchor="ctr"/>
          <a:lstStyle/>
          <a:p>
            <a:pPr indent="0" marL="0">
              <a:buNone/>
            </a:pPr>
            <a:r>
              <a:rPr lang="en-US" sz="1400" dirty="0">
                <a:solidFill>
                  <a:srgbClr val="CADCEB"/>
                </a:solidFill>
              </a:rPr>
              <a:t>dynamics conditions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indent="0" marL="0">
              <a:buNone/>
            </a:pPr>
            <a:r>
              <a:rPr lang="en-US" sz="3400" b="1" dirty="0">
                <a:solidFill>
                  <a:srgbClr val="16263D"/>
                </a:solidFill>
                <a:latin typeface="Cambria" pitchFamily="34" charset="0"/>
                <a:ea typeface="Cambria" pitchFamily="34" charset="-122"/>
                <a:cs typeface="Cambria" pitchFamily="34" charset="-120"/>
              </a:rPr>
              <a:t>Problem and motivation</a:t>
            </a:r>
            <a:endParaRPr lang="en-US" sz="3400" dirty="0"/>
          </a:p>
        </p:txBody>
      </p:sp>
      <p:sp>
        <p:nvSpPr>
          <p:cNvPr id="3" name="Takeaway"/>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700" i="1" dirty="0">
                <a:solidFill>
                  <a:schemeClr val="accent1"/>
                </a:solidFill>
              </a:rPr>
              <a:t>A controller that only works in its training simulator is not a reliable controller</a:t>
            </a:r>
            <a:endParaRPr lang="en-US" sz="1700" dirty="0"/>
          </a:p>
        </p:txBody>
      </p:sp>
      <p:sp>
        <p:nvSpPr>
          <p:cNvPr id="4" name="Research question"/>
          <p:cNvSpPr/>
          <p:nvPr/>
        </p:nvSpPr>
        <p:spPr>
          <a:xfrm>
            <a:off x="548640" y="1691640"/>
            <a:ext cx="5760720" cy="2148840"/>
          </a:xfrm>
          <a:prstGeom prst="roundRect">
            <a:avLst>
              <a:gd name="adj" fmla="val 3404"/>
            </a:avLst>
          </a:prstGeom>
          <a:solidFill>
            <a:srgbClr val="16263D"/>
          </a:solidFill>
          <a:ln w="12700">
            <a:solidFill>
              <a:srgbClr val="16263D"/>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822960" y="1828800"/>
            <a:ext cx="5257800" cy="1874520"/>
          </a:xfrm>
          <a:prstGeom prst="rect">
            <a:avLst/>
          </a:prstGeom>
          <a:noFill/>
          <a:ln/>
        </p:spPr>
        <p:txBody>
          <a:bodyPr wrap="square" lIns="0" tIns="0" rIns="0" bIns="0" rtlCol="0" anchor="t"/>
          <a:lstStyle/>
          <a:p>
            <a:pPr indent="0" marL="0">
              <a:spcAft>
                <a:spcPts val="600"/>
              </a:spcAft>
              <a:buNone/>
            </a:pPr>
            <a:r>
              <a:rPr lang="en-US" sz="1300" b="1" dirty="0">
                <a:solidFill>
                  <a:srgbClr val="CADCEB"/>
                </a:solidFill>
              </a:rPr>
              <a:t>Research question from Part 1</a:t>
            </a:r>
            <a:endParaRPr lang="en-US" sz="1300" dirty="0"/>
          </a:p>
          <a:p>
            <a:pPr indent="0" marL="0">
              <a:spcAft>
                <a:spcPts val="600"/>
              </a:spcAft>
              <a:buNone/>
            </a:pPr>
            <a:r>
              <a:rPr lang="en-US" sz="2100" i="1" dirty="0">
                <a:solidFill>
                  <a:srgbClr val="FFFFFF"/>
                </a:solidFill>
                <a:latin typeface="Cambria" pitchFamily="34" charset="0"/>
                <a:ea typeface="Cambria" pitchFamily="34" charset="-122"/>
                <a:cs typeface="Cambria" pitchFamily="34" charset="-120"/>
              </a:rPr>
              <a:t>How do algorithm choice and domain randomization affect the trade-off between peak performance and robustness to dynamics shift in learned locomotion?</a:t>
            </a:r>
            <a:endParaRPr lang="en-US" sz="1300" dirty="0"/>
          </a:p>
        </p:txBody>
      </p:sp>
      <p:sp>
        <p:nvSpPr>
          <p:cNvPr id="6" name="Text 4"/>
          <p:cNvSpPr txBox="1"/>
          <p:nvPr/>
        </p:nvSpPr>
        <p:spPr>
          <a:xfrm>
            <a:off x="548640" y="4069080"/>
            <a:ext cx="5760720" cy="2103120"/>
          </a:xfrm>
          <a:prstGeom prst="rect">
            <a:avLst/>
          </a:prstGeom>
          <a:noFill/>
          <a:ln/>
        </p:spPr>
        <p:txBody>
          <a:bodyPr wrap="square" lIns="0" tIns="0" rIns="0" bIns="0" rtlCol="0" anchor="t"/>
          <a:lstStyle/>
          <a:p>
            <a:pPr indent="0" marL="0">
              <a:spcAft>
                <a:spcPts val="600"/>
              </a:spcAft>
              <a:buNone/>
            </a:pPr>
            <a:r>
              <a:rPr lang="en-US" sz="1600" b="1" dirty="0">
                <a:solidFill>
                  <a:schemeClr val="tx2"/>
                </a:solidFill>
              </a:rPr>
              <a:t>Why it matters</a:t>
            </a:r>
            <a:endParaRPr lang="en-US" sz="1600" dirty="0"/>
          </a:p>
          <a:p>
            <a:pPr marL="342900" indent="-342900">
              <a:spcAft>
                <a:spcPts val="600"/>
              </a:spcAft>
              <a:buSzPct val="100000"/>
              <a:buChar char="•"/>
            </a:pPr>
            <a:r>
              <a:rPr lang="en-US" sz="1500" dirty="0">
                <a:solidFill>
                  <a:schemeClr val="tx1"/>
                </a:solidFill>
              </a:rPr>
              <a:t>Simulators never match real robots exactly; payload, wear and surfaces change mass and friction.</a:t>
            </a:r>
            <a:endParaRPr lang="en-US" sz="1600" dirty="0"/>
          </a:p>
          <a:p>
            <a:pPr marL="342900" indent="-342900">
              <a:spcAft>
                <a:spcPts val="600"/>
              </a:spcAft>
              <a:buSzPct val="100000"/>
              <a:buChar char="•"/>
            </a:pPr>
            <a:r>
              <a:rPr lang="en-US" sz="1500" dirty="0">
                <a:solidFill>
                  <a:schemeClr val="tx1"/>
                </a:solidFill>
              </a:rPr>
              <a:t>Deep RL policies can fail under modest parameter changes (Rajeswaran et al., 2017).</a:t>
            </a:r>
            <a:endParaRPr lang="en-US" sz="1600" dirty="0"/>
          </a:p>
          <a:p>
            <a:pPr marL="342900" indent="-342900">
              <a:spcAft>
                <a:spcPts val="600"/>
              </a:spcAft>
              <a:buSzPct val="100000"/>
              <a:buChar char="•"/>
            </a:pPr>
            <a:r>
              <a:rPr lang="en-US" sz="1500" dirty="0">
                <a:solidFill>
                  <a:schemeClr val="tx1"/>
                </a:solidFill>
              </a:rPr>
              <a:t>So I separate training performance from robustness testing.</a:t>
            </a:r>
            <a:endParaRPr lang="en-US" sz="1600" dirty="0"/>
          </a:p>
        </p:txBody>
      </p:sp>
      <p:sp>
        <p:nvSpPr>
          <p:cNvPr id="7" name="Step TRAIN"/>
          <p:cNvSpPr/>
          <p:nvPr/>
        </p:nvSpPr>
        <p:spPr>
          <a:xfrm>
            <a:off x="6858000" y="1691640"/>
            <a:ext cx="4754880" cy="1188720"/>
          </a:xfrm>
          <a:prstGeom prst="roundRect">
            <a:avLst>
              <a:gd name="adj" fmla="val 6154"/>
            </a:avLst>
          </a:prstGeom>
          <a:solidFill>
            <a:srgbClr val="EEF3F7"/>
          </a:solidFill>
          <a:ln w="12700">
            <a:solidFill>
              <a:srgbClr val="EEF3F7"/>
            </a:solidFill>
            <a:prstDash val="solid"/>
          </a:ln>
          <a:effectLst>
            <a:outerShdw sx="100000" sy="100000" kx="0" ky="0" algn="bl" rotWithShape="0" blurRad="76200" dist="25400" dir="5400000">
              <a:srgbClr val="000000">
                <a:alpha val="12000"/>
              </a:srgbClr>
            </a:outerShdw>
          </a:effectLst>
        </p:spPr>
      </p:sp>
      <p:sp>
        <p:nvSpPr>
          <p:cNvPr id="8" name="Badge 1"/>
          <p:cNvSpPr/>
          <p:nvPr/>
        </p:nvSpPr>
        <p:spPr>
          <a:xfrm>
            <a:off x="7086600" y="2002536"/>
            <a:ext cx="566928" cy="566928"/>
          </a:xfrm>
          <a:prstGeom prst="ellipse">
            <a:avLst/>
          </a:prstGeom>
          <a:solidFill>
            <a:srgbClr val="2E5E8C"/>
          </a:solidFill>
          <a:ln w="12700">
            <a:solidFill>
              <a:srgbClr val="2E5E8C"/>
            </a:solidFill>
            <a:prstDash val="solid"/>
          </a:ln>
        </p:spPr>
      </p:sp>
      <p:sp>
        <p:nvSpPr>
          <p:cNvPr id="9" name="Text 7"/>
          <p:cNvSpPr txBox="1"/>
          <p:nvPr/>
        </p:nvSpPr>
        <p:spPr>
          <a:xfrm>
            <a:off x="7086600" y="2002536"/>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10" name="Text 8"/>
          <p:cNvSpPr txBox="1"/>
          <p:nvPr/>
        </p:nvSpPr>
        <p:spPr>
          <a:xfrm>
            <a:off x="7863840" y="1828800"/>
            <a:ext cx="3566160" cy="914400"/>
          </a:xfrm>
          <a:prstGeom prst="rect">
            <a:avLst/>
          </a:prstGeom>
          <a:noFill/>
          <a:ln/>
        </p:spPr>
        <p:txBody>
          <a:bodyPr wrap="square" lIns="0" tIns="0" rIns="0" bIns="0" rtlCol="0" anchor="ctr"/>
          <a:lstStyle/>
          <a:p>
            <a:pPr indent="0" marL="0">
              <a:buNone/>
            </a:pPr>
            <a:r>
              <a:rPr lang="en-US" sz="1600" b="1" dirty="0">
                <a:solidFill>
                  <a:srgbClr val="2E5E8C"/>
                </a:solidFill>
              </a:rPr>
              <a:t>TRAIN</a:t>
            </a:r>
            <a:endParaRPr lang="en-US" sz="1600" dirty="0"/>
          </a:p>
          <a:p>
            <a:pPr indent="0" marL="0">
              <a:buNone/>
            </a:pPr>
            <a:r>
              <a:rPr lang="en-US" sz="1400" dirty="0">
                <a:solidFill>
                  <a:schemeClr val="tx1"/>
                </a:solidFill>
              </a:rPr>
              <a:t>PPO or SAC, nominal or randomized physics</a:t>
            </a:r>
            <a:endParaRPr lang="en-US" sz="1600" dirty="0"/>
          </a:p>
        </p:txBody>
      </p:sp>
      <p:sp>
        <p:nvSpPr>
          <p:cNvPr id="11" name="Arrow"/>
          <p:cNvSpPr/>
          <p:nvPr/>
        </p:nvSpPr>
        <p:spPr>
          <a:xfrm>
            <a:off x="9098280" y="2907792"/>
            <a:ext cx="274320" cy="246888"/>
          </a:xfrm>
          <a:prstGeom prst="downArrow">
            <a:avLst/>
          </a:prstGeom>
          <a:solidFill>
            <a:srgbClr val="B8C4D0"/>
          </a:solidFill>
          <a:ln w="12700">
            <a:solidFill>
              <a:srgbClr val="B8C4D0"/>
            </a:solidFill>
            <a:prstDash val="solid"/>
          </a:ln>
        </p:spPr>
      </p:sp>
      <p:sp>
        <p:nvSpPr>
          <p:cNvPr id="12" name="Step TEST"/>
          <p:cNvSpPr/>
          <p:nvPr/>
        </p:nvSpPr>
        <p:spPr>
          <a:xfrm>
            <a:off x="6858000" y="3172968"/>
            <a:ext cx="4754880" cy="1188720"/>
          </a:xfrm>
          <a:prstGeom prst="roundRect">
            <a:avLst>
              <a:gd name="adj" fmla="val 6154"/>
            </a:avLst>
          </a:prstGeom>
          <a:solidFill>
            <a:srgbClr val="EEF3F7"/>
          </a:solidFill>
          <a:ln w="12700">
            <a:solidFill>
              <a:srgbClr val="EEF3F7"/>
            </a:solidFill>
            <a:prstDash val="solid"/>
          </a:ln>
          <a:effectLst>
            <a:outerShdw sx="100000" sy="100000" kx="0" ky="0" algn="bl" rotWithShape="0" blurRad="76200" dist="25400" dir="5400000">
              <a:srgbClr val="000000">
                <a:alpha val="12000"/>
              </a:srgbClr>
            </a:outerShdw>
          </a:effectLst>
        </p:spPr>
      </p:sp>
      <p:sp>
        <p:nvSpPr>
          <p:cNvPr id="13" name="Badge 2"/>
          <p:cNvSpPr/>
          <p:nvPr/>
        </p:nvSpPr>
        <p:spPr>
          <a:xfrm>
            <a:off x="7086600" y="3483864"/>
            <a:ext cx="566928" cy="566928"/>
          </a:xfrm>
          <a:prstGeom prst="ellipse">
            <a:avLst/>
          </a:prstGeom>
          <a:solidFill>
            <a:srgbClr val="1F8A8A"/>
          </a:solidFill>
          <a:ln w="12700">
            <a:solidFill>
              <a:srgbClr val="1F8A8A"/>
            </a:solidFill>
            <a:prstDash val="solid"/>
          </a:ln>
        </p:spPr>
      </p:sp>
      <p:sp>
        <p:nvSpPr>
          <p:cNvPr id="14" name="Text 12"/>
          <p:cNvSpPr txBox="1"/>
          <p:nvPr/>
        </p:nvSpPr>
        <p:spPr>
          <a:xfrm>
            <a:off x="7086600" y="3483864"/>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5" name="Text 13"/>
          <p:cNvSpPr txBox="1"/>
          <p:nvPr/>
        </p:nvSpPr>
        <p:spPr>
          <a:xfrm>
            <a:off x="7863840" y="3310128"/>
            <a:ext cx="3566160" cy="914400"/>
          </a:xfrm>
          <a:prstGeom prst="rect">
            <a:avLst/>
          </a:prstGeom>
          <a:noFill/>
          <a:ln/>
        </p:spPr>
        <p:txBody>
          <a:bodyPr wrap="square" lIns="0" tIns="0" rIns="0" bIns="0" rtlCol="0" anchor="ctr"/>
          <a:lstStyle/>
          <a:p>
            <a:pPr indent="0" marL="0">
              <a:buNone/>
            </a:pPr>
            <a:r>
              <a:rPr lang="en-US" sz="1600" b="1" dirty="0">
                <a:solidFill>
                  <a:srgbClr val="1F8A8A"/>
                </a:solidFill>
              </a:rPr>
              <a:t>TEST</a:t>
            </a:r>
            <a:endParaRPr lang="en-US" sz="1600" dirty="0"/>
          </a:p>
          <a:p>
            <a:pPr indent="0" marL="0">
              <a:buNone/>
            </a:pPr>
            <a:r>
              <a:rPr lang="en-US" sz="1400" dirty="0">
                <a:solidFill>
                  <a:schemeClr val="tx1"/>
                </a:solidFill>
              </a:rPr>
              <a:t>25 mass × friction conditions, 10 episodes each</a:t>
            </a:r>
            <a:endParaRPr lang="en-US" sz="1600" dirty="0"/>
          </a:p>
        </p:txBody>
      </p:sp>
      <p:sp>
        <p:nvSpPr>
          <p:cNvPr id="16" name="Arrow"/>
          <p:cNvSpPr/>
          <p:nvPr/>
        </p:nvSpPr>
        <p:spPr>
          <a:xfrm>
            <a:off x="9098280" y="4389120"/>
            <a:ext cx="274320" cy="246888"/>
          </a:xfrm>
          <a:prstGeom prst="downArrow">
            <a:avLst/>
          </a:prstGeom>
          <a:solidFill>
            <a:srgbClr val="B8C4D0"/>
          </a:solidFill>
          <a:ln w="12700">
            <a:solidFill>
              <a:srgbClr val="B8C4D0"/>
            </a:solidFill>
            <a:prstDash val="solid"/>
          </a:ln>
        </p:spPr>
      </p:sp>
      <p:sp>
        <p:nvSpPr>
          <p:cNvPr id="17" name="Step MEASURE"/>
          <p:cNvSpPr/>
          <p:nvPr/>
        </p:nvSpPr>
        <p:spPr>
          <a:xfrm>
            <a:off x="6858000" y="4654296"/>
            <a:ext cx="4754880" cy="1188720"/>
          </a:xfrm>
          <a:prstGeom prst="roundRect">
            <a:avLst>
              <a:gd name="adj" fmla="val 6154"/>
            </a:avLst>
          </a:prstGeom>
          <a:solidFill>
            <a:srgbClr val="EEF3F7"/>
          </a:solidFill>
          <a:ln w="12700">
            <a:solidFill>
              <a:srgbClr val="EEF3F7"/>
            </a:solidFill>
            <a:prstDash val="solid"/>
          </a:ln>
          <a:effectLst>
            <a:outerShdw sx="100000" sy="100000" kx="0" ky="0" algn="bl" rotWithShape="0" blurRad="76200" dist="25400" dir="5400000">
              <a:srgbClr val="000000">
                <a:alpha val="12000"/>
              </a:srgbClr>
            </a:outerShdw>
          </a:effectLst>
        </p:spPr>
      </p:sp>
      <p:sp>
        <p:nvSpPr>
          <p:cNvPr id="18" name="Badge 3"/>
          <p:cNvSpPr/>
          <p:nvPr/>
        </p:nvSpPr>
        <p:spPr>
          <a:xfrm>
            <a:off x="7086600" y="4965192"/>
            <a:ext cx="566928" cy="566928"/>
          </a:xfrm>
          <a:prstGeom prst="ellipse">
            <a:avLst/>
          </a:prstGeom>
          <a:solidFill>
            <a:srgbClr val="D2802F"/>
          </a:solidFill>
          <a:ln w="12700">
            <a:solidFill>
              <a:srgbClr val="D2802F"/>
            </a:solidFill>
            <a:prstDash val="solid"/>
          </a:ln>
        </p:spPr>
      </p:sp>
      <p:sp>
        <p:nvSpPr>
          <p:cNvPr id="19" name="Text 17"/>
          <p:cNvSpPr txBox="1"/>
          <p:nvPr/>
        </p:nvSpPr>
        <p:spPr>
          <a:xfrm>
            <a:off x="7086600" y="4965192"/>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20" name="Text 18"/>
          <p:cNvSpPr txBox="1"/>
          <p:nvPr/>
        </p:nvSpPr>
        <p:spPr>
          <a:xfrm>
            <a:off x="7863840" y="4791456"/>
            <a:ext cx="3566160" cy="914400"/>
          </a:xfrm>
          <a:prstGeom prst="rect">
            <a:avLst/>
          </a:prstGeom>
          <a:noFill/>
          <a:ln/>
        </p:spPr>
        <p:txBody>
          <a:bodyPr wrap="square" lIns="0" tIns="0" rIns="0" bIns="0" rtlCol="0" anchor="ctr"/>
          <a:lstStyle/>
          <a:p>
            <a:pPr indent="0" marL="0">
              <a:buNone/>
            </a:pPr>
            <a:r>
              <a:rPr lang="en-US" sz="1600" b="1" dirty="0">
                <a:solidFill>
                  <a:srgbClr val="D2802F"/>
                </a:solidFill>
              </a:rPr>
              <a:t>MEASURE</a:t>
            </a:r>
            <a:endParaRPr lang="en-US" sz="1600" dirty="0"/>
          </a:p>
          <a:p>
            <a:pPr indent="0" marL="0">
              <a:buNone/>
            </a:pPr>
            <a:r>
              <a:rPr lang="en-US" sz="1400" dirty="0">
                <a:solidFill>
                  <a:schemeClr val="tx1"/>
                </a:solidFill>
              </a:rPr>
              <a:t>Return, success, in- vs. out-of-distribution</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indent="0" marL="0">
              <a:buNone/>
            </a:pPr>
            <a:r>
              <a:rPr lang="en-US" sz="3400" b="1" dirty="0">
                <a:solidFill>
                  <a:srgbClr val="16263D"/>
                </a:solidFill>
                <a:latin typeface="Cambria" pitchFamily="34" charset="0"/>
                <a:ea typeface="Cambria" pitchFamily="34" charset="-122"/>
                <a:cs typeface="Cambria" pitchFamily="34" charset="-120"/>
              </a:rPr>
              <a:t>Background</a:t>
            </a:r>
            <a:endParaRPr lang="en-US" sz="3400" dirty="0"/>
          </a:p>
        </p:txBody>
      </p:sp>
      <p:sp>
        <p:nvSpPr>
          <p:cNvPr id="3" name="Takeaway"/>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700" i="1" dirty="0">
                <a:solidFill>
                  <a:schemeClr val="accent1"/>
                </a:solidFill>
              </a:rPr>
              <a:t>Two families of continuous-control algorithms, plus one robustness technique</a:t>
            </a:r>
            <a:endParaRPr lang="en-US" sz="1700" dirty="0"/>
          </a:p>
        </p:txBody>
      </p:sp>
      <p:sp>
        <p:nvSpPr>
          <p:cNvPr id="4" name="PPO"/>
          <p:cNvSpPr/>
          <p:nvPr/>
        </p:nvSpPr>
        <p:spPr>
          <a:xfrm>
            <a:off x="548640" y="1691640"/>
            <a:ext cx="3474720" cy="3063240"/>
          </a:xfrm>
          <a:prstGeom prst="roundRect">
            <a:avLst>
              <a:gd name="adj" fmla="val 2388"/>
            </a:avLst>
          </a:prstGeom>
          <a:solidFill>
            <a:srgbClr val="EEF3F7"/>
          </a:solidFill>
          <a:ln w="12700">
            <a:solidFill>
              <a:srgbClr val="EEF3F7"/>
            </a:solidFill>
            <a:prstDash val="solid"/>
          </a:ln>
          <a:effectLst>
            <a:outerShdw sx="100000" sy="100000" kx="0" ky="0" algn="bl" rotWithShape="0" blurRad="76200" dist="25400" dir="5400000">
              <a:srgbClr val="000000">
                <a:alpha val="12000"/>
              </a:srgbClr>
            </a:outerShdw>
          </a:effectLst>
        </p:spPr>
      </p:sp>
      <p:sp>
        <p:nvSpPr>
          <p:cNvPr id="5" name="Badge P"/>
          <p:cNvSpPr/>
          <p:nvPr/>
        </p:nvSpPr>
        <p:spPr>
          <a:xfrm>
            <a:off x="822960" y="1920240"/>
            <a:ext cx="566928" cy="566928"/>
          </a:xfrm>
          <a:prstGeom prst="ellipse">
            <a:avLst/>
          </a:prstGeom>
          <a:solidFill>
            <a:srgbClr val="2E5E8C"/>
          </a:solidFill>
          <a:ln w="12700">
            <a:solidFill>
              <a:srgbClr val="2E5E8C"/>
            </a:solidFill>
            <a:prstDash val="solid"/>
          </a:ln>
        </p:spPr>
      </p:sp>
      <p:sp>
        <p:nvSpPr>
          <p:cNvPr id="6" name="Text 4"/>
          <p:cNvSpPr txBox="1"/>
          <p:nvPr/>
        </p:nvSpPr>
        <p:spPr>
          <a:xfrm>
            <a:off x="822960" y="192024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rPr>
              <a:t>P</a:t>
            </a:r>
            <a:endParaRPr lang="en-US" sz="1600" dirty="0"/>
          </a:p>
        </p:txBody>
      </p:sp>
      <p:sp>
        <p:nvSpPr>
          <p:cNvPr id="7" name="Text 5"/>
          <p:cNvSpPr txBox="1"/>
          <p:nvPr/>
        </p:nvSpPr>
        <p:spPr>
          <a:xfrm>
            <a:off x="1554480" y="1920240"/>
            <a:ext cx="2286000" cy="566928"/>
          </a:xfrm>
          <a:prstGeom prst="rect">
            <a:avLst/>
          </a:prstGeom>
          <a:noFill/>
          <a:ln/>
        </p:spPr>
        <p:txBody>
          <a:bodyPr wrap="square" lIns="0" tIns="0" rIns="0" bIns="0" rtlCol="0" anchor="ctr"/>
          <a:lstStyle/>
          <a:p>
            <a:pPr indent="0" marL="0">
              <a:buNone/>
            </a:pPr>
            <a:r>
              <a:rPr lang="en-US" sz="1900" b="1" dirty="0">
                <a:solidFill>
                  <a:srgbClr val="2E5E8C"/>
                </a:solidFill>
              </a:rPr>
              <a:t>PPO</a:t>
            </a:r>
            <a:endParaRPr lang="en-US" sz="1900" dirty="0"/>
          </a:p>
        </p:txBody>
      </p:sp>
      <p:sp>
        <p:nvSpPr>
          <p:cNvPr id="8" name="Text 6"/>
          <p:cNvSpPr txBox="1"/>
          <p:nvPr/>
        </p:nvSpPr>
        <p:spPr>
          <a:xfrm>
            <a:off x="822960" y="2697480"/>
            <a:ext cx="2971800" cy="1508760"/>
          </a:xfrm>
          <a:prstGeom prst="rect">
            <a:avLst/>
          </a:prstGeom>
          <a:noFill/>
          <a:ln/>
        </p:spPr>
        <p:txBody>
          <a:bodyPr wrap="square" lIns="0" tIns="0" rIns="0" bIns="0" rtlCol="0" anchor="t"/>
          <a:lstStyle/>
          <a:p>
            <a:pPr indent="0" marL="0">
              <a:buNone/>
            </a:pPr>
            <a:r>
              <a:rPr lang="en-US" sz="1500" dirty="0">
                <a:solidFill>
                  <a:schemeClr val="tx1"/>
                </a:solidFill>
              </a:rPr>
              <a:t>On-policy policy gradient. A clipped surrogate objective keeps each update small and stable. Discards data after each update.</a:t>
            </a:r>
            <a:endParaRPr lang="en-US" sz="1500" dirty="0"/>
          </a:p>
        </p:txBody>
      </p:sp>
      <p:sp>
        <p:nvSpPr>
          <p:cNvPr id="9" name="Text 7"/>
          <p:cNvSpPr txBox="1"/>
          <p:nvPr/>
        </p:nvSpPr>
        <p:spPr>
          <a:xfrm>
            <a:off x="822960" y="4251960"/>
            <a:ext cx="2971800" cy="320040"/>
          </a:xfrm>
          <a:prstGeom prst="rect">
            <a:avLst/>
          </a:prstGeom>
          <a:noFill/>
          <a:ln/>
        </p:spPr>
        <p:txBody>
          <a:bodyPr wrap="square" lIns="0" tIns="0" rIns="0" bIns="0" rtlCol="0" anchor="ctr"/>
          <a:lstStyle/>
          <a:p>
            <a:pPr indent="0" marL="0">
              <a:buNone/>
            </a:pPr>
            <a:r>
              <a:rPr lang="en-US" sz="1200" i="1" dirty="0">
                <a:solidFill>
                  <a:srgbClr val="5F6B7A"/>
                </a:solidFill>
              </a:rPr>
              <a:t>Schulman et al., 2017</a:t>
            </a:r>
            <a:endParaRPr lang="en-US" sz="1200" dirty="0"/>
          </a:p>
        </p:txBody>
      </p:sp>
      <p:sp>
        <p:nvSpPr>
          <p:cNvPr id="10" name="SAC"/>
          <p:cNvSpPr/>
          <p:nvPr/>
        </p:nvSpPr>
        <p:spPr>
          <a:xfrm>
            <a:off x="4297680" y="1691640"/>
            <a:ext cx="3474720" cy="3063240"/>
          </a:xfrm>
          <a:prstGeom prst="roundRect">
            <a:avLst>
              <a:gd name="adj" fmla="val 2388"/>
            </a:avLst>
          </a:prstGeom>
          <a:solidFill>
            <a:srgbClr val="EEF3F7"/>
          </a:solidFill>
          <a:ln w="12700">
            <a:solidFill>
              <a:srgbClr val="EEF3F7"/>
            </a:solidFill>
            <a:prstDash val="solid"/>
          </a:ln>
          <a:effectLst>
            <a:outerShdw sx="100000" sy="100000" kx="0" ky="0" algn="bl" rotWithShape="0" blurRad="76200" dist="25400" dir="5400000">
              <a:srgbClr val="000000">
                <a:alpha val="12000"/>
              </a:srgbClr>
            </a:outerShdw>
          </a:effectLst>
        </p:spPr>
      </p:sp>
      <p:sp>
        <p:nvSpPr>
          <p:cNvPr id="11" name="Badge S"/>
          <p:cNvSpPr/>
          <p:nvPr/>
        </p:nvSpPr>
        <p:spPr>
          <a:xfrm>
            <a:off x="4572000" y="1920240"/>
            <a:ext cx="566928" cy="566928"/>
          </a:xfrm>
          <a:prstGeom prst="ellipse">
            <a:avLst/>
          </a:prstGeom>
          <a:solidFill>
            <a:srgbClr val="D2802F"/>
          </a:solidFill>
          <a:ln w="12700">
            <a:solidFill>
              <a:srgbClr val="D2802F"/>
            </a:solidFill>
            <a:prstDash val="solid"/>
          </a:ln>
        </p:spPr>
      </p:sp>
      <p:sp>
        <p:nvSpPr>
          <p:cNvPr id="12" name="Text 10"/>
          <p:cNvSpPr txBox="1"/>
          <p:nvPr/>
        </p:nvSpPr>
        <p:spPr>
          <a:xfrm>
            <a:off x="4572000" y="192024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rPr>
              <a:t>S</a:t>
            </a:r>
            <a:endParaRPr lang="en-US" sz="1600" dirty="0"/>
          </a:p>
        </p:txBody>
      </p:sp>
      <p:sp>
        <p:nvSpPr>
          <p:cNvPr id="13" name="Text 11"/>
          <p:cNvSpPr txBox="1"/>
          <p:nvPr/>
        </p:nvSpPr>
        <p:spPr>
          <a:xfrm>
            <a:off x="5303520" y="1920240"/>
            <a:ext cx="2286000" cy="566928"/>
          </a:xfrm>
          <a:prstGeom prst="rect">
            <a:avLst/>
          </a:prstGeom>
          <a:noFill/>
          <a:ln/>
        </p:spPr>
        <p:txBody>
          <a:bodyPr wrap="square" lIns="0" tIns="0" rIns="0" bIns="0" rtlCol="0" anchor="ctr"/>
          <a:lstStyle/>
          <a:p>
            <a:pPr indent="0" marL="0">
              <a:buNone/>
            </a:pPr>
            <a:r>
              <a:rPr lang="en-US" sz="1900" b="1" dirty="0">
                <a:solidFill>
                  <a:srgbClr val="D2802F"/>
                </a:solidFill>
              </a:rPr>
              <a:t>SAC</a:t>
            </a:r>
            <a:endParaRPr lang="en-US" sz="1900" dirty="0"/>
          </a:p>
        </p:txBody>
      </p:sp>
      <p:sp>
        <p:nvSpPr>
          <p:cNvPr id="14" name="Text 12"/>
          <p:cNvSpPr txBox="1"/>
          <p:nvPr/>
        </p:nvSpPr>
        <p:spPr>
          <a:xfrm>
            <a:off x="4572000" y="2697480"/>
            <a:ext cx="2971800" cy="1508760"/>
          </a:xfrm>
          <a:prstGeom prst="rect">
            <a:avLst/>
          </a:prstGeom>
          <a:noFill/>
          <a:ln/>
        </p:spPr>
        <p:txBody>
          <a:bodyPr wrap="square" lIns="0" tIns="0" rIns="0" bIns="0" rtlCol="0" anchor="t"/>
          <a:lstStyle/>
          <a:p>
            <a:pPr indent="0" marL="0">
              <a:buNone/>
            </a:pPr>
            <a:r>
              <a:rPr lang="en-US" sz="1500" dirty="0">
                <a:solidFill>
                  <a:schemeClr val="tx1"/>
                </a:solidFill>
              </a:rPr>
              <a:t>Off-policy actor–critic. Learns from a replay buffer and maximizes return plus policy entropy, which aids exploration and sample efficiency.</a:t>
            </a:r>
            <a:endParaRPr lang="en-US" sz="1500" dirty="0"/>
          </a:p>
        </p:txBody>
      </p:sp>
      <p:sp>
        <p:nvSpPr>
          <p:cNvPr id="15" name="Text 13"/>
          <p:cNvSpPr txBox="1"/>
          <p:nvPr/>
        </p:nvSpPr>
        <p:spPr>
          <a:xfrm>
            <a:off x="4572000" y="4251960"/>
            <a:ext cx="2971800" cy="320040"/>
          </a:xfrm>
          <a:prstGeom prst="rect">
            <a:avLst/>
          </a:prstGeom>
          <a:noFill/>
          <a:ln/>
        </p:spPr>
        <p:txBody>
          <a:bodyPr wrap="square" lIns="0" tIns="0" rIns="0" bIns="0" rtlCol="0" anchor="ctr"/>
          <a:lstStyle/>
          <a:p>
            <a:pPr indent="0" marL="0">
              <a:buNone/>
            </a:pPr>
            <a:r>
              <a:rPr lang="en-US" sz="1200" i="1" dirty="0">
                <a:solidFill>
                  <a:srgbClr val="5F6B7A"/>
                </a:solidFill>
              </a:rPr>
              <a:t>Haarnoja et al., 2018</a:t>
            </a:r>
            <a:endParaRPr lang="en-US" sz="1200" dirty="0"/>
          </a:p>
        </p:txBody>
      </p:sp>
      <p:sp>
        <p:nvSpPr>
          <p:cNvPr id="16" name="Domain randomization"/>
          <p:cNvSpPr/>
          <p:nvPr/>
        </p:nvSpPr>
        <p:spPr>
          <a:xfrm>
            <a:off x="8046720" y="1691640"/>
            <a:ext cx="3474720" cy="3063240"/>
          </a:xfrm>
          <a:prstGeom prst="roundRect">
            <a:avLst>
              <a:gd name="adj" fmla="val 2388"/>
            </a:avLst>
          </a:prstGeom>
          <a:solidFill>
            <a:srgbClr val="EEF3F7"/>
          </a:solidFill>
          <a:ln w="12700">
            <a:solidFill>
              <a:srgbClr val="EEF3F7"/>
            </a:solidFill>
            <a:prstDash val="solid"/>
          </a:ln>
          <a:effectLst>
            <a:outerShdw sx="100000" sy="100000" kx="0" ky="0" algn="bl" rotWithShape="0" blurRad="76200" dist="25400" dir="5400000">
              <a:srgbClr val="000000">
                <a:alpha val="12000"/>
              </a:srgbClr>
            </a:outerShdw>
          </a:effectLst>
        </p:spPr>
      </p:sp>
      <p:sp>
        <p:nvSpPr>
          <p:cNvPr id="17" name="Badge D"/>
          <p:cNvSpPr/>
          <p:nvPr/>
        </p:nvSpPr>
        <p:spPr>
          <a:xfrm>
            <a:off x="8321040" y="1920240"/>
            <a:ext cx="566928" cy="566928"/>
          </a:xfrm>
          <a:prstGeom prst="ellipse">
            <a:avLst/>
          </a:prstGeom>
          <a:solidFill>
            <a:srgbClr val="1F8A8A"/>
          </a:solidFill>
          <a:ln w="12700">
            <a:solidFill>
              <a:srgbClr val="1F8A8A"/>
            </a:solidFill>
            <a:prstDash val="solid"/>
          </a:ln>
        </p:spPr>
      </p:sp>
      <p:sp>
        <p:nvSpPr>
          <p:cNvPr id="18" name="Text 16"/>
          <p:cNvSpPr txBox="1"/>
          <p:nvPr/>
        </p:nvSpPr>
        <p:spPr>
          <a:xfrm>
            <a:off x="8321040" y="192024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rPr>
              <a:t>D</a:t>
            </a:r>
            <a:endParaRPr lang="en-US" sz="1600" dirty="0"/>
          </a:p>
        </p:txBody>
      </p:sp>
      <p:sp>
        <p:nvSpPr>
          <p:cNvPr id="19" name="Text 17"/>
          <p:cNvSpPr txBox="1"/>
          <p:nvPr/>
        </p:nvSpPr>
        <p:spPr>
          <a:xfrm>
            <a:off x="9052560" y="1920240"/>
            <a:ext cx="2286000" cy="566928"/>
          </a:xfrm>
          <a:prstGeom prst="rect">
            <a:avLst/>
          </a:prstGeom>
          <a:noFill/>
          <a:ln/>
        </p:spPr>
        <p:txBody>
          <a:bodyPr wrap="square" lIns="0" tIns="0" rIns="0" bIns="0" rtlCol="0" anchor="ctr"/>
          <a:lstStyle/>
          <a:p>
            <a:pPr indent="0" marL="0">
              <a:buNone/>
            </a:pPr>
            <a:r>
              <a:rPr lang="en-US" sz="1900" b="1" dirty="0">
                <a:solidFill>
                  <a:srgbClr val="1F8A8A"/>
                </a:solidFill>
              </a:rPr>
              <a:t>Domain randomization</a:t>
            </a:r>
            <a:endParaRPr lang="en-US" sz="1900" dirty="0"/>
          </a:p>
        </p:txBody>
      </p:sp>
      <p:sp>
        <p:nvSpPr>
          <p:cNvPr id="20" name="Text 18"/>
          <p:cNvSpPr txBox="1"/>
          <p:nvPr/>
        </p:nvSpPr>
        <p:spPr>
          <a:xfrm>
            <a:off x="8321040" y="2697480"/>
            <a:ext cx="2971800" cy="1508760"/>
          </a:xfrm>
          <a:prstGeom prst="rect">
            <a:avLst/>
          </a:prstGeom>
          <a:noFill/>
          <a:ln/>
        </p:spPr>
        <p:txBody>
          <a:bodyPr wrap="square" lIns="0" tIns="0" rIns="0" bIns="0" rtlCol="0" anchor="t"/>
          <a:lstStyle/>
          <a:p>
            <a:pPr indent="0" marL="0">
              <a:buNone/>
            </a:pPr>
            <a:r>
              <a:rPr lang="en-US" sz="1500" dirty="0">
                <a:solidFill>
                  <a:schemeClr val="tx1"/>
                </a:solidFill>
              </a:rPr>
              <a:t>Resample physics during training so the policy must work across a range of dynamics. The policy never observes the sampled values.</a:t>
            </a:r>
            <a:endParaRPr lang="en-US" sz="1500" dirty="0"/>
          </a:p>
        </p:txBody>
      </p:sp>
      <p:sp>
        <p:nvSpPr>
          <p:cNvPr id="21" name="Text 19"/>
          <p:cNvSpPr txBox="1"/>
          <p:nvPr/>
        </p:nvSpPr>
        <p:spPr>
          <a:xfrm>
            <a:off x="8321040" y="4251960"/>
            <a:ext cx="2971800" cy="320040"/>
          </a:xfrm>
          <a:prstGeom prst="rect">
            <a:avLst/>
          </a:prstGeom>
          <a:noFill/>
          <a:ln/>
        </p:spPr>
        <p:txBody>
          <a:bodyPr wrap="square" lIns="0" tIns="0" rIns="0" bIns="0" rtlCol="0" anchor="ctr"/>
          <a:lstStyle/>
          <a:p>
            <a:pPr indent="0" marL="0">
              <a:buNone/>
            </a:pPr>
            <a:r>
              <a:rPr lang="en-US" sz="1200" i="1" dirty="0">
                <a:solidFill>
                  <a:srgbClr val="5F6B7A"/>
                </a:solidFill>
              </a:rPr>
              <a:t>Tobin et al., 2017; Peng et al., 2018</a:t>
            </a:r>
            <a:endParaRPr lang="en-US" sz="1200" dirty="0"/>
          </a:p>
        </p:txBody>
      </p:sp>
      <p:sp>
        <p:nvSpPr>
          <p:cNvPr id="22" name="Text 20"/>
          <p:cNvSpPr txBox="1"/>
          <p:nvPr/>
        </p:nvSpPr>
        <p:spPr>
          <a:xfrm>
            <a:off x="548640" y="5029200"/>
            <a:ext cx="11064240" cy="1097280"/>
          </a:xfrm>
          <a:prstGeom prst="rect">
            <a:avLst/>
          </a:prstGeom>
          <a:noFill/>
          <a:ln/>
        </p:spPr>
        <p:txBody>
          <a:bodyPr wrap="square" lIns="0" tIns="0" rIns="0" bIns="0" rtlCol="0" anchor="t"/>
          <a:lstStyle/>
          <a:p>
            <a:pPr indent="0" marL="0">
              <a:buNone/>
            </a:pPr>
            <a:r>
              <a:rPr lang="en-US" sz="1500" b="1" dirty="0">
                <a:solidFill>
                  <a:schemeClr val="tx1"/>
                </a:solidFill>
              </a:rPr>
              <a:t>Closest prior work: </a:t>
            </a:r>
            <a:pPr indent="0" marL="0">
              <a:buNone/>
            </a:pPr>
            <a:r>
              <a:rPr lang="en-US" sz="1500" dirty="0">
                <a:solidFill>
                  <a:schemeClr val="tx1"/>
                </a:solidFill>
              </a:rPr>
              <a:t>EPOpt trained Hopper on an ensemble of perturbed models and stayed robust to torso-mass changes where nominal policies failed (Rajeswaran et al., 2017). </a:t>
            </a:r>
            <a:pPr indent="0" marL="0">
              <a:buNone/>
            </a:pPr>
            <a:r>
              <a:rPr lang="en-US" sz="1500" b="1" dirty="0">
                <a:solidFill>
                  <a:schemeClr val="tx1"/>
                </a:solidFill>
              </a:rPr>
              <a:t>Evaluation caution: </a:t>
            </a:r>
            <a:pPr indent="0" marL="0">
              <a:buNone/>
            </a:pPr>
            <a:r>
              <a:rPr lang="en-US" sz="1500" dirty="0">
                <a:solidFill>
                  <a:schemeClr val="tx1"/>
                </a:solidFill>
              </a:rPr>
              <a:t>MuJoCo results vary widely across random seeds, so few-seed comparisons can mislead (Henderson et al., 2018).</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indent="0" marL="0">
              <a:buNone/>
            </a:pPr>
            <a:r>
              <a:rPr lang="en-US" sz="3400" b="1" dirty="0">
                <a:solidFill>
                  <a:srgbClr val="16263D"/>
                </a:solidFill>
                <a:latin typeface="Cambria" pitchFamily="34" charset="0"/>
                <a:ea typeface="Cambria" pitchFamily="34" charset="-122"/>
                <a:cs typeface="Cambria" pitchFamily="34" charset="-120"/>
              </a:rPr>
              <a:t>Hypotheses from Part 1</a:t>
            </a:r>
            <a:endParaRPr lang="en-US" sz="3400" dirty="0"/>
          </a:p>
        </p:txBody>
      </p:sp>
      <p:sp>
        <p:nvSpPr>
          <p:cNvPr id="3" name="Takeaway"/>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700" i="1" dirty="0">
                <a:solidFill>
                  <a:schemeClr val="accent1"/>
                </a:solidFill>
              </a:rPr>
              <a:t>Each prediction had a pre-specified test</a:t>
            </a:r>
            <a:endParaRPr lang="en-US" sz="1700" dirty="0"/>
          </a:p>
        </p:txBody>
      </p:sp>
      <p:sp>
        <p:nvSpPr>
          <p:cNvPr id="4" name="H1"/>
          <p:cNvSpPr/>
          <p:nvPr/>
        </p:nvSpPr>
        <p:spPr>
          <a:xfrm>
            <a:off x="548640" y="1691640"/>
            <a:ext cx="11064240" cy="1280160"/>
          </a:xfrm>
          <a:prstGeom prst="roundRect">
            <a:avLst>
              <a:gd name="adj" fmla="val 5714"/>
            </a:avLst>
          </a:prstGeom>
          <a:solidFill>
            <a:srgbClr val="EEF3F7"/>
          </a:solidFill>
          <a:ln w="12700">
            <a:solidFill>
              <a:srgbClr val="EEF3F7"/>
            </a:solidFill>
            <a:prstDash val="solid"/>
          </a:ln>
          <a:effectLst>
            <a:outerShdw sx="100000" sy="100000" kx="0" ky="0" algn="bl" rotWithShape="0" blurRad="76200" dist="25400" dir="5400000">
              <a:srgbClr val="000000">
                <a:alpha val="12000"/>
              </a:srgbClr>
            </a:outerShdw>
          </a:effectLst>
        </p:spPr>
      </p:sp>
      <p:sp>
        <p:nvSpPr>
          <p:cNvPr id="5" name="Badge H1"/>
          <p:cNvSpPr/>
          <p:nvPr/>
        </p:nvSpPr>
        <p:spPr>
          <a:xfrm>
            <a:off x="822960" y="2020824"/>
            <a:ext cx="621792" cy="621792"/>
          </a:xfrm>
          <a:prstGeom prst="ellipse">
            <a:avLst/>
          </a:prstGeom>
          <a:solidFill>
            <a:srgbClr val="2E5E8C"/>
          </a:solidFill>
          <a:ln w="12700">
            <a:solidFill>
              <a:srgbClr val="2E5E8C"/>
            </a:solidFill>
            <a:prstDash val="solid"/>
          </a:ln>
        </p:spPr>
      </p:sp>
      <p:sp>
        <p:nvSpPr>
          <p:cNvPr id="6" name="Text 4"/>
          <p:cNvSpPr txBox="1"/>
          <p:nvPr/>
        </p:nvSpPr>
        <p:spPr>
          <a:xfrm>
            <a:off x="822960" y="2020824"/>
            <a:ext cx="621792" cy="621792"/>
          </a:xfrm>
          <a:prstGeom prst="rect">
            <a:avLst/>
          </a:prstGeom>
          <a:noFill/>
          <a:ln/>
        </p:spPr>
        <p:txBody>
          <a:bodyPr wrap="square" lIns="0" tIns="0" rIns="0" bIns="0" rtlCol="0" anchor="ctr"/>
          <a:lstStyle/>
          <a:p>
            <a:pPr algn="ctr" indent="0" marL="0">
              <a:buNone/>
            </a:pPr>
            <a:r>
              <a:rPr lang="en-US" sz="1600" b="1" dirty="0">
                <a:solidFill>
                  <a:srgbClr val="FFFFFF"/>
                </a:solidFill>
              </a:rPr>
              <a:t>H1</a:t>
            </a:r>
            <a:endParaRPr lang="en-US" sz="1600" dirty="0"/>
          </a:p>
        </p:txBody>
      </p:sp>
      <p:sp>
        <p:nvSpPr>
          <p:cNvPr id="7" name="Text 5"/>
          <p:cNvSpPr txBox="1"/>
          <p:nvPr/>
        </p:nvSpPr>
        <p:spPr>
          <a:xfrm>
            <a:off x="1691640" y="1828800"/>
            <a:ext cx="4572000" cy="1005840"/>
          </a:xfrm>
          <a:prstGeom prst="rect">
            <a:avLst/>
          </a:prstGeom>
          <a:noFill/>
          <a:ln/>
        </p:spPr>
        <p:txBody>
          <a:bodyPr wrap="square" lIns="0" tIns="0" rIns="0" bIns="0" rtlCol="0" anchor="ctr"/>
          <a:lstStyle/>
          <a:p>
            <a:pPr indent="0" marL="0">
              <a:buNone/>
            </a:pPr>
            <a:r>
              <a:rPr lang="en-US" sz="1700" b="1" dirty="0">
                <a:solidFill>
                  <a:srgbClr val="2E5E8C"/>
                </a:solidFill>
              </a:rPr>
              <a:t>Sample efficiency</a:t>
            </a:r>
            <a:endParaRPr lang="en-US" sz="1700" dirty="0"/>
          </a:p>
          <a:p>
            <a:pPr indent="0" marL="0">
              <a:buNone/>
            </a:pPr>
            <a:r>
              <a:rPr lang="en-US" sz="1500" dirty="0">
                <a:solidFill>
                  <a:schemeClr val="tx1"/>
                </a:solidFill>
              </a:rPr>
              <a:t>Under nominal training, SAC learns faster than PPO.</a:t>
            </a:r>
            <a:endParaRPr lang="en-US" sz="1700" dirty="0"/>
          </a:p>
        </p:txBody>
      </p:sp>
      <p:sp>
        <p:nvSpPr>
          <p:cNvPr id="8" name="Text 6"/>
          <p:cNvSpPr txBox="1"/>
          <p:nvPr/>
        </p:nvSpPr>
        <p:spPr>
          <a:xfrm>
            <a:off x="6492240" y="1828800"/>
            <a:ext cx="4892040" cy="1005840"/>
          </a:xfrm>
          <a:prstGeom prst="rect">
            <a:avLst/>
          </a:prstGeom>
          <a:noFill/>
          <a:ln/>
        </p:spPr>
        <p:txBody>
          <a:bodyPr wrap="square" lIns="0" tIns="0" rIns="0" bIns="0" rtlCol="0" anchor="ctr"/>
          <a:lstStyle/>
          <a:p>
            <a:pPr indent="0" marL="0">
              <a:buNone/>
            </a:pPr>
            <a:r>
              <a:rPr lang="en-US" sz="1300" b="1" dirty="0">
                <a:solidFill>
                  <a:srgbClr val="5F6B7A"/>
                </a:solidFill>
              </a:rPr>
              <a:t>Test</a:t>
            </a:r>
            <a:endParaRPr lang="en-US" sz="1300" dirty="0"/>
          </a:p>
          <a:p>
            <a:pPr indent="0" marL="0">
              <a:buNone/>
            </a:pPr>
            <a:r>
              <a:rPr lang="en-US" sz="1500" dirty="0">
                <a:solidFill>
                  <a:schemeClr val="tx1"/>
                </a:solidFill>
              </a:rPr>
              <a:t>Larger learning-curve area; reaches return 1,500 in fewer steps</a:t>
            </a:r>
            <a:endParaRPr lang="en-US" sz="1300" dirty="0"/>
          </a:p>
        </p:txBody>
      </p:sp>
      <p:sp>
        <p:nvSpPr>
          <p:cNvPr id="9" name="H2"/>
          <p:cNvSpPr/>
          <p:nvPr/>
        </p:nvSpPr>
        <p:spPr>
          <a:xfrm>
            <a:off x="548640" y="3200400"/>
            <a:ext cx="11064240" cy="1280160"/>
          </a:xfrm>
          <a:prstGeom prst="roundRect">
            <a:avLst>
              <a:gd name="adj" fmla="val 5714"/>
            </a:avLst>
          </a:prstGeom>
          <a:solidFill>
            <a:srgbClr val="EEF3F7"/>
          </a:solidFill>
          <a:ln w="12700">
            <a:solidFill>
              <a:srgbClr val="EEF3F7"/>
            </a:solidFill>
            <a:prstDash val="solid"/>
          </a:ln>
          <a:effectLst>
            <a:outerShdw sx="100000" sy="100000" kx="0" ky="0" algn="bl" rotWithShape="0" blurRad="76200" dist="25400" dir="5400000">
              <a:srgbClr val="000000">
                <a:alpha val="12000"/>
              </a:srgbClr>
            </a:outerShdw>
          </a:effectLst>
        </p:spPr>
      </p:sp>
      <p:sp>
        <p:nvSpPr>
          <p:cNvPr id="10" name="Badge H2"/>
          <p:cNvSpPr/>
          <p:nvPr/>
        </p:nvSpPr>
        <p:spPr>
          <a:xfrm>
            <a:off x="822960" y="3529584"/>
            <a:ext cx="621792" cy="621792"/>
          </a:xfrm>
          <a:prstGeom prst="ellipse">
            <a:avLst/>
          </a:prstGeom>
          <a:solidFill>
            <a:srgbClr val="D2802F"/>
          </a:solidFill>
          <a:ln w="12700">
            <a:solidFill>
              <a:srgbClr val="D2802F"/>
            </a:solidFill>
            <a:prstDash val="solid"/>
          </a:ln>
        </p:spPr>
      </p:sp>
      <p:sp>
        <p:nvSpPr>
          <p:cNvPr id="11" name="Text 9"/>
          <p:cNvSpPr txBox="1"/>
          <p:nvPr/>
        </p:nvSpPr>
        <p:spPr>
          <a:xfrm>
            <a:off x="822960" y="3529584"/>
            <a:ext cx="621792" cy="621792"/>
          </a:xfrm>
          <a:prstGeom prst="rect">
            <a:avLst/>
          </a:prstGeom>
          <a:noFill/>
          <a:ln/>
        </p:spPr>
        <p:txBody>
          <a:bodyPr wrap="square" lIns="0" tIns="0" rIns="0" bIns="0" rtlCol="0" anchor="ctr"/>
          <a:lstStyle/>
          <a:p>
            <a:pPr algn="ctr" indent="0" marL="0">
              <a:buNone/>
            </a:pPr>
            <a:r>
              <a:rPr lang="en-US" sz="1600" b="1" dirty="0">
                <a:solidFill>
                  <a:srgbClr val="FFFFFF"/>
                </a:solidFill>
              </a:rPr>
              <a:t>H2</a:t>
            </a:r>
            <a:endParaRPr lang="en-US" sz="1600" dirty="0"/>
          </a:p>
        </p:txBody>
      </p:sp>
      <p:sp>
        <p:nvSpPr>
          <p:cNvPr id="12" name="Text 10"/>
          <p:cNvSpPr txBox="1"/>
          <p:nvPr/>
        </p:nvSpPr>
        <p:spPr>
          <a:xfrm>
            <a:off x="1691640" y="3337560"/>
            <a:ext cx="4572000" cy="1005840"/>
          </a:xfrm>
          <a:prstGeom prst="rect">
            <a:avLst/>
          </a:prstGeom>
          <a:noFill/>
          <a:ln/>
        </p:spPr>
        <p:txBody>
          <a:bodyPr wrap="square" lIns="0" tIns="0" rIns="0" bIns="0" rtlCol="0" anchor="ctr"/>
          <a:lstStyle/>
          <a:p>
            <a:pPr indent="0" marL="0">
              <a:buNone/>
            </a:pPr>
            <a:r>
              <a:rPr lang="en-US" sz="1700" b="1" dirty="0">
                <a:solidFill>
                  <a:srgbClr val="D2802F"/>
                </a:solidFill>
              </a:rPr>
              <a:t>Brittleness</a:t>
            </a:r>
            <a:endParaRPr lang="en-US" sz="1700" dirty="0"/>
          </a:p>
          <a:p>
            <a:pPr indent="0" marL="0">
              <a:buNone/>
            </a:pPr>
            <a:r>
              <a:rPr lang="en-US" sz="1500" dirty="0">
                <a:solidFill>
                  <a:schemeClr val="tx1"/>
                </a:solidFill>
              </a:rPr>
              <a:t>Nominally trained policies are brittle out of distribution.</a:t>
            </a:r>
            <a:endParaRPr lang="en-US" sz="1700" dirty="0"/>
          </a:p>
        </p:txBody>
      </p:sp>
      <p:sp>
        <p:nvSpPr>
          <p:cNvPr id="13" name="Text 11"/>
          <p:cNvSpPr txBox="1"/>
          <p:nvPr/>
        </p:nvSpPr>
        <p:spPr>
          <a:xfrm>
            <a:off x="6492240" y="3337560"/>
            <a:ext cx="4892040" cy="1005840"/>
          </a:xfrm>
          <a:prstGeom prst="rect">
            <a:avLst/>
          </a:prstGeom>
          <a:noFill/>
          <a:ln/>
        </p:spPr>
        <p:txBody>
          <a:bodyPr wrap="square" lIns="0" tIns="0" rIns="0" bIns="0" rtlCol="0" anchor="ctr"/>
          <a:lstStyle/>
          <a:p>
            <a:pPr indent="0" marL="0">
              <a:buNone/>
            </a:pPr>
            <a:r>
              <a:rPr lang="en-US" sz="1300" b="1" dirty="0">
                <a:solidFill>
                  <a:srgbClr val="5F6B7A"/>
                </a:solidFill>
              </a:rPr>
              <a:t>Test</a:t>
            </a:r>
            <a:endParaRPr lang="en-US" sz="1300" dirty="0"/>
          </a:p>
          <a:p>
            <a:pPr indent="0" marL="0">
              <a:buNone/>
            </a:pPr>
            <a:r>
              <a:rPr lang="en-US" sz="1500" dirty="0">
                <a:solidFill>
                  <a:schemeClr val="tx1"/>
                </a:solidFill>
              </a:rPr>
              <a:t>Robustness ratio (OOD return ÷ nominal return) below 0.70</a:t>
            </a:r>
            <a:endParaRPr lang="en-US" sz="1300" dirty="0"/>
          </a:p>
        </p:txBody>
      </p:sp>
      <p:sp>
        <p:nvSpPr>
          <p:cNvPr id="14" name="H3"/>
          <p:cNvSpPr/>
          <p:nvPr/>
        </p:nvSpPr>
        <p:spPr>
          <a:xfrm>
            <a:off x="548640" y="4709160"/>
            <a:ext cx="11064240" cy="1280160"/>
          </a:xfrm>
          <a:prstGeom prst="roundRect">
            <a:avLst>
              <a:gd name="adj" fmla="val 5714"/>
            </a:avLst>
          </a:prstGeom>
          <a:solidFill>
            <a:srgbClr val="EEF3F7"/>
          </a:solidFill>
          <a:ln w="12700">
            <a:solidFill>
              <a:srgbClr val="EEF3F7"/>
            </a:solidFill>
            <a:prstDash val="solid"/>
          </a:ln>
          <a:effectLst>
            <a:outerShdw sx="100000" sy="100000" kx="0" ky="0" algn="bl" rotWithShape="0" blurRad="76200" dist="25400" dir="5400000">
              <a:srgbClr val="000000">
                <a:alpha val="12000"/>
              </a:srgbClr>
            </a:outerShdw>
          </a:effectLst>
        </p:spPr>
      </p:sp>
      <p:sp>
        <p:nvSpPr>
          <p:cNvPr id="15" name="Badge H3"/>
          <p:cNvSpPr/>
          <p:nvPr/>
        </p:nvSpPr>
        <p:spPr>
          <a:xfrm>
            <a:off x="822960" y="5038344"/>
            <a:ext cx="621792" cy="621792"/>
          </a:xfrm>
          <a:prstGeom prst="ellipse">
            <a:avLst/>
          </a:prstGeom>
          <a:solidFill>
            <a:srgbClr val="1F8A8A"/>
          </a:solidFill>
          <a:ln w="12700">
            <a:solidFill>
              <a:srgbClr val="1F8A8A"/>
            </a:solidFill>
            <a:prstDash val="solid"/>
          </a:ln>
        </p:spPr>
      </p:sp>
      <p:sp>
        <p:nvSpPr>
          <p:cNvPr id="16" name="Text 14"/>
          <p:cNvSpPr txBox="1"/>
          <p:nvPr/>
        </p:nvSpPr>
        <p:spPr>
          <a:xfrm>
            <a:off x="822960" y="5038344"/>
            <a:ext cx="621792" cy="621792"/>
          </a:xfrm>
          <a:prstGeom prst="rect">
            <a:avLst/>
          </a:prstGeom>
          <a:noFill/>
          <a:ln/>
        </p:spPr>
        <p:txBody>
          <a:bodyPr wrap="square" lIns="0" tIns="0" rIns="0" bIns="0" rtlCol="0" anchor="ctr"/>
          <a:lstStyle/>
          <a:p>
            <a:pPr algn="ctr" indent="0" marL="0">
              <a:buNone/>
            </a:pPr>
            <a:r>
              <a:rPr lang="en-US" sz="1600" b="1" dirty="0">
                <a:solidFill>
                  <a:srgbClr val="FFFFFF"/>
                </a:solidFill>
              </a:rPr>
              <a:t>H3</a:t>
            </a:r>
            <a:endParaRPr lang="en-US" sz="1600" dirty="0"/>
          </a:p>
        </p:txBody>
      </p:sp>
      <p:sp>
        <p:nvSpPr>
          <p:cNvPr id="17" name="Text 15"/>
          <p:cNvSpPr txBox="1"/>
          <p:nvPr/>
        </p:nvSpPr>
        <p:spPr>
          <a:xfrm>
            <a:off x="1691640" y="4846320"/>
            <a:ext cx="4572000" cy="1005840"/>
          </a:xfrm>
          <a:prstGeom prst="rect">
            <a:avLst/>
          </a:prstGeom>
          <a:noFill/>
          <a:ln/>
        </p:spPr>
        <p:txBody>
          <a:bodyPr wrap="square" lIns="0" tIns="0" rIns="0" bIns="0" rtlCol="0" anchor="ctr"/>
          <a:lstStyle/>
          <a:p>
            <a:pPr indent="0" marL="0">
              <a:buNone/>
            </a:pPr>
            <a:r>
              <a:rPr lang="en-US" sz="1700" b="1" dirty="0">
                <a:solidFill>
                  <a:srgbClr val="1F8A8A"/>
                </a:solidFill>
              </a:rPr>
              <a:t>Randomization</a:t>
            </a:r>
            <a:endParaRPr lang="en-US" sz="1700" dirty="0"/>
          </a:p>
          <a:p>
            <a:pPr indent="0" marL="0">
              <a:buNone/>
            </a:pPr>
            <a:r>
              <a:rPr lang="en-US" sz="1500" dirty="0">
                <a:solidFill>
                  <a:schemeClr val="tx1"/>
                </a:solidFill>
              </a:rPr>
              <a:t>Domain randomization improves robustness at a small cost.</a:t>
            </a:r>
            <a:endParaRPr lang="en-US" sz="1700" dirty="0"/>
          </a:p>
        </p:txBody>
      </p:sp>
      <p:sp>
        <p:nvSpPr>
          <p:cNvPr id="18" name="Text 16"/>
          <p:cNvSpPr txBox="1"/>
          <p:nvPr/>
        </p:nvSpPr>
        <p:spPr>
          <a:xfrm>
            <a:off x="6492240" y="4846320"/>
            <a:ext cx="4892040" cy="1005840"/>
          </a:xfrm>
          <a:prstGeom prst="rect">
            <a:avLst/>
          </a:prstGeom>
          <a:noFill/>
          <a:ln/>
        </p:spPr>
        <p:txBody>
          <a:bodyPr wrap="square" lIns="0" tIns="0" rIns="0" bIns="0" rtlCol="0" anchor="ctr"/>
          <a:lstStyle/>
          <a:p>
            <a:pPr indent="0" marL="0">
              <a:buNone/>
            </a:pPr>
            <a:r>
              <a:rPr lang="en-US" sz="1300" b="1" dirty="0">
                <a:solidFill>
                  <a:srgbClr val="5F6B7A"/>
                </a:solidFill>
              </a:rPr>
              <a:t>Test</a:t>
            </a:r>
            <a:endParaRPr lang="en-US" sz="1300" dirty="0"/>
          </a:p>
          <a:p>
            <a:pPr indent="0" marL="0">
              <a:buNone/>
            </a:pPr>
            <a:r>
              <a:rPr lang="en-US" sz="1500" dirty="0">
                <a:solidFill>
                  <a:schemeClr val="tx1"/>
                </a:solidFill>
              </a:rPr>
              <a:t>Higher robustness ratio and OOD success; under 10% nominal-return loss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indent="0" marL="0">
              <a:buNone/>
            </a:pPr>
            <a:r>
              <a:rPr lang="en-US" sz="3400" b="1" dirty="0">
                <a:solidFill>
                  <a:srgbClr val="16263D"/>
                </a:solidFill>
                <a:latin typeface="Cambria" pitchFamily="34" charset="0"/>
                <a:ea typeface="Cambria" pitchFamily="34" charset="-122"/>
                <a:cs typeface="Cambria" pitchFamily="34" charset="-120"/>
              </a:rPr>
              <a:t>Experimental design</a:t>
            </a:r>
            <a:endParaRPr lang="en-US" sz="3400" dirty="0"/>
          </a:p>
        </p:txBody>
      </p:sp>
      <p:sp>
        <p:nvSpPr>
          <p:cNvPr id="3" name="Takeaway"/>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700" i="1" dirty="0">
                <a:solidFill>
                  <a:schemeClr val="accent1"/>
                </a:solidFill>
              </a:rPr>
              <a:t>A 2 × 2 design, trained on equal budgets and tested on a shared 5 × 5 physics grid</a:t>
            </a:r>
            <a:endParaRPr lang="en-US" sz="1700" dirty="0"/>
          </a:p>
        </p:txBody>
      </p:sp>
      <p:sp>
        <p:nvSpPr>
          <p:cNvPr id="4" name="PPO Nominal"/>
          <p:cNvSpPr/>
          <p:nvPr/>
        </p:nvSpPr>
        <p:spPr>
          <a:xfrm>
            <a:off x="548640" y="1691640"/>
            <a:ext cx="2286000" cy="960120"/>
          </a:xfrm>
          <a:prstGeom prst="roundRect">
            <a:avLst>
              <a:gd name="adj" fmla="val 7619"/>
            </a:avLst>
          </a:prstGeom>
          <a:solidFill>
            <a:srgbClr val="2E5E8C"/>
          </a:solidFill>
          <a:ln w="12700">
            <a:solidFill>
              <a:srgbClr val="2E5E8C"/>
            </a:solidFill>
            <a:prstDash val="solid"/>
          </a:ln>
        </p:spPr>
      </p:sp>
      <p:sp>
        <p:nvSpPr>
          <p:cNvPr id="5" name="Text 3"/>
          <p:cNvSpPr txBox="1"/>
          <p:nvPr/>
        </p:nvSpPr>
        <p:spPr>
          <a:xfrm>
            <a:off x="548640" y="1691640"/>
            <a:ext cx="2286000" cy="960120"/>
          </a:xfrm>
          <a:prstGeom prst="rect">
            <a:avLst/>
          </a:prstGeom>
          <a:noFill/>
          <a:ln/>
        </p:spPr>
        <p:txBody>
          <a:bodyPr wrap="square" lIns="0" tIns="0" rIns="0" bIns="0" rtlCol="0" anchor="ctr"/>
          <a:lstStyle/>
          <a:p>
            <a:pPr algn="ctr" indent="0" marL="0">
              <a:buNone/>
            </a:pPr>
            <a:r>
              <a:rPr lang="en-US" sz="1800" b="1" dirty="0">
                <a:solidFill>
                  <a:srgbClr val="FFFFFF"/>
                </a:solidFill>
              </a:rPr>
              <a:t>PPO</a:t>
            </a:r>
            <a:endParaRPr lang="en-US" sz="1800" dirty="0"/>
          </a:p>
          <a:p>
            <a:pPr algn="ctr" indent="0" marL="0">
              <a:buNone/>
            </a:pPr>
            <a:r>
              <a:rPr lang="en-US" sz="1500" dirty="0">
                <a:solidFill>
                  <a:srgbClr val="FFFFFF"/>
                </a:solidFill>
              </a:rPr>
              <a:t>Nominal</a:t>
            </a:r>
            <a:endParaRPr lang="en-US" sz="1800" dirty="0"/>
          </a:p>
        </p:txBody>
      </p:sp>
      <p:sp>
        <p:nvSpPr>
          <p:cNvPr id="6" name="PPO Randomized"/>
          <p:cNvSpPr/>
          <p:nvPr/>
        </p:nvSpPr>
        <p:spPr>
          <a:xfrm>
            <a:off x="3063240" y="1691640"/>
            <a:ext cx="2286000" cy="960120"/>
          </a:xfrm>
          <a:prstGeom prst="roundRect">
            <a:avLst>
              <a:gd name="adj" fmla="val 7619"/>
            </a:avLst>
          </a:prstGeom>
          <a:solidFill>
            <a:srgbClr val="2E5E8C"/>
          </a:solidFill>
          <a:ln w="12700">
            <a:solidFill>
              <a:srgbClr val="2E5E8C"/>
            </a:solidFill>
            <a:prstDash val="solid"/>
          </a:ln>
        </p:spPr>
      </p:sp>
      <p:sp>
        <p:nvSpPr>
          <p:cNvPr id="7" name="Text 5"/>
          <p:cNvSpPr txBox="1"/>
          <p:nvPr/>
        </p:nvSpPr>
        <p:spPr>
          <a:xfrm>
            <a:off x="3063240" y="1691640"/>
            <a:ext cx="2286000" cy="960120"/>
          </a:xfrm>
          <a:prstGeom prst="rect">
            <a:avLst/>
          </a:prstGeom>
          <a:noFill/>
          <a:ln/>
        </p:spPr>
        <p:txBody>
          <a:bodyPr wrap="square" lIns="0" tIns="0" rIns="0" bIns="0" rtlCol="0" anchor="ctr"/>
          <a:lstStyle/>
          <a:p>
            <a:pPr algn="ctr" indent="0" marL="0">
              <a:buNone/>
            </a:pPr>
            <a:r>
              <a:rPr lang="en-US" sz="1800" b="1" dirty="0">
                <a:solidFill>
                  <a:srgbClr val="FFFFFF"/>
                </a:solidFill>
              </a:rPr>
              <a:t>PPO</a:t>
            </a:r>
            <a:endParaRPr lang="en-US" sz="1800" dirty="0"/>
          </a:p>
          <a:p>
            <a:pPr algn="ctr" indent="0" marL="0">
              <a:buNone/>
            </a:pPr>
            <a:r>
              <a:rPr lang="en-US" sz="1500" dirty="0">
                <a:solidFill>
                  <a:srgbClr val="FFFFFF"/>
                </a:solidFill>
              </a:rPr>
              <a:t>Randomized</a:t>
            </a:r>
            <a:endParaRPr lang="en-US" sz="1800" dirty="0"/>
          </a:p>
        </p:txBody>
      </p:sp>
      <p:sp>
        <p:nvSpPr>
          <p:cNvPr id="8" name="SAC Nominal"/>
          <p:cNvSpPr/>
          <p:nvPr/>
        </p:nvSpPr>
        <p:spPr>
          <a:xfrm>
            <a:off x="548640" y="2834640"/>
            <a:ext cx="2286000" cy="960120"/>
          </a:xfrm>
          <a:prstGeom prst="roundRect">
            <a:avLst>
              <a:gd name="adj" fmla="val 7619"/>
            </a:avLst>
          </a:prstGeom>
          <a:solidFill>
            <a:srgbClr val="D2802F"/>
          </a:solidFill>
          <a:ln w="12700">
            <a:solidFill>
              <a:srgbClr val="D2802F"/>
            </a:solidFill>
            <a:prstDash val="solid"/>
          </a:ln>
        </p:spPr>
      </p:sp>
      <p:sp>
        <p:nvSpPr>
          <p:cNvPr id="9" name="Text 7"/>
          <p:cNvSpPr txBox="1"/>
          <p:nvPr/>
        </p:nvSpPr>
        <p:spPr>
          <a:xfrm>
            <a:off x="548640" y="2834640"/>
            <a:ext cx="2286000" cy="960120"/>
          </a:xfrm>
          <a:prstGeom prst="rect">
            <a:avLst/>
          </a:prstGeom>
          <a:noFill/>
          <a:ln/>
        </p:spPr>
        <p:txBody>
          <a:bodyPr wrap="square" lIns="0" tIns="0" rIns="0" bIns="0" rtlCol="0" anchor="ctr"/>
          <a:lstStyle/>
          <a:p>
            <a:pPr algn="ctr" indent="0" marL="0">
              <a:buNone/>
            </a:pPr>
            <a:r>
              <a:rPr lang="en-US" sz="1800" b="1" dirty="0">
                <a:solidFill>
                  <a:srgbClr val="FFFFFF"/>
                </a:solidFill>
              </a:rPr>
              <a:t>SAC</a:t>
            </a:r>
            <a:endParaRPr lang="en-US" sz="1800" dirty="0"/>
          </a:p>
          <a:p>
            <a:pPr algn="ctr" indent="0" marL="0">
              <a:buNone/>
            </a:pPr>
            <a:r>
              <a:rPr lang="en-US" sz="1500" dirty="0">
                <a:solidFill>
                  <a:srgbClr val="FFFFFF"/>
                </a:solidFill>
              </a:rPr>
              <a:t>Nominal</a:t>
            </a:r>
            <a:endParaRPr lang="en-US" sz="1800" dirty="0"/>
          </a:p>
        </p:txBody>
      </p:sp>
      <p:sp>
        <p:nvSpPr>
          <p:cNvPr id="10" name="SAC Randomized"/>
          <p:cNvSpPr/>
          <p:nvPr/>
        </p:nvSpPr>
        <p:spPr>
          <a:xfrm>
            <a:off x="3063240" y="2834640"/>
            <a:ext cx="2286000" cy="960120"/>
          </a:xfrm>
          <a:prstGeom prst="roundRect">
            <a:avLst>
              <a:gd name="adj" fmla="val 7619"/>
            </a:avLst>
          </a:prstGeom>
          <a:solidFill>
            <a:srgbClr val="D2802F"/>
          </a:solidFill>
          <a:ln w="12700">
            <a:solidFill>
              <a:srgbClr val="D2802F"/>
            </a:solidFill>
            <a:prstDash val="solid"/>
          </a:ln>
        </p:spPr>
      </p:sp>
      <p:sp>
        <p:nvSpPr>
          <p:cNvPr id="11" name="Text 9"/>
          <p:cNvSpPr txBox="1"/>
          <p:nvPr/>
        </p:nvSpPr>
        <p:spPr>
          <a:xfrm>
            <a:off x="3063240" y="2834640"/>
            <a:ext cx="2286000" cy="960120"/>
          </a:xfrm>
          <a:prstGeom prst="rect">
            <a:avLst/>
          </a:prstGeom>
          <a:noFill/>
          <a:ln/>
        </p:spPr>
        <p:txBody>
          <a:bodyPr wrap="square" lIns="0" tIns="0" rIns="0" bIns="0" rtlCol="0" anchor="ctr"/>
          <a:lstStyle/>
          <a:p>
            <a:pPr algn="ctr" indent="0" marL="0">
              <a:buNone/>
            </a:pPr>
            <a:r>
              <a:rPr lang="en-US" sz="1800" b="1" dirty="0">
                <a:solidFill>
                  <a:srgbClr val="FFFFFF"/>
                </a:solidFill>
              </a:rPr>
              <a:t>SAC</a:t>
            </a:r>
            <a:endParaRPr lang="en-US" sz="1800" dirty="0"/>
          </a:p>
          <a:p>
            <a:pPr algn="ctr" indent="0" marL="0">
              <a:buNone/>
            </a:pPr>
            <a:r>
              <a:rPr lang="en-US" sz="1500" dirty="0">
                <a:solidFill>
                  <a:srgbClr val="FFFFFF"/>
                </a:solidFill>
              </a:rPr>
              <a:t>Randomized</a:t>
            </a:r>
            <a:endParaRPr lang="en-US" sz="1800" dirty="0"/>
          </a:p>
        </p:txBody>
      </p:sp>
      <p:sp>
        <p:nvSpPr>
          <p:cNvPr id="12" name="Text 10"/>
          <p:cNvSpPr txBox="1"/>
          <p:nvPr/>
        </p:nvSpPr>
        <p:spPr>
          <a:xfrm>
            <a:off x="548640" y="4023360"/>
            <a:ext cx="5303520" cy="21945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Gymnasium Hopper-v5 (MuJoCo), Stable-Baselines3</a:t>
            </a:r>
            <a:endParaRPr lang="en-US" sz="1500" dirty="0"/>
          </a:p>
          <a:p>
            <a:pPr marL="342900" indent="-342900">
              <a:spcAft>
                <a:spcPts val="600"/>
              </a:spcAft>
              <a:buSzPct val="100000"/>
              <a:buChar char="•"/>
            </a:pPr>
            <a:r>
              <a:rPr lang="en-US" sz="1500" dirty="0">
                <a:solidFill>
                  <a:schemeClr val="tx1"/>
                </a:solidFill>
              </a:rPr>
              <a:t>500,000 environment steps per run; 3 seeds per condition = 12 agents</a:t>
            </a:r>
            <a:endParaRPr lang="en-US" sz="1500" dirty="0"/>
          </a:p>
          <a:p>
            <a:pPr marL="342900" indent="-342900">
              <a:spcAft>
                <a:spcPts val="600"/>
              </a:spcAft>
              <a:buSzPct val="100000"/>
              <a:buChar char="•"/>
            </a:pPr>
            <a:r>
              <a:rPr lang="en-US" sz="1500" dirty="0">
                <a:solidFill>
                  <a:schemeClr val="tx1"/>
                </a:solidFill>
              </a:rPr>
              <a:t>Randomized training: mass × U[0.8, 1.2], friction × U[0.7, 1.3], resampled each episode</a:t>
            </a:r>
            <a:endParaRPr lang="en-US" sz="1500" dirty="0"/>
          </a:p>
          <a:p>
            <a:pPr marL="342900" indent="-342900">
              <a:spcAft>
                <a:spcPts val="600"/>
              </a:spcAft>
              <a:buSzPct val="100000"/>
              <a:buChar char="•"/>
            </a:pPr>
            <a:r>
              <a:rPr lang="en-US" sz="1500" dirty="0">
                <a:solidFill>
                  <a:schemeClr val="tx1"/>
                </a:solidFill>
              </a:rPr>
              <a:t>Validation every 25,000 steps: 10 deterministic nominal episodes</a:t>
            </a:r>
            <a:endParaRPr lang="en-US" sz="1500" dirty="0"/>
          </a:p>
          <a:p>
            <a:pPr marL="342900" indent="-342900">
              <a:spcAft>
                <a:spcPts val="600"/>
              </a:spcAft>
              <a:buSzPct val="100000"/>
              <a:buChar char="•"/>
            </a:pPr>
            <a:r>
              <a:rPr lang="en-US" sz="1500" dirty="0">
                <a:solidFill>
                  <a:schemeClr val="tx1"/>
                </a:solidFill>
              </a:rPr>
              <a:t>Test: final policy, 10 deterministic episodes per grid cell</a:t>
            </a:r>
            <a:endParaRPr lang="en-US" sz="1500" dirty="0"/>
          </a:p>
        </p:txBody>
      </p:sp>
      <p:sp>
        <p:nvSpPr>
          <p:cNvPr id="13" name="Text 11"/>
          <p:cNvSpPr txBox="1"/>
          <p:nvPr/>
        </p:nvSpPr>
        <p:spPr>
          <a:xfrm rot="16200000">
            <a:off x="6263640" y="2971800"/>
            <a:ext cx="914400" cy="822960"/>
          </a:xfrm>
          <a:prstGeom prst="rect">
            <a:avLst/>
          </a:prstGeom>
          <a:noFill/>
          <a:ln/>
        </p:spPr>
        <p:txBody>
          <a:bodyPr wrap="square" lIns="0" tIns="0" rIns="0" bIns="0" rtlCol="0" anchor="ctr"/>
          <a:lstStyle/>
          <a:p>
            <a:pPr algn="ctr" indent="0" marL="0">
              <a:buNone/>
            </a:pPr>
            <a:r>
              <a:rPr lang="en-US" sz="1300" b="1" dirty="0">
                <a:solidFill>
                  <a:srgbClr val="5F6B7A"/>
                </a:solidFill>
              </a:rPr>
              <a:t>Mass scale</a:t>
            </a:r>
            <a:endParaRPr lang="en-US" sz="1300" dirty="0"/>
          </a:p>
        </p:txBody>
      </p:sp>
      <p:sp>
        <p:nvSpPr>
          <p:cNvPr id="14" name="Text 12"/>
          <p:cNvSpPr txBox="1"/>
          <p:nvPr/>
        </p:nvSpPr>
        <p:spPr>
          <a:xfrm>
            <a:off x="6903720" y="1691640"/>
            <a:ext cx="457200" cy="676656"/>
          </a:xfrm>
          <a:prstGeom prst="rect">
            <a:avLst/>
          </a:prstGeom>
          <a:noFill/>
          <a:ln/>
        </p:spPr>
        <p:txBody>
          <a:bodyPr wrap="square" lIns="0" tIns="0" rIns="0" bIns="0" rtlCol="0" anchor="ctr"/>
          <a:lstStyle/>
          <a:p>
            <a:pPr algn="r" indent="0" marL="0">
              <a:buNone/>
            </a:pPr>
            <a:r>
              <a:rPr lang="en-US" sz="1200" dirty="0">
                <a:solidFill>
                  <a:srgbClr val="5F6B7A"/>
                </a:solidFill>
              </a:rPr>
              <a:t>1.4</a:t>
            </a:r>
            <a:endParaRPr lang="en-US" sz="1200" dirty="0"/>
          </a:p>
        </p:txBody>
      </p:sp>
      <p:sp>
        <p:nvSpPr>
          <p:cNvPr id="15" name="Cell m1.4 f0.5"/>
          <p:cNvSpPr/>
          <p:nvPr/>
        </p:nvSpPr>
        <p:spPr>
          <a:xfrm>
            <a:off x="7406640" y="1691640"/>
            <a:ext cx="621792" cy="621792"/>
          </a:xfrm>
          <a:prstGeom prst="rect">
            <a:avLst/>
          </a:prstGeom>
          <a:solidFill>
            <a:srgbClr val="E6EAEE"/>
          </a:solidFill>
          <a:ln w="12700">
            <a:solidFill>
              <a:srgbClr val="E6EAEE"/>
            </a:solidFill>
            <a:prstDash val="solid"/>
          </a:ln>
        </p:spPr>
      </p:sp>
      <p:sp>
        <p:nvSpPr>
          <p:cNvPr id="16" name="Cell m1.4 f0.75"/>
          <p:cNvSpPr/>
          <p:nvPr/>
        </p:nvSpPr>
        <p:spPr>
          <a:xfrm>
            <a:off x="8083296" y="1691640"/>
            <a:ext cx="621792" cy="621792"/>
          </a:xfrm>
          <a:prstGeom prst="rect">
            <a:avLst/>
          </a:prstGeom>
          <a:solidFill>
            <a:srgbClr val="E6EAEE"/>
          </a:solidFill>
          <a:ln w="12700">
            <a:solidFill>
              <a:srgbClr val="E6EAEE"/>
            </a:solidFill>
            <a:prstDash val="solid"/>
          </a:ln>
        </p:spPr>
      </p:sp>
      <p:sp>
        <p:nvSpPr>
          <p:cNvPr id="17" name="Cell m1.4 f1.0"/>
          <p:cNvSpPr/>
          <p:nvPr/>
        </p:nvSpPr>
        <p:spPr>
          <a:xfrm>
            <a:off x="8759952" y="1691640"/>
            <a:ext cx="621792" cy="621792"/>
          </a:xfrm>
          <a:prstGeom prst="rect">
            <a:avLst/>
          </a:prstGeom>
          <a:solidFill>
            <a:srgbClr val="E6EAEE"/>
          </a:solidFill>
          <a:ln w="12700">
            <a:solidFill>
              <a:srgbClr val="E6EAEE"/>
            </a:solidFill>
            <a:prstDash val="solid"/>
          </a:ln>
        </p:spPr>
      </p:sp>
      <p:sp>
        <p:nvSpPr>
          <p:cNvPr id="18" name="Cell m1.4 f1.25"/>
          <p:cNvSpPr/>
          <p:nvPr/>
        </p:nvSpPr>
        <p:spPr>
          <a:xfrm>
            <a:off x="9436608" y="1691640"/>
            <a:ext cx="621792" cy="621792"/>
          </a:xfrm>
          <a:prstGeom prst="rect">
            <a:avLst/>
          </a:prstGeom>
          <a:solidFill>
            <a:srgbClr val="E6EAEE"/>
          </a:solidFill>
          <a:ln w="12700">
            <a:solidFill>
              <a:srgbClr val="E6EAEE"/>
            </a:solidFill>
            <a:prstDash val="solid"/>
          </a:ln>
        </p:spPr>
      </p:sp>
      <p:sp>
        <p:nvSpPr>
          <p:cNvPr id="19" name="Cell m1.4 f1.5"/>
          <p:cNvSpPr/>
          <p:nvPr/>
        </p:nvSpPr>
        <p:spPr>
          <a:xfrm>
            <a:off x="10113264" y="1691640"/>
            <a:ext cx="621792" cy="621792"/>
          </a:xfrm>
          <a:prstGeom prst="rect">
            <a:avLst/>
          </a:prstGeom>
          <a:solidFill>
            <a:srgbClr val="E6EAEE"/>
          </a:solidFill>
          <a:ln w="12700">
            <a:solidFill>
              <a:srgbClr val="E6EAEE"/>
            </a:solidFill>
            <a:prstDash val="solid"/>
          </a:ln>
        </p:spPr>
      </p:sp>
      <p:sp>
        <p:nvSpPr>
          <p:cNvPr id="20" name="Text 18"/>
          <p:cNvSpPr txBox="1"/>
          <p:nvPr/>
        </p:nvSpPr>
        <p:spPr>
          <a:xfrm>
            <a:off x="6903720" y="2368296"/>
            <a:ext cx="457200" cy="676656"/>
          </a:xfrm>
          <a:prstGeom prst="rect">
            <a:avLst/>
          </a:prstGeom>
          <a:noFill/>
          <a:ln/>
        </p:spPr>
        <p:txBody>
          <a:bodyPr wrap="square" lIns="0" tIns="0" rIns="0" bIns="0" rtlCol="0" anchor="ctr"/>
          <a:lstStyle/>
          <a:p>
            <a:pPr algn="r" indent="0" marL="0">
              <a:buNone/>
            </a:pPr>
            <a:r>
              <a:rPr lang="en-US" sz="1200" dirty="0">
                <a:solidFill>
                  <a:srgbClr val="5F6B7A"/>
                </a:solidFill>
              </a:rPr>
              <a:t>1.2</a:t>
            </a:r>
            <a:endParaRPr lang="en-US" sz="1200" dirty="0"/>
          </a:p>
        </p:txBody>
      </p:sp>
      <p:sp>
        <p:nvSpPr>
          <p:cNvPr id="21" name="Cell m1.2 f0.5"/>
          <p:cNvSpPr/>
          <p:nvPr/>
        </p:nvSpPr>
        <p:spPr>
          <a:xfrm>
            <a:off x="7406640" y="2368296"/>
            <a:ext cx="621792" cy="621792"/>
          </a:xfrm>
          <a:prstGeom prst="rect">
            <a:avLst/>
          </a:prstGeom>
          <a:solidFill>
            <a:srgbClr val="E6EAEE"/>
          </a:solidFill>
          <a:ln w="12700">
            <a:solidFill>
              <a:srgbClr val="E6EAEE"/>
            </a:solidFill>
            <a:prstDash val="solid"/>
          </a:ln>
        </p:spPr>
      </p:sp>
      <p:sp>
        <p:nvSpPr>
          <p:cNvPr id="22" name="Cell m1.2 f0.75"/>
          <p:cNvSpPr/>
          <p:nvPr/>
        </p:nvSpPr>
        <p:spPr>
          <a:xfrm>
            <a:off x="8083296" y="2368296"/>
            <a:ext cx="621792" cy="621792"/>
          </a:xfrm>
          <a:prstGeom prst="rect">
            <a:avLst/>
          </a:prstGeom>
          <a:solidFill>
            <a:srgbClr val="9FD3CF"/>
          </a:solidFill>
          <a:ln w="12700">
            <a:solidFill>
              <a:srgbClr val="9FD3CF"/>
            </a:solidFill>
            <a:prstDash val="solid"/>
          </a:ln>
        </p:spPr>
      </p:sp>
      <p:sp>
        <p:nvSpPr>
          <p:cNvPr id="23" name="Cell m1.2 f1.0"/>
          <p:cNvSpPr/>
          <p:nvPr/>
        </p:nvSpPr>
        <p:spPr>
          <a:xfrm>
            <a:off x="8759952" y="2368296"/>
            <a:ext cx="621792" cy="621792"/>
          </a:xfrm>
          <a:prstGeom prst="rect">
            <a:avLst/>
          </a:prstGeom>
          <a:solidFill>
            <a:srgbClr val="9FD3CF"/>
          </a:solidFill>
          <a:ln w="12700">
            <a:solidFill>
              <a:srgbClr val="9FD3CF"/>
            </a:solidFill>
            <a:prstDash val="solid"/>
          </a:ln>
        </p:spPr>
      </p:sp>
      <p:sp>
        <p:nvSpPr>
          <p:cNvPr id="24" name="Cell m1.2 f1.25"/>
          <p:cNvSpPr/>
          <p:nvPr/>
        </p:nvSpPr>
        <p:spPr>
          <a:xfrm>
            <a:off x="9436608" y="2368296"/>
            <a:ext cx="621792" cy="621792"/>
          </a:xfrm>
          <a:prstGeom prst="rect">
            <a:avLst/>
          </a:prstGeom>
          <a:solidFill>
            <a:srgbClr val="9FD3CF"/>
          </a:solidFill>
          <a:ln w="12700">
            <a:solidFill>
              <a:srgbClr val="9FD3CF"/>
            </a:solidFill>
            <a:prstDash val="solid"/>
          </a:ln>
        </p:spPr>
      </p:sp>
      <p:sp>
        <p:nvSpPr>
          <p:cNvPr id="25" name="Cell m1.2 f1.5"/>
          <p:cNvSpPr/>
          <p:nvPr/>
        </p:nvSpPr>
        <p:spPr>
          <a:xfrm>
            <a:off x="10113264" y="2368296"/>
            <a:ext cx="621792" cy="621792"/>
          </a:xfrm>
          <a:prstGeom prst="rect">
            <a:avLst/>
          </a:prstGeom>
          <a:solidFill>
            <a:srgbClr val="E6EAEE"/>
          </a:solidFill>
          <a:ln w="12700">
            <a:solidFill>
              <a:srgbClr val="E6EAEE"/>
            </a:solidFill>
            <a:prstDash val="solid"/>
          </a:ln>
        </p:spPr>
      </p:sp>
      <p:sp>
        <p:nvSpPr>
          <p:cNvPr id="26" name="Text 24"/>
          <p:cNvSpPr txBox="1"/>
          <p:nvPr/>
        </p:nvSpPr>
        <p:spPr>
          <a:xfrm>
            <a:off x="6903720" y="3044952"/>
            <a:ext cx="457200" cy="676656"/>
          </a:xfrm>
          <a:prstGeom prst="rect">
            <a:avLst/>
          </a:prstGeom>
          <a:noFill/>
          <a:ln/>
        </p:spPr>
        <p:txBody>
          <a:bodyPr wrap="square" lIns="0" tIns="0" rIns="0" bIns="0" rtlCol="0" anchor="ctr"/>
          <a:lstStyle/>
          <a:p>
            <a:pPr algn="r" indent="0" marL="0">
              <a:buNone/>
            </a:pPr>
            <a:r>
              <a:rPr lang="en-US" sz="1200" dirty="0">
                <a:solidFill>
                  <a:srgbClr val="5F6B7A"/>
                </a:solidFill>
              </a:rPr>
              <a:t>1.0</a:t>
            </a:r>
            <a:endParaRPr lang="en-US" sz="1200" dirty="0"/>
          </a:p>
        </p:txBody>
      </p:sp>
      <p:sp>
        <p:nvSpPr>
          <p:cNvPr id="27" name="Cell m1.0 f0.5"/>
          <p:cNvSpPr/>
          <p:nvPr/>
        </p:nvSpPr>
        <p:spPr>
          <a:xfrm>
            <a:off x="7406640" y="3044952"/>
            <a:ext cx="621792" cy="621792"/>
          </a:xfrm>
          <a:prstGeom prst="rect">
            <a:avLst/>
          </a:prstGeom>
          <a:solidFill>
            <a:srgbClr val="E6EAEE"/>
          </a:solidFill>
          <a:ln w="12700">
            <a:solidFill>
              <a:srgbClr val="E6EAEE"/>
            </a:solidFill>
            <a:prstDash val="solid"/>
          </a:ln>
        </p:spPr>
      </p:sp>
      <p:sp>
        <p:nvSpPr>
          <p:cNvPr id="28" name="Cell m1.0 f0.75"/>
          <p:cNvSpPr/>
          <p:nvPr/>
        </p:nvSpPr>
        <p:spPr>
          <a:xfrm>
            <a:off x="8083296" y="3044952"/>
            <a:ext cx="621792" cy="621792"/>
          </a:xfrm>
          <a:prstGeom prst="rect">
            <a:avLst/>
          </a:prstGeom>
          <a:solidFill>
            <a:srgbClr val="9FD3CF"/>
          </a:solidFill>
          <a:ln w="12700">
            <a:solidFill>
              <a:srgbClr val="9FD3CF"/>
            </a:solidFill>
            <a:prstDash val="solid"/>
          </a:ln>
        </p:spPr>
      </p:sp>
      <p:sp>
        <p:nvSpPr>
          <p:cNvPr id="29" name="Cell m1.0 f1.0"/>
          <p:cNvSpPr/>
          <p:nvPr/>
        </p:nvSpPr>
        <p:spPr>
          <a:xfrm>
            <a:off x="8759952" y="3044952"/>
            <a:ext cx="621792" cy="621792"/>
          </a:xfrm>
          <a:prstGeom prst="rect">
            <a:avLst/>
          </a:prstGeom>
          <a:solidFill>
            <a:srgbClr val="16263D"/>
          </a:solidFill>
          <a:ln w="12700">
            <a:solidFill>
              <a:srgbClr val="16263D"/>
            </a:solidFill>
            <a:prstDash val="solid"/>
          </a:ln>
        </p:spPr>
      </p:sp>
      <p:sp>
        <p:nvSpPr>
          <p:cNvPr id="30" name="Cell m1.0 f1.25"/>
          <p:cNvSpPr/>
          <p:nvPr/>
        </p:nvSpPr>
        <p:spPr>
          <a:xfrm>
            <a:off x="9436608" y="3044952"/>
            <a:ext cx="621792" cy="621792"/>
          </a:xfrm>
          <a:prstGeom prst="rect">
            <a:avLst/>
          </a:prstGeom>
          <a:solidFill>
            <a:srgbClr val="9FD3CF"/>
          </a:solidFill>
          <a:ln w="12700">
            <a:solidFill>
              <a:srgbClr val="9FD3CF"/>
            </a:solidFill>
            <a:prstDash val="solid"/>
          </a:ln>
        </p:spPr>
      </p:sp>
      <p:sp>
        <p:nvSpPr>
          <p:cNvPr id="31" name="Cell m1.0 f1.5"/>
          <p:cNvSpPr/>
          <p:nvPr/>
        </p:nvSpPr>
        <p:spPr>
          <a:xfrm>
            <a:off x="10113264" y="3044952"/>
            <a:ext cx="621792" cy="621792"/>
          </a:xfrm>
          <a:prstGeom prst="rect">
            <a:avLst/>
          </a:prstGeom>
          <a:solidFill>
            <a:srgbClr val="E6EAEE"/>
          </a:solidFill>
          <a:ln w="12700">
            <a:solidFill>
              <a:srgbClr val="E6EAEE"/>
            </a:solidFill>
            <a:prstDash val="solid"/>
          </a:ln>
        </p:spPr>
      </p:sp>
      <p:sp>
        <p:nvSpPr>
          <p:cNvPr id="32" name="Text 30"/>
          <p:cNvSpPr txBox="1"/>
          <p:nvPr/>
        </p:nvSpPr>
        <p:spPr>
          <a:xfrm>
            <a:off x="6903720" y="3721608"/>
            <a:ext cx="457200" cy="676656"/>
          </a:xfrm>
          <a:prstGeom prst="rect">
            <a:avLst/>
          </a:prstGeom>
          <a:noFill/>
          <a:ln/>
        </p:spPr>
        <p:txBody>
          <a:bodyPr wrap="square" lIns="0" tIns="0" rIns="0" bIns="0" rtlCol="0" anchor="ctr"/>
          <a:lstStyle/>
          <a:p>
            <a:pPr algn="r" indent="0" marL="0">
              <a:buNone/>
            </a:pPr>
            <a:r>
              <a:rPr lang="en-US" sz="1200" dirty="0">
                <a:solidFill>
                  <a:srgbClr val="5F6B7A"/>
                </a:solidFill>
              </a:rPr>
              <a:t>0.8</a:t>
            </a:r>
            <a:endParaRPr lang="en-US" sz="1200" dirty="0"/>
          </a:p>
        </p:txBody>
      </p:sp>
      <p:sp>
        <p:nvSpPr>
          <p:cNvPr id="33" name="Cell m0.8 f0.5"/>
          <p:cNvSpPr/>
          <p:nvPr/>
        </p:nvSpPr>
        <p:spPr>
          <a:xfrm>
            <a:off x="7406640" y="3721608"/>
            <a:ext cx="621792" cy="621792"/>
          </a:xfrm>
          <a:prstGeom prst="rect">
            <a:avLst/>
          </a:prstGeom>
          <a:solidFill>
            <a:srgbClr val="E6EAEE"/>
          </a:solidFill>
          <a:ln w="12700">
            <a:solidFill>
              <a:srgbClr val="E6EAEE"/>
            </a:solidFill>
            <a:prstDash val="solid"/>
          </a:ln>
        </p:spPr>
      </p:sp>
      <p:sp>
        <p:nvSpPr>
          <p:cNvPr id="34" name="Cell m0.8 f0.75"/>
          <p:cNvSpPr/>
          <p:nvPr/>
        </p:nvSpPr>
        <p:spPr>
          <a:xfrm>
            <a:off x="8083296" y="3721608"/>
            <a:ext cx="621792" cy="621792"/>
          </a:xfrm>
          <a:prstGeom prst="rect">
            <a:avLst/>
          </a:prstGeom>
          <a:solidFill>
            <a:srgbClr val="9FD3CF"/>
          </a:solidFill>
          <a:ln w="12700">
            <a:solidFill>
              <a:srgbClr val="9FD3CF"/>
            </a:solidFill>
            <a:prstDash val="solid"/>
          </a:ln>
        </p:spPr>
      </p:sp>
      <p:sp>
        <p:nvSpPr>
          <p:cNvPr id="35" name="Cell m0.8 f1.0"/>
          <p:cNvSpPr/>
          <p:nvPr/>
        </p:nvSpPr>
        <p:spPr>
          <a:xfrm>
            <a:off x="8759952" y="3721608"/>
            <a:ext cx="621792" cy="621792"/>
          </a:xfrm>
          <a:prstGeom prst="rect">
            <a:avLst/>
          </a:prstGeom>
          <a:solidFill>
            <a:srgbClr val="9FD3CF"/>
          </a:solidFill>
          <a:ln w="12700">
            <a:solidFill>
              <a:srgbClr val="9FD3CF"/>
            </a:solidFill>
            <a:prstDash val="solid"/>
          </a:ln>
        </p:spPr>
      </p:sp>
      <p:sp>
        <p:nvSpPr>
          <p:cNvPr id="36" name="Cell m0.8 f1.25"/>
          <p:cNvSpPr/>
          <p:nvPr/>
        </p:nvSpPr>
        <p:spPr>
          <a:xfrm>
            <a:off x="9436608" y="3721608"/>
            <a:ext cx="621792" cy="621792"/>
          </a:xfrm>
          <a:prstGeom prst="rect">
            <a:avLst/>
          </a:prstGeom>
          <a:solidFill>
            <a:srgbClr val="9FD3CF"/>
          </a:solidFill>
          <a:ln w="12700">
            <a:solidFill>
              <a:srgbClr val="9FD3CF"/>
            </a:solidFill>
            <a:prstDash val="solid"/>
          </a:ln>
        </p:spPr>
      </p:sp>
      <p:sp>
        <p:nvSpPr>
          <p:cNvPr id="37" name="Cell m0.8 f1.5"/>
          <p:cNvSpPr/>
          <p:nvPr/>
        </p:nvSpPr>
        <p:spPr>
          <a:xfrm>
            <a:off x="10113264" y="3721608"/>
            <a:ext cx="621792" cy="621792"/>
          </a:xfrm>
          <a:prstGeom prst="rect">
            <a:avLst/>
          </a:prstGeom>
          <a:solidFill>
            <a:srgbClr val="E6EAEE"/>
          </a:solidFill>
          <a:ln w="12700">
            <a:solidFill>
              <a:srgbClr val="E6EAEE"/>
            </a:solidFill>
            <a:prstDash val="solid"/>
          </a:ln>
        </p:spPr>
      </p:sp>
      <p:sp>
        <p:nvSpPr>
          <p:cNvPr id="38" name="Text 36"/>
          <p:cNvSpPr txBox="1"/>
          <p:nvPr/>
        </p:nvSpPr>
        <p:spPr>
          <a:xfrm>
            <a:off x="6903720" y="4398264"/>
            <a:ext cx="457200" cy="676656"/>
          </a:xfrm>
          <a:prstGeom prst="rect">
            <a:avLst/>
          </a:prstGeom>
          <a:noFill/>
          <a:ln/>
        </p:spPr>
        <p:txBody>
          <a:bodyPr wrap="square" lIns="0" tIns="0" rIns="0" bIns="0" rtlCol="0" anchor="ctr"/>
          <a:lstStyle/>
          <a:p>
            <a:pPr algn="r" indent="0" marL="0">
              <a:buNone/>
            </a:pPr>
            <a:r>
              <a:rPr lang="en-US" sz="1200" dirty="0">
                <a:solidFill>
                  <a:srgbClr val="5F6B7A"/>
                </a:solidFill>
              </a:rPr>
              <a:t>0.6</a:t>
            </a:r>
            <a:endParaRPr lang="en-US" sz="1200" dirty="0"/>
          </a:p>
        </p:txBody>
      </p:sp>
      <p:sp>
        <p:nvSpPr>
          <p:cNvPr id="39" name="Cell m0.6 f0.5"/>
          <p:cNvSpPr/>
          <p:nvPr/>
        </p:nvSpPr>
        <p:spPr>
          <a:xfrm>
            <a:off x="7406640" y="4398264"/>
            <a:ext cx="621792" cy="621792"/>
          </a:xfrm>
          <a:prstGeom prst="rect">
            <a:avLst/>
          </a:prstGeom>
          <a:solidFill>
            <a:srgbClr val="E6EAEE"/>
          </a:solidFill>
          <a:ln w="12700">
            <a:solidFill>
              <a:srgbClr val="E6EAEE"/>
            </a:solidFill>
            <a:prstDash val="solid"/>
          </a:ln>
        </p:spPr>
      </p:sp>
      <p:sp>
        <p:nvSpPr>
          <p:cNvPr id="40" name="Cell m0.6 f0.75"/>
          <p:cNvSpPr/>
          <p:nvPr/>
        </p:nvSpPr>
        <p:spPr>
          <a:xfrm>
            <a:off x="8083296" y="4398264"/>
            <a:ext cx="621792" cy="621792"/>
          </a:xfrm>
          <a:prstGeom prst="rect">
            <a:avLst/>
          </a:prstGeom>
          <a:solidFill>
            <a:srgbClr val="E6EAEE"/>
          </a:solidFill>
          <a:ln w="12700">
            <a:solidFill>
              <a:srgbClr val="E6EAEE"/>
            </a:solidFill>
            <a:prstDash val="solid"/>
          </a:ln>
        </p:spPr>
      </p:sp>
      <p:sp>
        <p:nvSpPr>
          <p:cNvPr id="41" name="Cell m0.6 f1.0"/>
          <p:cNvSpPr/>
          <p:nvPr/>
        </p:nvSpPr>
        <p:spPr>
          <a:xfrm>
            <a:off x="8759952" y="4398264"/>
            <a:ext cx="621792" cy="621792"/>
          </a:xfrm>
          <a:prstGeom prst="rect">
            <a:avLst/>
          </a:prstGeom>
          <a:solidFill>
            <a:srgbClr val="E6EAEE"/>
          </a:solidFill>
          <a:ln w="12700">
            <a:solidFill>
              <a:srgbClr val="E6EAEE"/>
            </a:solidFill>
            <a:prstDash val="solid"/>
          </a:ln>
        </p:spPr>
      </p:sp>
      <p:sp>
        <p:nvSpPr>
          <p:cNvPr id="42" name="Cell m0.6 f1.25"/>
          <p:cNvSpPr/>
          <p:nvPr/>
        </p:nvSpPr>
        <p:spPr>
          <a:xfrm>
            <a:off x="9436608" y="4398264"/>
            <a:ext cx="621792" cy="621792"/>
          </a:xfrm>
          <a:prstGeom prst="rect">
            <a:avLst/>
          </a:prstGeom>
          <a:solidFill>
            <a:srgbClr val="E6EAEE"/>
          </a:solidFill>
          <a:ln w="12700">
            <a:solidFill>
              <a:srgbClr val="E6EAEE"/>
            </a:solidFill>
            <a:prstDash val="solid"/>
          </a:ln>
        </p:spPr>
      </p:sp>
      <p:sp>
        <p:nvSpPr>
          <p:cNvPr id="43" name="Cell m0.6 f1.5"/>
          <p:cNvSpPr/>
          <p:nvPr/>
        </p:nvSpPr>
        <p:spPr>
          <a:xfrm>
            <a:off x="10113264" y="4398264"/>
            <a:ext cx="621792" cy="621792"/>
          </a:xfrm>
          <a:prstGeom prst="rect">
            <a:avLst/>
          </a:prstGeom>
          <a:solidFill>
            <a:srgbClr val="E6EAEE"/>
          </a:solidFill>
          <a:ln w="12700">
            <a:solidFill>
              <a:srgbClr val="E6EAEE"/>
            </a:solidFill>
            <a:prstDash val="solid"/>
          </a:ln>
        </p:spPr>
      </p:sp>
      <p:sp>
        <p:nvSpPr>
          <p:cNvPr id="44" name="Text 42"/>
          <p:cNvSpPr txBox="1"/>
          <p:nvPr/>
        </p:nvSpPr>
        <p:spPr>
          <a:xfrm>
            <a:off x="7406640" y="5074920"/>
            <a:ext cx="621792" cy="274320"/>
          </a:xfrm>
          <a:prstGeom prst="rect">
            <a:avLst/>
          </a:prstGeom>
          <a:noFill/>
          <a:ln/>
        </p:spPr>
        <p:txBody>
          <a:bodyPr wrap="square" lIns="0" tIns="0" rIns="0" bIns="0" rtlCol="0" anchor="ctr"/>
          <a:lstStyle/>
          <a:p>
            <a:pPr algn="ctr" indent="0" marL="0">
              <a:buNone/>
            </a:pPr>
            <a:r>
              <a:rPr lang="en-US" sz="1200" dirty="0">
                <a:solidFill>
                  <a:srgbClr val="5F6B7A"/>
                </a:solidFill>
              </a:rPr>
              <a:t>0.5</a:t>
            </a:r>
            <a:endParaRPr lang="en-US" sz="1200" dirty="0"/>
          </a:p>
        </p:txBody>
      </p:sp>
      <p:sp>
        <p:nvSpPr>
          <p:cNvPr id="45" name="Text 43"/>
          <p:cNvSpPr txBox="1"/>
          <p:nvPr/>
        </p:nvSpPr>
        <p:spPr>
          <a:xfrm>
            <a:off x="8083296" y="5074920"/>
            <a:ext cx="621792" cy="274320"/>
          </a:xfrm>
          <a:prstGeom prst="rect">
            <a:avLst/>
          </a:prstGeom>
          <a:noFill/>
          <a:ln/>
        </p:spPr>
        <p:txBody>
          <a:bodyPr wrap="square" lIns="0" tIns="0" rIns="0" bIns="0" rtlCol="0" anchor="ctr"/>
          <a:lstStyle/>
          <a:p>
            <a:pPr algn="ctr" indent="0" marL="0">
              <a:buNone/>
            </a:pPr>
            <a:r>
              <a:rPr lang="en-US" sz="1200" dirty="0">
                <a:solidFill>
                  <a:srgbClr val="5F6B7A"/>
                </a:solidFill>
              </a:rPr>
              <a:t>0.75</a:t>
            </a:r>
            <a:endParaRPr lang="en-US" sz="1200" dirty="0"/>
          </a:p>
        </p:txBody>
      </p:sp>
      <p:sp>
        <p:nvSpPr>
          <p:cNvPr id="46" name="Text 44"/>
          <p:cNvSpPr txBox="1"/>
          <p:nvPr/>
        </p:nvSpPr>
        <p:spPr>
          <a:xfrm>
            <a:off x="8759952" y="5074920"/>
            <a:ext cx="621792" cy="274320"/>
          </a:xfrm>
          <a:prstGeom prst="rect">
            <a:avLst/>
          </a:prstGeom>
          <a:noFill/>
          <a:ln/>
        </p:spPr>
        <p:txBody>
          <a:bodyPr wrap="square" lIns="0" tIns="0" rIns="0" bIns="0" rtlCol="0" anchor="ctr"/>
          <a:lstStyle/>
          <a:p>
            <a:pPr algn="ctr" indent="0" marL="0">
              <a:buNone/>
            </a:pPr>
            <a:r>
              <a:rPr lang="en-US" sz="1200" dirty="0">
                <a:solidFill>
                  <a:srgbClr val="5F6B7A"/>
                </a:solidFill>
              </a:rPr>
              <a:t>1.0</a:t>
            </a:r>
            <a:endParaRPr lang="en-US" sz="1200" dirty="0"/>
          </a:p>
        </p:txBody>
      </p:sp>
      <p:sp>
        <p:nvSpPr>
          <p:cNvPr id="47" name="Text 45"/>
          <p:cNvSpPr txBox="1"/>
          <p:nvPr/>
        </p:nvSpPr>
        <p:spPr>
          <a:xfrm>
            <a:off x="9436608" y="5074920"/>
            <a:ext cx="621792" cy="274320"/>
          </a:xfrm>
          <a:prstGeom prst="rect">
            <a:avLst/>
          </a:prstGeom>
          <a:noFill/>
          <a:ln/>
        </p:spPr>
        <p:txBody>
          <a:bodyPr wrap="square" lIns="0" tIns="0" rIns="0" bIns="0" rtlCol="0" anchor="ctr"/>
          <a:lstStyle/>
          <a:p>
            <a:pPr algn="ctr" indent="0" marL="0">
              <a:buNone/>
            </a:pPr>
            <a:r>
              <a:rPr lang="en-US" sz="1200" dirty="0">
                <a:solidFill>
                  <a:srgbClr val="5F6B7A"/>
                </a:solidFill>
              </a:rPr>
              <a:t>1.25</a:t>
            </a:r>
            <a:endParaRPr lang="en-US" sz="1200" dirty="0"/>
          </a:p>
        </p:txBody>
      </p:sp>
      <p:sp>
        <p:nvSpPr>
          <p:cNvPr id="48" name="Text 46"/>
          <p:cNvSpPr txBox="1"/>
          <p:nvPr/>
        </p:nvSpPr>
        <p:spPr>
          <a:xfrm>
            <a:off x="10113264" y="5074920"/>
            <a:ext cx="621792" cy="274320"/>
          </a:xfrm>
          <a:prstGeom prst="rect">
            <a:avLst/>
          </a:prstGeom>
          <a:noFill/>
          <a:ln/>
        </p:spPr>
        <p:txBody>
          <a:bodyPr wrap="square" lIns="0" tIns="0" rIns="0" bIns="0" rtlCol="0" anchor="ctr"/>
          <a:lstStyle/>
          <a:p>
            <a:pPr algn="ctr" indent="0" marL="0">
              <a:buNone/>
            </a:pPr>
            <a:r>
              <a:rPr lang="en-US" sz="1200" dirty="0">
                <a:solidFill>
                  <a:srgbClr val="5F6B7A"/>
                </a:solidFill>
              </a:rPr>
              <a:t>1.5</a:t>
            </a:r>
            <a:endParaRPr lang="en-US" sz="1200" dirty="0"/>
          </a:p>
        </p:txBody>
      </p:sp>
      <p:sp>
        <p:nvSpPr>
          <p:cNvPr id="49" name="Text 47"/>
          <p:cNvSpPr txBox="1"/>
          <p:nvPr/>
        </p:nvSpPr>
        <p:spPr>
          <a:xfrm>
            <a:off x="7406640" y="5349240"/>
            <a:ext cx="3383280" cy="274320"/>
          </a:xfrm>
          <a:prstGeom prst="rect">
            <a:avLst/>
          </a:prstGeom>
          <a:noFill/>
          <a:ln/>
        </p:spPr>
        <p:txBody>
          <a:bodyPr wrap="square" lIns="0" tIns="0" rIns="0" bIns="0" rtlCol="0" anchor="ctr"/>
          <a:lstStyle/>
          <a:p>
            <a:pPr algn="ctr" indent="0" marL="0">
              <a:buNone/>
            </a:pPr>
            <a:r>
              <a:rPr lang="en-US" sz="1300" b="1" dirty="0">
                <a:solidFill>
                  <a:srgbClr val="5F6B7A"/>
                </a:solidFill>
              </a:rPr>
              <a:t>Friction scale</a:t>
            </a:r>
            <a:endParaRPr lang="en-US" sz="1300" dirty="0"/>
          </a:p>
        </p:txBody>
      </p:sp>
      <p:sp>
        <p:nvSpPr>
          <p:cNvPr id="50" name="Legend Nominal"/>
          <p:cNvSpPr/>
          <p:nvPr/>
        </p:nvSpPr>
        <p:spPr>
          <a:xfrm>
            <a:off x="6309360" y="5852160"/>
            <a:ext cx="274320" cy="274320"/>
          </a:xfrm>
          <a:prstGeom prst="rect">
            <a:avLst/>
          </a:prstGeom>
          <a:solidFill>
            <a:srgbClr val="16263D"/>
          </a:solidFill>
          <a:ln w="12700">
            <a:solidFill>
              <a:srgbClr val="16263D"/>
            </a:solidFill>
            <a:prstDash val="solid"/>
          </a:ln>
        </p:spPr>
      </p:sp>
      <p:sp>
        <p:nvSpPr>
          <p:cNvPr id="51" name="Text 49"/>
          <p:cNvSpPr txBox="1"/>
          <p:nvPr/>
        </p:nvSpPr>
        <p:spPr>
          <a:xfrm>
            <a:off x="6675120" y="5806440"/>
            <a:ext cx="868680" cy="365760"/>
          </a:xfrm>
          <a:prstGeom prst="rect">
            <a:avLst/>
          </a:prstGeom>
          <a:noFill/>
          <a:ln/>
        </p:spPr>
        <p:txBody>
          <a:bodyPr wrap="square" lIns="0" tIns="0" rIns="0" bIns="0" rtlCol="0" anchor="ctr"/>
          <a:lstStyle/>
          <a:p>
            <a:pPr indent="0" marL="0">
              <a:buNone/>
            </a:pPr>
            <a:r>
              <a:rPr lang="en-US" sz="1200" dirty="0">
                <a:solidFill>
                  <a:schemeClr val="tx1"/>
                </a:solidFill>
              </a:rPr>
              <a:t>Nominal</a:t>
            </a:r>
            <a:endParaRPr lang="en-US" sz="1200" dirty="0"/>
          </a:p>
        </p:txBody>
      </p:sp>
      <p:sp>
        <p:nvSpPr>
          <p:cNvPr id="52" name="Legend In-distribution (9)"/>
          <p:cNvSpPr/>
          <p:nvPr/>
        </p:nvSpPr>
        <p:spPr>
          <a:xfrm>
            <a:off x="7589520" y="5852160"/>
            <a:ext cx="274320" cy="274320"/>
          </a:xfrm>
          <a:prstGeom prst="rect">
            <a:avLst/>
          </a:prstGeom>
          <a:solidFill>
            <a:srgbClr val="9FD3CF"/>
          </a:solidFill>
          <a:ln w="12700">
            <a:solidFill>
              <a:srgbClr val="9FD3CF"/>
            </a:solidFill>
            <a:prstDash val="solid"/>
          </a:ln>
        </p:spPr>
      </p:sp>
      <p:sp>
        <p:nvSpPr>
          <p:cNvPr id="53" name="Text 51"/>
          <p:cNvSpPr txBox="1"/>
          <p:nvPr/>
        </p:nvSpPr>
        <p:spPr>
          <a:xfrm>
            <a:off x="7955280" y="5806440"/>
            <a:ext cx="1508760" cy="365760"/>
          </a:xfrm>
          <a:prstGeom prst="rect">
            <a:avLst/>
          </a:prstGeom>
          <a:noFill/>
          <a:ln/>
        </p:spPr>
        <p:txBody>
          <a:bodyPr wrap="square" lIns="0" tIns="0" rIns="0" bIns="0" rtlCol="0" anchor="ctr"/>
          <a:lstStyle/>
          <a:p>
            <a:pPr indent="0" marL="0">
              <a:buNone/>
            </a:pPr>
            <a:r>
              <a:rPr lang="en-US" sz="1200" dirty="0">
                <a:solidFill>
                  <a:schemeClr val="tx1"/>
                </a:solidFill>
              </a:rPr>
              <a:t>In-distribution (9)</a:t>
            </a:r>
            <a:endParaRPr lang="en-US" sz="1200" dirty="0"/>
          </a:p>
        </p:txBody>
      </p:sp>
      <p:sp>
        <p:nvSpPr>
          <p:cNvPr id="54" name="Legend Out-of-distribution (16)"/>
          <p:cNvSpPr/>
          <p:nvPr/>
        </p:nvSpPr>
        <p:spPr>
          <a:xfrm>
            <a:off x="9509760" y="5852160"/>
            <a:ext cx="274320" cy="274320"/>
          </a:xfrm>
          <a:prstGeom prst="rect">
            <a:avLst/>
          </a:prstGeom>
          <a:solidFill>
            <a:srgbClr val="E6EAEE"/>
          </a:solidFill>
          <a:ln w="12700">
            <a:solidFill>
              <a:srgbClr val="E6EAEE"/>
            </a:solidFill>
            <a:prstDash val="solid"/>
          </a:ln>
        </p:spPr>
      </p:sp>
      <p:sp>
        <p:nvSpPr>
          <p:cNvPr id="55" name="Text 53"/>
          <p:cNvSpPr txBox="1"/>
          <p:nvPr/>
        </p:nvSpPr>
        <p:spPr>
          <a:xfrm>
            <a:off x="9875520" y="5806440"/>
            <a:ext cx="1828800" cy="365760"/>
          </a:xfrm>
          <a:prstGeom prst="rect">
            <a:avLst/>
          </a:prstGeom>
          <a:noFill/>
          <a:ln/>
        </p:spPr>
        <p:txBody>
          <a:bodyPr wrap="square" lIns="0" tIns="0" rIns="0" bIns="0" rtlCol="0" anchor="ctr"/>
          <a:lstStyle/>
          <a:p>
            <a:pPr indent="0" marL="0">
              <a:buNone/>
            </a:pPr>
            <a:r>
              <a:rPr lang="en-US" sz="1200" dirty="0">
                <a:solidFill>
                  <a:schemeClr val="tx1"/>
                </a:solidFill>
              </a:rPr>
              <a:t>Out-of-distribution (16)</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indent="0" marL="0">
              <a:buNone/>
            </a:pPr>
            <a:r>
              <a:rPr lang="en-US" sz="3400" b="1" dirty="0">
                <a:solidFill>
                  <a:srgbClr val="16263D"/>
                </a:solidFill>
                <a:latin typeface="Cambria" pitchFamily="34" charset="0"/>
                <a:ea typeface="Cambria" pitchFamily="34" charset="-122"/>
                <a:cs typeface="Cambria" pitchFamily="34" charset="-120"/>
              </a:rPr>
              <a:t>Environment: state, action, reward</a:t>
            </a:r>
            <a:endParaRPr lang="en-US" sz="3400" dirty="0"/>
          </a:p>
        </p:txBody>
      </p:sp>
      <p:sp>
        <p:nvSpPr>
          <p:cNvPr id="3" name="Takeaway"/>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700" i="1" dirty="0">
                <a:solidFill>
                  <a:schemeClr val="accent1"/>
                </a:solidFill>
              </a:rPr>
              <a:t>Dynamics shift changes the physics, not what the policy observes</a:t>
            </a:r>
            <a:endParaRPr lang="en-US" sz="1700" dirty="0"/>
          </a:p>
        </p:txBody>
      </p:sp>
      <p:pic>
        <p:nvPicPr>
          <p:cNvPr id="4" name="Hopper diagram" descr="hopper_diagram.png">    </p:cNvPr>
          <p:cNvPicPr>
            <a:picLocks noChangeAspect="1"/>
          </p:cNvPicPr>
          <p:nvPr/>
        </p:nvPicPr>
        <p:blipFill>
          <a:blip r:embed="rId1"/>
          <a:stretch>
            <a:fillRect/>
          </a:stretch>
        </p:blipFill>
        <p:spPr>
          <a:xfrm>
            <a:off x="640080" y="1600200"/>
            <a:ext cx="3611880" cy="4617720"/>
          </a:xfrm>
          <a:prstGeom prst="rect">
            <a:avLst/>
          </a:prstGeom>
        </p:spPr>
      </p:pic>
      <p:sp>
        <p:nvSpPr>
          <p:cNvPr id="5" name="State"/>
          <p:cNvSpPr/>
          <p:nvPr/>
        </p:nvSpPr>
        <p:spPr>
          <a:xfrm>
            <a:off x="4663440" y="1645920"/>
            <a:ext cx="6949440" cy="777240"/>
          </a:xfrm>
          <a:prstGeom prst="roundRect">
            <a:avLst>
              <a:gd name="adj" fmla="val 9412"/>
            </a:avLst>
          </a:prstGeom>
          <a:solidFill>
            <a:srgbClr val="EEF3F7"/>
          </a:solidFill>
          <a:ln w="12700">
            <a:solidFill>
              <a:srgbClr val="EEF3F7"/>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4846320" y="1645920"/>
            <a:ext cx="1600200" cy="777240"/>
          </a:xfrm>
          <a:prstGeom prst="rect">
            <a:avLst/>
          </a:prstGeom>
          <a:noFill/>
          <a:ln/>
        </p:spPr>
        <p:txBody>
          <a:bodyPr wrap="square" lIns="0" tIns="0" rIns="0" bIns="0" rtlCol="0" anchor="ctr"/>
          <a:lstStyle/>
          <a:p>
            <a:pPr indent="0" marL="0">
              <a:buNone/>
            </a:pPr>
            <a:r>
              <a:rPr lang="en-US" sz="1600" b="1" dirty="0">
                <a:solidFill>
                  <a:schemeClr val="accent1"/>
                </a:solidFill>
              </a:rPr>
              <a:t>State</a:t>
            </a:r>
            <a:endParaRPr lang="en-US" sz="1600" dirty="0"/>
          </a:p>
        </p:txBody>
      </p:sp>
      <p:sp>
        <p:nvSpPr>
          <p:cNvPr id="7" name="Text 4"/>
          <p:cNvSpPr txBox="1"/>
          <p:nvPr/>
        </p:nvSpPr>
        <p:spPr>
          <a:xfrm>
            <a:off x="6446520" y="1645920"/>
            <a:ext cx="5029200" cy="777240"/>
          </a:xfrm>
          <a:prstGeom prst="rect">
            <a:avLst/>
          </a:prstGeom>
          <a:noFill/>
          <a:ln/>
        </p:spPr>
        <p:txBody>
          <a:bodyPr wrap="square" lIns="0" tIns="0" rIns="0" bIns="0" rtlCol="0" anchor="ctr"/>
          <a:lstStyle/>
          <a:p>
            <a:pPr indent="0" marL="0">
              <a:buNone/>
            </a:pPr>
            <a:r>
              <a:rPr lang="en-US" sz="1400" dirty="0">
                <a:solidFill>
                  <a:schemeClr val="tx1"/>
                </a:solidFill>
              </a:rPr>
              <a:t>11 values: torso height and angle, 3 joint angles, 6 velocities. Mass and friction are not observed.</a:t>
            </a:r>
            <a:endParaRPr lang="en-US" sz="1400" dirty="0"/>
          </a:p>
        </p:txBody>
      </p:sp>
      <p:sp>
        <p:nvSpPr>
          <p:cNvPr id="8" name="Action"/>
          <p:cNvSpPr/>
          <p:nvPr/>
        </p:nvSpPr>
        <p:spPr>
          <a:xfrm>
            <a:off x="4663440" y="2560320"/>
            <a:ext cx="6949440" cy="777240"/>
          </a:xfrm>
          <a:prstGeom prst="roundRect">
            <a:avLst>
              <a:gd name="adj" fmla="val 9412"/>
            </a:avLst>
          </a:prstGeom>
          <a:solidFill>
            <a:srgbClr val="EEF3F7"/>
          </a:solidFill>
          <a:ln w="12700">
            <a:solidFill>
              <a:srgbClr val="EEF3F7"/>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4846320" y="2560320"/>
            <a:ext cx="1600200" cy="777240"/>
          </a:xfrm>
          <a:prstGeom prst="rect">
            <a:avLst/>
          </a:prstGeom>
          <a:noFill/>
          <a:ln/>
        </p:spPr>
        <p:txBody>
          <a:bodyPr wrap="square" lIns="0" tIns="0" rIns="0" bIns="0" rtlCol="0" anchor="ctr"/>
          <a:lstStyle/>
          <a:p>
            <a:pPr indent="0" marL="0">
              <a:buNone/>
            </a:pPr>
            <a:r>
              <a:rPr lang="en-US" sz="1600" b="1" dirty="0">
                <a:solidFill>
                  <a:schemeClr val="accent1"/>
                </a:solidFill>
              </a:rPr>
              <a:t>Action</a:t>
            </a:r>
            <a:endParaRPr lang="en-US" sz="1600" dirty="0"/>
          </a:p>
        </p:txBody>
      </p:sp>
      <p:sp>
        <p:nvSpPr>
          <p:cNvPr id="10" name="Text 7"/>
          <p:cNvSpPr txBox="1"/>
          <p:nvPr/>
        </p:nvSpPr>
        <p:spPr>
          <a:xfrm>
            <a:off x="6446520" y="2560320"/>
            <a:ext cx="5029200" cy="777240"/>
          </a:xfrm>
          <a:prstGeom prst="rect">
            <a:avLst/>
          </a:prstGeom>
          <a:noFill/>
          <a:ln/>
        </p:spPr>
        <p:txBody>
          <a:bodyPr wrap="square" lIns="0" tIns="0" rIns="0" bIns="0" rtlCol="0" anchor="ctr"/>
          <a:lstStyle/>
          <a:p>
            <a:pPr indent="0" marL="0">
              <a:buNone/>
            </a:pPr>
            <a:r>
              <a:rPr lang="en-US" sz="1400" dirty="0">
                <a:solidFill>
                  <a:schemeClr val="tx1"/>
                </a:solidFill>
              </a:rPr>
              <a:t>3 continuous joint torques in [−1, 1] (hip, knee, ankle).</a:t>
            </a:r>
            <a:endParaRPr lang="en-US" sz="1400" dirty="0"/>
          </a:p>
        </p:txBody>
      </p:sp>
      <p:sp>
        <p:nvSpPr>
          <p:cNvPr id="11" name="Reward"/>
          <p:cNvSpPr/>
          <p:nvPr/>
        </p:nvSpPr>
        <p:spPr>
          <a:xfrm>
            <a:off x="4663440" y="3474720"/>
            <a:ext cx="6949440" cy="777240"/>
          </a:xfrm>
          <a:prstGeom prst="roundRect">
            <a:avLst>
              <a:gd name="adj" fmla="val 9412"/>
            </a:avLst>
          </a:prstGeom>
          <a:solidFill>
            <a:srgbClr val="EEF3F7"/>
          </a:solidFill>
          <a:ln w="12700">
            <a:solidFill>
              <a:srgbClr val="EEF3F7"/>
            </a:solidFill>
            <a:prstDash val="solid"/>
          </a:ln>
          <a:effectLst>
            <a:outerShdw sx="100000" sy="100000" kx="0" ky="0" algn="bl" rotWithShape="0" blurRad="76200" dist="25400" dir="5400000">
              <a:srgbClr val="000000">
                <a:alpha val="12000"/>
              </a:srgbClr>
            </a:outerShdw>
          </a:effectLst>
        </p:spPr>
      </p:sp>
      <p:sp>
        <p:nvSpPr>
          <p:cNvPr id="12" name="Text 9"/>
          <p:cNvSpPr txBox="1"/>
          <p:nvPr/>
        </p:nvSpPr>
        <p:spPr>
          <a:xfrm>
            <a:off x="4846320" y="3474720"/>
            <a:ext cx="1600200" cy="777240"/>
          </a:xfrm>
          <a:prstGeom prst="rect">
            <a:avLst/>
          </a:prstGeom>
          <a:noFill/>
          <a:ln/>
        </p:spPr>
        <p:txBody>
          <a:bodyPr wrap="square" lIns="0" tIns="0" rIns="0" bIns="0" rtlCol="0" anchor="ctr"/>
          <a:lstStyle/>
          <a:p>
            <a:pPr indent="0" marL="0">
              <a:buNone/>
            </a:pPr>
            <a:r>
              <a:rPr lang="en-US" sz="1600" b="1" dirty="0">
                <a:solidFill>
                  <a:schemeClr val="accent1"/>
                </a:solidFill>
              </a:rPr>
              <a:t>Reward</a:t>
            </a:r>
            <a:endParaRPr lang="en-US" sz="1600" dirty="0"/>
          </a:p>
        </p:txBody>
      </p:sp>
      <p:sp>
        <p:nvSpPr>
          <p:cNvPr id="13" name="Text 10"/>
          <p:cNvSpPr txBox="1"/>
          <p:nvPr/>
        </p:nvSpPr>
        <p:spPr>
          <a:xfrm>
            <a:off x="6446520" y="3474720"/>
            <a:ext cx="5029200" cy="777240"/>
          </a:xfrm>
          <a:prstGeom prst="rect">
            <a:avLst/>
          </a:prstGeom>
          <a:noFill/>
          <a:ln/>
        </p:spPr>
        <p:txBody>
          <a:bodyPr wrap="square" lIns="0" tIns="0" rIns="0" bIns="0" rtlCol="0" anchor="ctr"/>
          <a:lstStyle/>
          <a:p>
            <a:pPr indent="0" marL="0">
              <a:buNone/>
            </a:pPr>
            <a:r>
              <a:rPr lang="en-US" sz="1400" dirty="0">
                <a:solidFill>
                  <a:schemeClr val="tx1"/>
                </a:solidFill>
              </a:rPr>
              <a:t>Forward velocity + 1 per step alive − small control cost on squared torques. Built-in reward, no shaping.</a:t>
            </a:r>
            <a:endParaRPr lang="en-US" sz="1400" dirty="0"/>
          </a:p>
        </p:txBody>
      </p:sp>
      <p:sp>
        <p:nvSpPr>
          <p:cNvPr id="14" name="Episode end"/>
          <p:cNvSpPr/>
          <p:nvPr/>
        </p:nvSpPr>
        <p:spPr>
          <a:xfrm>
            <a:off x="4663440" y="4389120"/>
            <a:ext cx="6949440" cy="777240"/>
          </a:xfrm>
          <a:prstGeom prst="roundRect">
            <a:avLst>
              <a:gd name="adj" fmla="val 9412"/>
            </a:avLst>
          </a:prstGeom>
          <a:solidFill>
            <a:srgbClr val="EEF3F7"/>
          </a:solidFill>
          <a:ln w="12700">
            <a:solidFill>
              <a:srgbClr val="EEF3F7"/>
            </a:solidFill>
            <a:prstDash val="solid"/>
          </a:ln>
          <a:effectLst>
            <a:outerShdw sx="100000" sy="100000" kx="0" ky="0" algn="bl" rotWithShape="0" blurRad="76200" dist="25400" dir="5400000">
              <a:srgbClr val="000000">
                <a:alpha val="12000"/>
              </a:srgbClr>
            </a:outerShdw>
          </a:effectLst>
        </p:spPr>
      </p:sp>
      <p:sp>
        <p:nvSpPr>
          <p:cNvPr id="15" name="Text 12"/>
          <p:cNvSpPr txBox="1"/>
          <p:nvPr/>
        </p:nvSpPr>
        <p:spPr>
          <a:xfrm>
            <a:off x="4846320" y="4389120"/>
            <a:ext cx="1600200" cy="777240"/>
          </a:xfrm>
          <a:prstGeom prst="rect">
            <a:avLst/>
          </a:prstGeom>
          <a:noFill/>
          <a:ln/>
        </p:spPr>
        <p:txBody>
          <a:bodyPr wrap="square" lIns="0" tIns="0" rIns="0" bIns="0" rtlCol="0" anchor="ctr"/>
          <a:lstStyle/>
          <a:p>
            <a:pPr indent="0" marL="0">
              <a:buNone/>
            </a:pPr>
            <a:r>
              <a:rPr lang="en-US" sz="1600" b="1" dirty="0">
                <a:solidFill>
                  <a:schemeClr val="accent1"/>
                </a:solidFill>
              </a:rPr>
              <a:t>Episode end</a:t>
            </a:r>
            <a:endParaRPr lang="en-US" sz="1600" dirty="0"/>
          </a:p>
        </p:txBody>
      </p:sp>
      <p:sp>
        <p:nvSpPr>
          <p:cNvPr id="16" name="Text 13"/>
          <p:cNvSpPr txBox="1"/>
          <p:nvPr/>
        </p:nvSpPr>
        <p:spPr>
          <a:xfrm>
            <a:off x="6446520" y="4389120"/>
            <a:ext cx="5029200" cy="777240"/>
          </a:xfrm>
          <a:prstGeom prst="rect">
            <a:avLst/>
          </a:prstGeom>
          <a:noFill/>
          <a:ln/>
        </p:spPr>
        <p:txBody>
          <a:bodyPr wrap="square" lIns="0" tIns="0" rIns="0" bIns="0" rtlCol="0" anchor="ctr"/>
          <a:lstStyle/>
          <a:p>
            <a:pPr indent="0" marL="0">
              <a:buNone/>
            </a:pPr>
            <a:r>
              <a:rPr lang="en-US" sz="1400" dirty="0">
                <a:solidFill>
                  <a:schemeClr val="tx1"/>
                </a:solidFill>
              </a:rPr>
              <a:t>Robot becomes unhealthy (torso too low or tilted) or 1,000 steps (8 s) elapse.</a:t>
            </a:r>
            <a:endParaRPr lang="en-US" sz="1400" dirty="0"/>
          </a:p>
        </p:txBody>
      </p:sp>
      <p:sp>
        <p:nvSpPr>
          <p:cNvPr id="17" name="Success"/>
          <p:cNvSpPr/>
          <p:nvPr/>
        </p:nvSpPr>
        <p:spPr>
          <a:xfrm>
            <a:off x="4663440" y="5303520"/>
            <a:ext cx="6949440" cy="777240"/>
          </a:xfrm>
          <a:prstGeom prst="roundRect">
            <a:avLst>
              <a:gd name="adj" fmla="val 9412"/>
            </a:avLst>
          </a:prstGeom>
          <a:solidFill>
            <a:srgbClr val="EEF3F7"/>
          </a:solidFill>
          <a:ln w="12700">
            <a:solidFill>
              <a:srgbClr val="EEF3F7"/>
            </a:solidFill>
            <a:prstDash val="solid"/>
          </a:ln>
          <a:effectLst>
            <a:outerShdw sx="100000" sy="100000" kx="0" ky="0" algn="bl" rotWithShape="0" blurRad="76200" dist="25400" dir="5400000">
              <a:srgbClr val="000000">
                <a:alpha val="12000"/>
              </a:srgbClr>
            </a:outerShdw>
          </a:effectLst>
        </p:spPr>
      </p:sp>
      <p:sp>
        <p:nvSpPr>
          <p:cNvPr id="18" name="Text 15"/>
          <p:cNvSpPr txBox="1"/>
          <p:nvPr/>
        </p:nvSpPr>
        <p:spPr>
          <a:xfrm>
            <a:off x="4846320" y="5303520"/>
            <a:ext cx="1600200" cy="777240"/>
          </a:xfrm>
          <a:prstGeom prst="rect">
            <a:avLst/>
          </a:prstGeom>
          <a:noFill/>
          <a:ln/>
        </p:spPr>
        <p:txBody>
          <a:bodyPr wrap="square" lIns="0" tIns="0" rIns="0" bIns="0" rtlCol="0" anchor="ctr"/>
          <a:lstStyle/>
          <a:p>
            <a:pPr indent="0" marL="0">
              <a:buNone/>
            </a:pPr>
            <a:r>
              <a:rPr lang="en-US" sz="1600" b="1" dirty="0">
                <a:solidFill>
                  <a:schemeClr val="accent1"/>
                </a:solidFill>
              </a:rPr>
              <a:t>Success</a:t>
            </a:r>
            <a:endParaRPr lang="en-US" sz="1600" dirty="0"/>
          </a:p>
        </p:txBody>
      </p:sp>
      <p:sp>
        <p:nvSpPr>
          <p:cNvPr id="19" name="Text 16"/>
          <p:cNvSpPr txBox="1"/>
          <p:nvPr/>
        </p:nvSpPr>
        <p:spPr>
          <a:xfrm>
            <a:off x="6446520" y="5303520"/>
            <a:ext cx="5029200" cy="777240"/>
          </a:xfrm>
          <a:prstGeom prst="rect">
            <a:avLst/>
          </a:prstGeom>
          <a:noFill/>
          <a:ln/>
        </p:spPr>
        <p:txBody>
          <a:bodyPr wrap="square" lIns="0" tIns="0" rIns="0" bIns="0" rtlCol="0" anchor="ctr"/>
          <a:lstStyle/>
          <a:p>
            <a:pPr indent="0" marL="0">
              <a:buNone/>
            </a:pPr>
            <a:r>
              <a:rPr lang="en-US" sz="1400" dirty="0">
                <a:solidFill>
                  <a:schemeClr val="tx1"/>
                </a:solidFill>
              </a:rPr>
              <a:t>Survive all 1,000 steps and move the torso at least 3 m forward.</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indent="0" marL="0">
              <a:buNone/>
            </a:pPr>
            <a:r>
              <a:rPr lang="en-US" sz="3400" b="1" dirty="0">
                <a:solidFill>
                  <a:srgbClr val="16263D"/>
                </a:solidFill>
                <a:latin typeface="Cambria" pitchFamily="34" charset="0"/>
                <a:ea typeface="Cambria" pitchFamily="34" charset="-122"/>
                <a:cs typeface="Cambria" pitchFamily="34" charset="-120"/>
              </a:rPr>
              <a:t>Implementation</a:t>
            </a:r>
            <a:endParaRPr lang="en-US" sz="3400" dirty="0"/>
          </a:p>
        </p:txBody>
      </p:sp>
      <p:sp>
        <p:nvSpPr>
          <p:cNvPr id="3" name="Takeaway"/>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700" i="1" dirty="0">
                <a:solidFill>
                  <a:schemeClr val="accent1"/>
                </a:solidFill>
              </a:rPr>
              <a:t>Stable-Baselines3 for both algorithms, so code base and network size don't confound the comparison</a:t>
            </a:r>
            <a:endParaRPr lang="en-US" sz="1700" dirty="0"/>
          </a:p>
        </p:txBody>
      </p:sp>
      <p:graphicFrame>
        <p:nvGraphicFramePr>
          <p:cNvPr id="8" name="Hyperparameter table"/>
          <p:cNvGraphicFramePr>
            <a:graphicFrameLocks noGrp="1"/>
          </p:cNvGraphicFramePr>
          <p:nvPr>
            <p:extLst>
              <p:ext uri="{D42A27DB-BD31-4B8C-83A1-F6EECF244321}">
                <p14:modId xmlns:p14="http://schemas.microsoft.com/office/powerpoint/2010/main" val="1579011935"/>
              </p:ext>
            </p:extLst>
          </p:nvPr>
        </p:nvGraphicFramePr>
        <p:xfrm>
          <a:off x="548640" y="1691640"/>
          <a:ext cx="6949440" cy="914400"/>
        </p:xfrm>
        <a:graphic>
          <a:graphicData uri="http://schemas.openxmlformats.org/drawingml/2006/table">
            <a:tbl>
              <a:tblPr/>
              <a:tblGrid>
                <a:gridCol w="2011680"/>
                <a:gridCol w="2468880"/>
                <a:gridCol w="2468880"/>
              </a:tblGrid>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Setting</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626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PPO</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626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SAC</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6263D"/>
                    </a:solidFill>
                  </a:tcPr>
                </a:tc>
              </a:tr>
              <a:tr h="566928">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Networks (actor, critic)</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2 × 256, tanh</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2 × 256, ReLU</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Learning rate; discount γ</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3e-4; 0.99</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3e-4; 0.99</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Data per update</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2,048-step rollouts, 10 epochs, batch 64</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1M replay buffer, batch 256, 1 step per env step</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Algorithm-specific</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Clip 0.2, GAE λ 0.95, entropy coef. 0</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τ 0.005, automatic entropy, 10K random start steps</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Hardware</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Colab CPU</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Colab NVIDIA L4 GPU</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5" name="Wrapper"/>
          <p:cNvSpPr/>
          <p:nvPr/>
        </p:nvSpPr>
        <p:spPr>
          <a:xfrm>
            <a:off x="7863840" y="1691640"/>
            <a:ext cx="3749040" cy="2148840"/>
          </a:xfrm>
          <a:prstGeom prst="roundRect">
            <a:avLst>
              <a:gd name="adj" fmla="val 3404"/>
            </a:avLst>
          </a:prstGeom>
          <a:solidFill>
            <a:srgbClr val="EEF3F7"/>
          </a:solidFill>
          <a:ln w="12700">
            <a:solidFill>
              <a:srgbClr val="EEF3F7"/>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8092440" y="1810512"/>
            <a:ext cx="3337560" cy="1920240"/>
          </a:xfrm>
          <a:prstGeom prst="rect">
            <a:avLst/>
          </a:prstGeom>
          <a:noFill/>
          <a:ln/>
        </p:spPr>
        <p:txBody>
          <a:bodyPr wrap="square" lIns="0" tIns="0" rIns="0" bIns="0" rtlCol="0" anchor="t"/>
          <a:lstStyle/>
          <a:p>
            <a:pPr indent="0" marL="0">
              <a:spcAft>
                <a:spcPts val="400"/>
              </a:spcAft>
              <a:buNone/>
            </a:pPr>
            <a:r>
              <a:rPr lang="en-US" sz="1600" b="1" dirty="0">
                <a:solidFill>
                  <a:schemeClr val="accent2"/>
                </a:solidFill>
              </a:rPr>
              <a:t>Dynamics wrapper</a:t>
            </a:r>
            <a:endParaRPr lang="en-US" sz="1600" dirty="0"/>
          </a:p>
          <a:p>
            <a:pPr indent="0" marL="0">
              <a:spcAft>
                <a:spcPts val="400"/>
              </a:spcAft>
              <a:buNone/>
            </a:pPr>
            <a:r>
              <a:rPr lang="en-US" sz="1400" dirty="0">
                <a:solidFill>
                  <a:schemeClr val="tx1"/>
                </a:solidFill>
              </a:rPr>
              <a:t>Scales all body masses and all contact friction relative to stored nominal MuJoCo values, so changes never accumulate. Resamples each training episode.</a:t>
            </a:r>
            <a:endParaRPr lang="en-US" sz="1600" dirty="0"/>
          </a:p>
        </p:txBody>
      </p:sp>
      <p:sp>
        <p:nvSpPr>
          <p:cNvPr id="7" name="Evaluation"/>
          <p:cNvSpPr/>
          <p:nvPr/>
        </p:nvSpPr>
        <p:spPr>
          <a:xfrm>
            <a:off x="7863840" y="4023360"/>
            <a:ext cx="3749040" cy="2148840"/>
          </a:xfrm>
          <a:prstGeom prst="roundRect">
            <a:avLst>
              <a:gd name="adj" fmla="val 3404"/>
            </a:avLst>
          </a:prstGeom>
          <a:solidFill>
            <a:srgbClr val="EEF3F7"/>
          </a:solidFill>
          <a:ln w="12700">
            <a:solidFill>
              <a:srgbClr val="EEF3F7"/>
            </a:solidFill>
            <a:prstDash val="solid"/>
          </a:ln>
          <a:effectLst>
            <a:outerShdw sx="100000" sy="100000" kx="0" ky="0" algn="bl" rotWithShape="0" blurRad="76200" dist="25400" dir="5400000">
              <a:srgbClr val="000000">
                <a:alpha val="12000"/>
              </a:srgbClr>
            </a:outerShdw>
          </a:effectLst>
        </p:spPr>
      </p:sp>
      <p:sp>
        <p:nvSpPr>
          <p:cNvPr id="8" name="Text 5"/>
          <p:cNvSpPr txBox="1"/>
          <p:nvPr/>
        </p:nvSpPr>
        <p:spPr>
          <a:xfrm>
            <a:off x="8092440" y="4142232"/>
            <a:ext cx="3337560" cy="1920240"/>
          </a:xfrm>
          <a:prstGeom prst="rect">
            <a:avLst/>
          </a:prstGeom>
          <a:noFill/>
          <a:ln/>
        </p:spPr>
        <p:txBody>
          <a:bodyPr wrap="square" lIns="0" tIns="0" rIns="0" bIns="0" rtlCol="0" anchor="t"/>
          <a:lstStyle/>
          <a:p>
            <a:pPr indent="0" marL="0">
              <a:spcAft>
                <a:spcPts val="400"/>
              </a:spcAft>
              <a:buNone/>
            </a:pPr>
            <a:r>
              <a:rPr lang="en-US" sz="1600" b="1" dirty="0">
                <a:solidFill>
                  <a:schemeClr val="accent2"/>
                </a:solidFill>
              </a:rPr>
              <a:t>Evaluation</a:t>
            </a:r>
            <a:endParaRPr lang="en-US" sz="1600" dirty="0"/>
          </a:p>
          <a:p>
            <a:pPr indent="0" marL="0">
              <a:spcAft>
                <a:spcPts val="400"/>
              </a:spcAft>
              <a:buNone/>
            </a:pPr>
            <a:r>
              <a:rPr lang="en-US" sz="1400" dirty="0">
                <a:solidFill>
                  <a:schemeClr val="tx1"/>
                </a:solidFill>
              </a:rPr>
              <a:t>Deterministic actions; evaluation seeds separate from training seeds; the final policy is tested, not the best checkpoint. Checkpoints every 100K steps for recovery.</a:t>
            </a:r>
            <a:endParaRPr lang="en-US" sz="1600" dirty="0"/>
          </a:p>
        </p:txBody>
      </p:sp>
      <p:sp>
        <p:nvSpPr>
          <p:cNvPr id="9" name="Text 6"/>
          <p:cNvSpPr txBox="1"/>
          <p:nvPr/>
        </p:nvSpPr>
        <p:spPr>
          <a:xfrm>
            <a:off x="548640" y="5349240"/>
            <a:ext cx="6949440" cy="685800"/>
          </a:xfrm>
          <a:prstGeom prst="rect">
            <a:avLst/>
          </a:prstGeom>
          <a:noFill/>
          <a:ln/>
        </p:spPr>
        <p:txBody>
          <a:bodyPr wrap="square" lIns="0" tIns="0" rIns="0" bIns="0" rtlCol="0" anchor="t"/>
          <a:lstStyle/>
          <a:p>
            <a:pPr indent="0" marL="0">
              <a:buNone/>
            </a:pPr>
            <a:r>
              <a:rPr lang="en-US" sz="1300" dirty="0">
                <a:solidFill>
                  <a:srgbClr val="5F6B7A"/>
                </a:solidFill>
              </a:rPr>
              <a:t>Tools: Python, Gymnasium + MuJoCo, Stable-Baselines3 / PyTorch, NumPy, pandas, Matplotlib, Google Colab + Drive.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indent="0" marL="0">
              <a:buNone/>
            </a:pPr>
            <a:r>
              <a:rPr lang="en-US" sz="3400" b="1" dirty="0">
                <a:solidFill>
                  <a:srgbClr val="16263D"/>
                </a:solidFill>
                <a:latin typeface="Cambria" pitchFamily="34" charset="0"/>
                <a:ea typeface="Cambria" pitchFamily="34" charset="-122"/>
                <a:cs typeface="Cambria" pitchFamily="34" charset="-120"/>
              </a:rPr>
              <a:t>Changes from the Part 1 plan</a:t>
            </a:r>
            <a:endParaRPr lang="en-US" sz="3400" dirty="0"/>
          </a:p>
        </p:txBody>
      </p:sp>
      <p:sp>
        <p:nvSpPr>
          <p:cNvPr id="3" name="Takeaway"/>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700" i="1" dirty="0">
                <a:solidFill>
                  <a:schemeClr val="accent1"/>
                </a:solidFill>
              </a:rPr>
              <a:t>Every deviation is disclosed, with its reason</a:t>
            </a:r>
            <a:endParaRPr lang="en-US" sz="1700" dirty="0"/>
          </a:p>
        </p:txBody>
      </p:sp>
      <p:graphicFrame>
        <p:nvGraphicFramePr>
          <p:cNvPr id="9" name="Changes table"/>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2011680"/>
                <a:gridCol w="2743200"/>
                <a:gridCol w="3108960"/>
                <a:gridCol w="3200400"/>
              </a:tblGrid>
              <a:tr h="54864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Item</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626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Part 1 plan</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626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I did</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626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Why</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6263D"/>
                    </a:solidFill>
                  </a:tcPr>
                </a:tc>
              </a:tr>
              <a:tr h="548640">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Seeds</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5 per condition</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3 per condition</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Runtime; Part 1's fallback rule</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Hardware</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Colab CPU for all</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SAC on L4 GPU</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SAC runtime; wall-clock not compared</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PPO normalization</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Observation and reward normalization</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Not used; raw observations for both</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Omitted in the final implementation</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Budget</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500,000 steps</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PPO ran 501,760 steps</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PPO collects whole 2,048-step rollouts</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Statistics</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IQM with bootstrap CIs</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IQM plus every seed shown</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CIs are not meaningful with n = 3</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Validation curves</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Complete for all runs</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Two SAC runs lack 25K–300K</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Session crash; logs held in memory</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Demo</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MuJoCo camera video</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Video drawn from MuJoCo state</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Colab OpenGL renderer crashed</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indent="0" marL="0">
              <a:buNone/>
            </a:pPr>
            <a:r>
              <a:rPr lang="en-US" sz="3400" b="1" dirty="0">
                <a:solidFill>
                  <a:srgbClr val="16263D"/>
                </a:solidFill>
                <a:latin typeface="Cambria" pitchFamily="34" charset="0"/>
                <a:ea typeface="Cambria" pitchFamily="34" charset="-122"/>
                <a:cs typeface="Cambria" pitchFamily="34" charset="-120"/>
              </a:rPr>
              <a:t>Learning curves (H1)</a:t>
            </a:r>
            <a:endParaRPr lang="en-US" sz="3400" dirty="0"/>
          </a:p>
        </p:txBody>
      </p:sp>
      <p:sp>
        <p:nvSpPr>
          <p:cNvPr id="3" name="Takeaway"/>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700" i="1" dirty="0">
                <a:solidFill>
                  <a:schemeClr val="accent1"/>
                </a:solidFill>
              </a:rPr>
              <a:t>SAC learned faster on its complete seeds; PPO was unstable late in training</a:t>
            </a:r>
            <a:endParaRPr lang="en-US" sz="1700" dirty="0"/>
          </a:p>
        </p:txBody>
      </p:sp>
      <p:graphicFrame>
        <p:nvGraphicFramePr>
          <p:cNvPr id="4" name="PPO learning curves" descr=""/>
          <p:cNvGraphicFramePr/>
          <p:nvPr/>
        </p:nvGraphicFramePr>
        <p:xfrm>
          <a:off x="548640" y="1600200"/>
          <a:ext cx="4160520" cy="374904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SAC learning curves" descr=""/>
          <p:cNvGraphicFramePr/>
          <p:nvPr/>
        </p:nvGraphicFramePr>
        <p:xfrm>
          <a:off x="4846320" y="1600200"/>
          <a:ext cx="4160520" cy="3749040"/>
        </p:xfrm>
        <a:graphic xmlns:a="http://schemas.openxmlformats.org/drawingml/2006/main">
          <a:graphicData uri="http://schemas.openxmlformats.org/drawingml/2006/chart">
            <c:chart xmlns:c="http://schemas.openxmlformats.org/drawingml/2006/chart" r:id="rId2"/>
          </a:graphicData>
        </a:graphic>
      </p:graphicFrame>
      <p:sp>
        <p:nvSpPr>
          <p:cNvPr id="6" name="H1 metrics"/>
          <p:cNvSpPr/>
          <p:nvPr/>
        </p:nvSpPr>
        <p:spPr>
          <a:xfrm>
            <a:off x="9235440" y="1691640"/>
            <a:ext cx="2377440" cy="2743200"/>
          </a:xfrm>
          <a:prstGeom prst="roundRect">
            <a:avLst>
              <a:gd name="adj" fmla="val 3077"/>
            </a:avLst>
          </a:prstGeom>
          <a:solidFill>
            <a:srgbClr val="EEF3F7"/>
          </a:solidFill>
          <a:ln w="12700">
            <a:solidFill>
              <a:srgbClr val="EEF3F7"/>
            </a:solidFill>
            <a:prstDash val="solid"/>
          </a:ln>
          <a:effectLst>
            <a:outerShdw sx="100000" sy="100000" kx="0" ky="0" algn="bl" rotWithShape="0" blurRad="76200" dist="25400" dir="5400000">
              <a:srgbClr val="000000">
                <a:alpha val="12000"/>
              </a:srgbClr>
            </a:outerShdw>
          </a:effectLst>
        </p:spPr>
      </p:sp>
      <p:sp>
        <p:nvSpPr>
          <p:cNvPr id="7" name="Text 3"/>
          <p:cNvSpPr txBox="1"/>
          <p:nvPr/>
        </p:nvSpPr>
        <p:spPr>
          <a:xfrm>
            <a:off x="9418320" y="1828800"/>
            <a:ext cx="2057400" cy="2514600"/>
          </a:xfrm>
          <a:prstGeom prst="rect">
            <a:avLst/>
          </a:prstGeom>
          <a:noFill/>
          <a:ln/>
        </p:spPr>
        <p:txBody>
          <a:bodyPr wrap="square" lIns="0" tIns="0" rIns="0" bIns="0" rtlCol="0" anchor="t"/>
          <a:lstStyle/>
          <a:p>
            <a:pPr indent="0" marL="0">
              <a:buNone/>
            </a:pPr>
            <a:r>
              <a:rPr lang="en-US" sz="1400" b="1" dirty="0">
                <a:solidFill>
                  <a:schemeClr val="accent1"/>
                </a:solidFill>
              </a:rPr>
              <a:t>Learning-curve area</a:t>
            </a:r>
            <a:endParaRPr lang="en-US" sz="1400" dirty="0"/>
          </a:p>
          <a:p>
            <a:pPr indent="0" marL="0">
              <a:buNone/>
            </a:pPr>
            <a:r>
              <a:rPr lang="en-US" sz="1200" dirty="0">
                <a:solidFill>
                  <a:srgbClr val="5F6B7A"/>
                </a:solidFill>
              </a:rPr>
              <a:t>(mean validation return)</a:t>
            </a:r>
            <a:endParaRPr lang="en-US" sz="1400" dirty="0"/>
          </a:p>
          <a:p>
            <a:pPr indent="0" marL="0">
              <a:buNone/>
            </a:pPr>
            <a:r>
              <a:rPr lang="en-US" sz="1600" b="1" dirty="0">
                <a:solidFill>
                  <a:schemeClr val="tx1"/>
                </a:solidFill>
              </a:rPr>
              <a:t>SAC  2,293</a:t>
            </a:r>
            <a:endParaRPr lang="en-US" sz="1400" dirty="0"/>
          </a:p>
          <a:p>
            <a:pPr indent="0" marL="0">
              <a:buNone/>
            </a:pPr>
            <a:r>
              <a:rPr lang="en-US" sz="1600" b="1" dirty="0">
                <a:solidFill>
                  <a:schemeClr val="tx1"/>
                </a:solidFill>
              </a:rPr>
              <a:t>PPO  1,871</a:t>
            </a:r>
            <a:endParaRPr lang="en-US" sz="1400" dirty="0"/>
          </a:p>
          <a:p>
            <a:pPr indent="0" marL="0">
              <a:buNone/>
            </a:pPr>
            <a:r>
              <a:rPr lang="en-US" sz="800" dirty="0">
                <a:solidFill>
                  <a:schemeClr val="tx1"/>
                </a:solidFill>
              </a:rPr>
              <a:t> </a:t>
            </a:r>
            <a:endParaRPr lang="en-US" sz="1400" dirty="0"/>
          </a:p>
          <a:p>
            <a:pPr indent="0" marL="0">
              <a:buNone/>
            </a:pPr>
            <a:r>
              <a:rPr lang="en-US" sz="1400" b="1" dirty="0">
                <a:solidFill>
                  <a:schemeClr val="accent1"/>
                </a:solidFill>
              </a:rPr>
              <a:t>Steps to return 1,500</a:t>
            </a:r>
            <a:endParaRPr lang="en-US" sz="1400" dirty="0"/>
          </a:p>
          <a:p>
            <a:pPr indent="0" marL="0">
              <a:buNone/>
            </a:pPr>
            <a:r>
              <a:rPr lang="en-US" sz="1500" dirty="0">
                <a:solidFill>
                  <a:schemeClr val="tx1"/>
                </a:solidFill>
              </a:rPr>
              <a:t>SAC  75K, 125K</a:t>
            </a:r>
            <a:endParaRPr lang="en-US" sz="1400" dirty="0"/>
          </a:p>
          <a:p>
            <a:pPr indent="0" marL="0">
              <a:buNone/>
            </a:pPr>
            <a:r>
              <a:rPr lang="en-US" sz="1500" dirty="0">
                <a:solidFill>
                  <a:schemeClr val="tx1"/>
                </a:solidFill>
              </a:rPr>
              <a:t>PPO  75K, 175K, 225K</a:t>
            </a:r>
            <a:endParaRPr lang="en-US" sz="1400" dirty="0"/>
          </a:p>
        </p:txBody>
      </p:sp>
      <p:sp>
        <p:nvSpPr>
          <p:cNvPr id="8" name="Text 4"/>
          <p:cNvSpPr txBox="1"/>
          <p:nvPr/>
        </p:nvSpPr>
        <p:spPr>
          <a:xfrm>
            <a:off x="548640" y="5486400"/>
            <a:ext cx="11064240" cy="548640"/>
          </a:xfrm>
          <a:prstGeom prst="rect">
            <a:avLst/>
          </a:prstGeom>
          <a:noFill/>
          <a:ln/>
        </p:spPr>
        <p:txBody>
          <a:bodyPr wrap="square" lIns="0" tIns="0" rIns="0" bIns="0" rtlCol="0" anchor="ctr"/>
          <a:lstStyle/>
          <a:p>
            <a:pPr indent="0" marL="0">
              <a:buNone/>
            </a:pPr>
            <a:r>
              <a:rPr lang="en-US" sz="1200" i="1" dirty="0">
                <a:solidFill>
                  <a:srgbClr val="5F6B7A"/>
                </a:solidFill>
              </a:rPr>
              <a:t>* SAC seed 0's first 300K steps of validation were lost and are not reconstructed, so SAC metrics use seeds 1 and 2. Each line is one seed (10 deterministic nominal episodes per point).</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indent="0" marL="0">
              <a:buNone/>
            </a:pPr>
            <a:r>
              <a:rPr lang="en-US" sz="3400" b="1" dirty="0">
                <a:solidFill>
                  <a:srgbClr val="16263D"/>
                </a:solidFill>
                <a:latin typeface="Cambria" pitchFamily="34" charset="0"/>
                <a:ea typeface="Cambria" pitchFamily="34" charset="-122"/>
                <a:cs typeface="Cambria" pitchFamily="34" charset="-120"/>
              </a:rPr>
              <a:t>Training challenges</a:t>
            </a:r>
            <a:endParaRPr lang="en-US" sz="3400" dirty="0"/>
          </a:p>
        </p:txBody>
      </p:sp>
      <p:sp>
        <p:nvSpPr>
          <p:cNvPr id="3" name="Takeaway"/>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700" i="1" dirty="0">
                <a:solidFill>
                  <a:schemeClr val="accent1"/>
                </a:solidFill>
              </a:rPr>
              <a:t>Two engineering issues shaped how the results must be read</a:t>
            </a:r>
            <a:endParaRPr lang="en-US" sz="1700" dirty="0"/>
          </a:p>
        </p:txBody>
      </p:sp>
      <p:sp>
        <p:nvSpPr>
          <p:cNvPr id="4" name="Interrupted SAC runs"/>
          <p:cNvSpPr/>
          <p:nvPr/>
        </p:nvSpPr>
        <p:spPr>
          <a:xfrm>
            <a:off x="548640" y="1691640"/>
            <a:ext cx="5394960" cy="4434840"/>
          </a:xfrm>
          <a:prstGeom prst="roundRect">
            <a:avLst>
              <a:gd name="adj" fmla="val 1649"/>
            </a:avLst>
          </a:prstGeom>
          <a:solidFill>
            <a:srgbClr val="EEF3F7"/>
          </a:solidFill>
          <a:ln w="12700">
            <a:solidFill>
              <a:srgbClr val="EEF3F7"/>
            </a:solidFill>
            <a:prstDash val="solid"/>
          </a:ln>
          <a:effectLst>
            <a:outerShdw sx="100000" sy="100000" kx="0" ky="0" algn="bl" rotWithShape="0" blurRad="76200" dist="25400" dir="5400000">
              <a:srgbClr val="000000">
                <a:alpha val="12000"/>
              </a:srgbClr>
            </a:outerShdw>
          </a:effectLst>
        </p:spPr>
      </p:sp>
      <p:sp>
        <p:nvSpPr>
          <p:cNvPr id="5" name="Badge 1"/>
          <p:cNvSpPr/>
          <p:nvPr/>
        </p:nvSpPr>
        <p:spPr>
          <a:xfrm>
            <a:off x="822960" y="1920240"/>
            <a:ext cx="566928" cy="566928"/>
          </a:xfrm>
          <a:prstGeom prst="ellipse">
            <a:avLst/>
          </a:prstGeom>
          <a:solidFill>
            <a:srgbClr val="D2802F"/>
          </a:solidFill>
          <a:ln w="12700">
            <a:solidFill>
              <a:srgbClr val="D2802F"/>
            </a:solidFill>
            <a:prstDash val="solid"/>
          </a:ln>
        </p:spPr>
      </p:sp>
      <p:sp>
        <p:nvSpPr>
          <p:cNvPr id="6" name="Text 4"/>
          <p:cNvSpPr txBox="1"/>
          <p:nvPr/>
        </p:nvSpPr>
        <p:spPr>
          <a:xfrm>
            <a:off x="822960" y="192024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7" name="Text 5"/>
          <p:cNvSpPr txBox="1"/>
          <p:nvPr/>
        </p:nvSpPr>
        <p:spPr>
          <a:xfrm>
            <a:off x="1600200" y="1920240"/>
            <a:ext cx="4114800" cy="566928"/>
          </a:xfrm>
          <a:prstGeom prst="rect">
            <a:avLst/>
          </a:prstGeom>
          <a:noFill/>
          <a:ln/>
        </p:spPr>
        <p:txBody>
          <a:bodyPr wrap="square" lIns="0" tIns="0" rIns="0" bIns="0" rtlCol="0" anchor="ctr"/>
          <a:lstStyle/>
          <a:p>
            <a:pPr indent="0" marL="0">
              <a:buNone/>
            </a:pPr>
            <a:r>
              <a:rPr lang="en-US" sz="1900" b="1" dirty="0">
                <a:solidFill>
                  <a:schemeClr val="accent3"/>
                </a:solidFill>
              </a:rPr>
              <a:t>Interrupted SAC runs</a:t>
            </a:r>
            <a:endParaRPr lang="en-US" sz="1900" dirty="0"/>
          </a:p>
        </p:txBody>
      </p:sp>
      <p:sp>
        <p:nvSpPr>
          <p:cNvPr id="8" name="Text 6"/>
          <p:cNvSpPr txBox="1"/>
          <p:nvPr/>
        </p:nvSpPr>
        <p:spPr>
          <a:xfrm>
            <a:off x="822960" y="2697480"/>
            <a:ext cx="4937760" cy="32918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Colab crashed during SAC Nominal seed 0 and SAC Randomized seed 2.</a:t>
            </a:r>
            <a:endParaRPr lang="en-US" sz="1500" dirty="0"/>
          </a:p>
          <a:p>
            <a:pPr marL="342900" indent="-342900">
              <a:spcAft>
                <a:spcPts val="800"/>
              </a:spcAft>
              <a:buSzPct val="100000"/>
              <a:buChar char="•"/>
            </a:pPr>
            <a:r>
              <a:rPr lang="en-US" sz="1500" dirty="0">
                <a:solidFill>
                  <a:schemeClr val="tx1"/>
                </a:solidFill>
              </a:rPr>
              <a:t>Both resumed from 300K-step checkpoints: model weights, optimizer state and replay buffer, with the step counter continued.</a:t>
            </a:r>
            <a:endParaRPr lang="en-US" sz="1500" dirty="0"/>
          </a:p>
          <a:p>
            <a:pPr marL="342900" indent="-342900">
              <a:spcAft>
                <a:spcPts val="800"/>
              </a:spcAft>
              <a:buSzPct val="100000"/>
              <a:buChar char="•"/>
            </a:pPr>
            <a:r>
              <a:rPr lang="en-US" sz="1500" dirty="0">
                <a:solidFill>
                  <a:schemeClr val="tx1"/>
                </a:solidFill>
              </a:rPr>
              <a:t>Validation points 25K–300K were held in memory and lost. I did not reconstruct or interpolate them.</a:t>
            </a:r>
            <a:endParaRPr lang="en-US" sz="1500" dirty="0"/>
          </a:p>
          <a:p>
            <a:pPr marL="342900" indent="-342900">
              <a:spcAft>
                <a:spcPts val="800"/>
              </a:spcAft>
              <a:buSzPct val="100000"/>
              <a:buChar char="•"/>
            </a:pPr>
            <a:r>
              <a:rPr lang="en-US" sz="1500" dirty="0">
                <a:solidFill>
                  <a:schemeClr val="tx1"/>
                </a:solidFill>
              </a:rPr>
              <a:t>Fix for future work: write each validation row to disk immediately.</a:t>
            </a:r>
            <a:endParaRPr lang="en-US" sz="1500" dirty="0"/>
          </a:p>
        </p:txBody>
      </p:sp>
      <p:sp>
        <p:nvSpPr>
          <p:cNvPr id="9" name="PPO final update"/>
          <p:cNvSpPr/>
          <p:nvPr/>
        </p:nvSpPr>
        <p:spPr>
          <a:xfrm>
            <a:off x="6263640" y="1691640"/>
            <a:ext cx="5349240" cy="4434840"/>
          </a:xfrm>
          <a:prstGeom prst="roundRect">
            <a:avLst>
              <a:gd name="adj" fmla="val 1649"/>
            </a:avLst>
          </a:prstGeom>
          <a:solidFill>
            <a:srgbClr val="EEF3F7"/>
          </a:solidFill>
          <a:ln w="12700">
            <a:solidFill>
              <a:srgbClr val="EEF3F7"/>
            </a:solidFill>
            <a:prstDash val="solid"/>
          </a:ln>
          <a:effectLst>
            <a:outerShdw sx="100000" sy="100000" kx="0" ky="0" algn="bl" rotWithShape="0" blurRad="76200" dist="25400" dir="5400000">
              <a:srgbClr val="000000">
                <a:alpha val="12000"/>
              </a:srgbClr>
            </a:outerShdw>
          </a:effectLst>
        </p:spPr>
      </p:sp>
      <p:sp>
        <p:nvSpPr>
          <p:cNvPr id="10" name="Badge 2"/>
          <p:cNvSpPr/>
          <p:nvPr/>
        </p:nvSpPr>
        <p:spPr>
          <a:xfrm>
            <a:off x="6537960" y="1920240"/>
            <a:ext cx="566928" cy="566928"/>
          </a:xfrm>
          <a:prstGeom prst="ellipse">
            <a:avLst/>
          </a:prstGeom>
          <a:solidFill>
            <a:srgbClr val="2E5E8C"/>
          </a:solidFill>
          <a:ln w="12700">
            <a:solidFill>
              <a:srgbClr val="2E5E8C"/>
            </a:solidFill>
            <a:prstDash val="solid"/>
          </a:ln>
        </p:spPr>
      </p:sp>
      <p:sp>
        <p:nvSpPr>
          <p:cNvPr id="11" name="Text 9"/>
          <p:cNvSpPr txBox="1"/>
          <p:nvPr/>
        </p:nvSpPr>
        <p:spPr>
          <a:xfrm>
            <a:off x="6537960" y="192024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2" name="Text 10"/>
          <p:cNvSpPr txBox="1"/>
          <p:nvPr/>
        </p:nvSpPr>
        <p:spPr>
          <a:xfrm>
            <a:off x="7315200" y="1920240"/>
            <a:ext cx="4114800" cy="566928"/>
          </a:xfrm>
          <a:prstGeom prst="rect">
            <a:avLst/>
          </a:prstGeom>
          <a:noFill/>
          <a:ln/>
        </p:spPr>
        <p:txBody>
          <a:bodyPr wrap="square" lIns="0" tIns="0" rIns="0" bIns="0" rtlCol="0" anchor="ctr"/>
          <a:lstStyle/>
          <a:p>
            <a:pPr indent="0" marL="0">
              <a:buNone/>
            </a:pPr>
            <a:r>
              <a:rPr lang="en-US" sz="1900" b="1" dirty="0">
                <a:solidFill>
                  <a:schemeClr val="accent1"/>
                </a:solidFill>
              </a:rPr>
              <a:t>PPO's last update</a:t>
            </a:r>
            <a:endParaRPr lang="en-US" sz="1900" dirty="0"/>
          </a:p>
        </p:txBody>
      </p:sp>
      <p:sp>
        <p:nvSpPr>
          <p:cNvPr id="13" name="Text 11"/>
          <p:cNvSpPr txBox="1"/>
          <p:nvPr/>
        </p:nvSpPr>
        <p:spPr>
          <a:xfrm>
            <a:off x="6537960" y="2697480"/>
            <a:ext cx="4892040" cy="20116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PPO trains in 2,048-step rollouts, so it stopped at 501,760 steps.</a:t>
            </a:r>
            <a:endParaRPr lang="en-US" sz="1500" dirty="0"/>
          </a:p>
          <a:p>
            <a:pPr marL="342900" indent="-342900">
              <a:spcAft>
                <a:spcPts val="800"/>
              </a:spcAft>
              <a:buSzPct val="100000"/>
              <a:buChar char="•"/>
            </a:pPr>
            <a:r>
              <a:rPr lang="en-US" sz="1500" dirty="0">
                <a:solidFill>
                  <a:schemeClr val="tx1"/>
                </a:solidFill>
              </a:rPr>
              <a:t>The "500K" validation ran inside the last rollout, before PPO's final update.</a:t>
            </a:r>
            <a:endParaRPr lang="en-US" sz="1500" dirty="0"/>
          </a:p>
          <a:p>
            <a:pPr marL="342900" indent="-342900">
              <a:spcAft>
                <a:spcPts val="800"/>
              </a:spcAft>
              <a:buSzPct val="100000"/>
              <a:buChar char="•"/>
            </a:pPr>
            <a:r>
              <a:rPr lang="en-US" sz="1500" dirty="0">
                <a:solidFill>
                  <a:schemeClr val="tx1"/>
                </a:solidFill>
              </a:rPr>
              <a:t>For two unstable PPO Randomized seeds, that one update changed nominal return sharply:</a:t>
            </a:r>
            <a:endParaRPr lang="en-US" sz="1500" dirty="0"/>
          </a:p>
        </p:txBody>
      </p:sp>
      <p:sp>
        <p:nvSpPr>
          <p:cNvPr id="14" name="Text 12"/>
          <p:cNvSpPr txBox="1"/>
          <p:nvPr/>
        </p:nvSpPr>
        <p:spPr>
          <a:xfrm>
            <a:off x="6766560" y="4800600"/>
            <a:ext cx="914400" cy="457200"/>
          </a:xfrm>
          <a:prstGeom prst="rect">
            <a:avLst/>
          </a:prstGeom>
          <a:noFill/>
          <a:ln/>
        </p:spPr>
        <p:txBody>
          <a:bodyPr wrap="square" lIns="0" tIns="0" rIns="0" bIns="0" rtlCol="0" anchor="ctr"/>
          <a:lstStyle/>
          <a:p>
            <a:pPr indent="0" marL="0">
              <a:buNone/>
            </a:pPr>
            <a:r>
              <a:rPr lang="en-US" sz="1500" b="1" dirty="0">
                <a:solidFill>
                  <a:schemeClr val="tx1"/>
                </a:solidFill>
              </a:rPr>
              <a:t>Seed 0</a:t>
            </a:r>
            <a:endParaRPr lang="en-US" sz="1500" dirty="0"/>
          </a:p>
        </p:txBody>
      </p:sp>
      <p:sp>
        <p:nvSpPr>
          <p:cNvPr id="15" name="Text 13"/>
          <p:cNvSpPr txBox="1"/>
          <p:nvPr/>
        </p:nvSpPr>
        <p:spPr>
          <a:xfrm>
            <a:off x="7726680" y="4800600"/>
            <a:ext cx="1097280" cy="457200"/>
          </a:xfrm>
          <a:prstGeom prst="rect">
            <a:avLst/>
          </a:prstGeom>
          <a:noFill/>
          <a:ln/>
        </p:spPr>
        <p:txBody>
          <a:bodyPr wrap="square" lIns="0" tIns="0" rIns="0" bIns="0" rtlCol="0" anchor="ctr"/>
          <a:lstStyle/>
          <a:p>
            <a:pPr algn="r" indent="0" marL="0">
              <a:buNone/>
            </a:pPr>
            <a:r>
              <a:rPr lang="en-US" sz="1800" dirty="0">
                <a:solidFill>
                  <a:srgbClr val="5F6B7A"/>
                </a:solidFill>
              </a:rPr>
              <a:t>1,056</a:t>
            </a:r>
            <a:endParaRPr lang="en-US" sz="1800" dirty="0"/>
          </a:p>
        </p:txBody>
      </p:sp>
      <p:sp>
        <p:nvSpPr>
          <p:cNvPr id="16" name="Arrow"/>
          <p:cNvSpPr/>
          <p:nvPr/>
        </p:nvSpPr>
        <p:spPr>
          <a:xfrm>
            <a:off x="8961120" y="4919472"/>
            <a:ext cx="502920" cy="228600"/>
          </a:xfrm>
          <a:prstGeom prst="rightArrow">
            <a:avLst/>
          </a:prstGeom>
          <a:solidFill>
            <a:srgbClr val="B8C4D0"/>
          </a:solidFill>
          <a:ln w="12700">
            <a:solidFill>
              <a:srgbClr val="B8C4D0"/>
            </a:solidFill>
            <a:prstDash val="solid"/>
          </a:ln>
        </p:spPr>
      </p:sp>
      <p:sp>
        <p:nvSpPr>
          <p:cNvPr id="17" name="Text 15"/>
          <p:cNvSpPr txBox="1"/>
          <p:nvPr/>
        </p:nvSpPr>
        <p:spPr>
          <a:xfrm>
            <a:off x="9601200" y="4800600"/>
            <a:ext cx="1097280" cy="457200"/>
          </a:xfrm>
          <a:prstGeom prst="rect">
            <a:avLst/>
          </a:prstGeom>
          <a:noFill/>
          <a:ln/>
        </p:spPr>
        <p:txBody>
          <a:bodyPr wrap="square" lIns="0" tIns="0" rIns="0" bIns="0" rtlCol="0" anchor="ctr"/>
          <a:lstStyle/>
          <a:p>
            <a:pPr indent="0" marL="0">
              <a:buNone/>
            </a:pPr>
            <a:r>
              <a:rPr lang="en-US" sz="1800" b="1" dirty="0">
                <a:solidFill>
                  <a:schemeClr val="tx1"/>
                </a:solidFill>
              </a:rPr>
              <a:t>3,074</a:t>
            </a:r>
            <a:endParaRPr lang="en-US" sz="1800" dirty="0"/>
          </a:p>
        </p:txBody>
      </p:sp>
      <p:sp>
        <p:nvSpPr>
          <p:cNvPr id="18" name="Text 16"/>
          <p:cNvSpPr txBox="1"/>
          <p:nvPr/>
        </p:nvSpPr>
        <p:spPr>
          <a:xfrm>
            <a:off x="6766560" y="5367528"/>
            <a:ext cx="914400" cy="457200"/>
          </a:xfrm>
          <a:prstGeom prst="rect">
            <a:avLst/>
          </a:prstGeom>
          <a:noFill/>
          <a:ln/>
        </p:spPr>
        <p:txBody>
          <a:bodyPr wrap="square" lIns="0" tIns="0" rIns="0" bIns="0" rtlCol="0" anchor="ctr"/>
          <a:lstStyle/>
          <a:p>
            <a:pPr indent="0" marL="0">
              <a:buNone/>
            </a:pPr>
            <a:r>
              <a:rPr lang="en-US" sz="1500" b="1" dirty="0">
                <a:solidFill>
                  <a:schemeClr val="tx1"/>
                </a:solidFill>
              </a:rPr>
              <a:t>Seed 2</a:t>
            </a:r>
            <a:endParaRPr lang="en-US" sz="1500" dirty="0"/>
          </a:p>
        </p:txBody>
      </p:sp>
      <p:sp>
        <p:nvSpPr>
          <p:cNvPr id="19" name="Text 17"/>
          <p:cNvSpPr txBox="1"/>
          <p:nvPr/>
        </p:nvSpPr>
        <p:spPr>
          <a:xfrm>
            <a:off x="7726680" y="5367528"/>
            <a:ext cx="1097280" cy="457200"/>
          </a:xfrm>
          <a:prstGeom prst="rect">
            <a:avLst/>
          </a:prstGeom>
          <a:noFill/>
          <a:ln/>
        </p:spPr>
        <p:txBody>
          <a:bodyPr wrap="square" lIns="0" tIns="0" rIns="0" bIns="0" rtlCol="0" anchor="ctr"/>
          <a:lstStyle/>
          <a:p>
            <a:pPr algn="r" indent="0" marL="0">
              <a:buNone/>
            </a:pPr>
            <a:r>
              <a:rPr lang="en-US" sz="1800" dirty="0">
                <a:solidFill>
                  <a:srgbClr val="5F6B7A"/>
                </a:solidFill>
              </a:rPr>
              <a:t>3,284</a:t>
            </a:r>
            <a:endParaRPr lang="en-US" sz="1800" dirty="0"/>
          </a:p>
        </p:txBody>
      </p:sp>
      <p:sp>
        <p:nvSpPr>
          <p:cNvPr id="20" name="Arrow"/>
          <p:cNvSpPr/>
          <p:nvPr/>
        </p:nvSpPr>
        <p:spPr>
          <a:xfrm>
            <a:off x="8961120" y="5486400"/>
            <a:ext cx="502920" cy="228600"/>
          </a:xfrm>
          <a:prstGeom prst="rightArrow">
            <a:avLst/>
          </a:prstGeom>
          <a:solidFill>
            <a:srgbClr val="B8C4D0"/>
          </a:solidFill>
          <a:ln w="12700">
            <a:solidFill>
              <a:srgbClr val="B8C4D0"/>
            </a:solidFill>
            <a:prstDash val="solid"/>
          </a:ln>
        </p:spPr>
      </p:sp>
      <p:sp>
        <p:nvSpPr>
          <p:cNvPr id="21" name="Text 19"/>
          <p:cNvSpPr txBox="1"/>
          <p:nvPr/>
        </p:nvSpPr>
        <p:spPr>
          <a:xfrm>
            <a:off x="9601200" y="5367528"/>
            <a:ext cx="1097280" cy="457200"/>
          </a:xfrm>
          <a:prstGeom prst="rect">
            <a:avLst/>
          </a:prstGeom>
          <a:noFill/>
          <a:ln/>
        </p:spPr>
        <p:txBody>
          <a:bodyPr wrap="square" lIns="0" tIns="0" rIns="0" bIns="0" rtlCol="0" anchor="ctr"/>
          <a:lstStyle/>
          <a:p>
            <a:pPr indent="0" marL="0">
              <a:buNone/>
            </a:pPr>
            <a:r>
              <a:rPr lang="en-US" sz="1800" b="1" dirty="0">
                <a:solidFill>
                  <a:schemeClr val="tx1"/>
                </a:solidFill>
              </a:rPr>
              <a:t>1,193</a:t>
            </a:r>
            <a:endParaRPr lang="en-US" sz="1800" dirty="0"/>
          </a:p>
        </p:txBody>
      </p:sp>
      <p:sp>
        <p:nvSpPr>
          <p:cNvPr id="22" name="Text 20"/>
          <p:cNvSpPr txBox="1"/>
          <p:nvPr/>
        </p:nvSpPr>
        <p:spPr>
          <a:xfrm>
            <a:off x="7726680" y="5788152"/>
            <a:ext cx="3291840" cy="274320"/>
          </a:xfrm>
          <a:prstGeom prst="rect">
            <a:avLst/>
          </a:prstGeom>
          <a:noFill/>
          <a:ln/>
        </p:spPr>
        <p:txBody>
          <a:bodyPr wrap="square" lIns="0" tIns="0" rIns="0" bIns="0" rtlCol="0" anchor="ctr"/>
          <a:lstStyle/>
          <a:p>
            <a:pPr indent="0" marL="0">
              <a:buNone/>
            </a:pPr>
            <a:r>
              <a:rPr lang="en-US" sz="1200" i="1" dirty="0">
                <a:solidFill>
                  <a:srgbClr val="5F6B7A"/>
                </a:solidFill>
              </a:rPr>
              <a:t>validation at 500K → final model</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indent="0" marL="0">
              <a:buNone/>
            </a:pPr>
            <a:r>
              <a:rPr lang="en-US" sz="3400" b="1" dirty="0">
                <a:solidFill>
                  <a:srgbClr val="16263D"/>
                </a:solidFill>
                <a:latin typeface="Cambria" pitchFamily="34" charset="0"/>
                <a:ea typeface="Cambria" pitchFamily="34" charset="-122"/>
                <a:cs typeface="Cambria" pitchFamily="34" charset="-120"/>
              </a:rPr>
              <a:t>Result 1: nominal performance</a:t>
            </a:r>
            <a:endParaRPr lang="en-US" sz="3400" dirty="0"/>
          </a:p>
        </p:txBody>
      </p:sp>
      <p:sp>
        <p:nvSpPr>
          <p:cNvPr id="3" name="Takeaway"/>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700" i="1" dirty="0">
                <a:solidFill>
                  <a:schemeClr val="accent1"/>
                </a:solidFill>
              </a:rPr>
              <a:t>SAC Nominal was the most reliable learner: all 3 seeds succeeded</a:t>
            </a:r>
            <a:endParaRPr lang="en-US" sz="1700" dirty="0"/>
          </a:p>
        </p:txBody>
      </p:sp>
      <p:graphicFrame>
        <p:nvGraphicFramePr>
          <p:cNvPr id="4" name="Nominal return per seed (mass 1.0, friction 1.0)" descr=""/>
          <p:cNvGraphicFramePr/>
          <p:nvPr/>
        </p:nvGraphicFramePr>
        <p:xfrm>
          <a:off x="548640" y="1600200"/>
          <a:ext cx="7406640" cy="4526280"/>
        </p:xfrm>
        <a:graphic xmlns:a="http://schemas.openxmlformats.org/drawingml/2006/main">
          <a:graphicData uri="http://schemas.openxmlformats.org/drawingml/2006/chart">
            <c:chart xmlns:c="http://schemas.openxmlformats.org/drawingml/2006/chart" r:id="rId1"/>
          </a:graphicData>
        </a:graphic>
      </p:graphicFrame>
      <p:sp>
        <p:nvSpPr>
          <p:cNvPr id="5" name="SAC callout"/>
          <p:cNvSpPr/>
          <p:nvPr/>
        </p:nvSpPr>
        <p:spPr>
          <a:xfrm>
            <a:off x="8229600" y="1691640"/>
            <a:ext cx="3383280" cy="1371600"/>
          </a:xfrm>
          <a:prstGeom prst="roundRect">
            <a:avLst>
              <a:gd name="adj" fmla="val 5333"/>
            </a:avLst>
          </a:prstGeom>
          <a:solidFill>
            <a:srgbClr val="EEF3F7"/>
          </a:solidFill>
          <a:ln w="12700">
            <a:solidFill>
              <a:srgbClr val="EEF3F7"/>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8412480" y="1783080"/>
            <a:ext cx="3063240" cy="1188720"/>
          </a:xfrm>
          <a:prstGeom prst="rect">
            <a:avLst/>
          </a:prstGeom>
          <a:noFill/>
          <a:ln/>
        </p:spPr>
        <p:txBody>
          <a:bodyPr wrap="square" lIns="0" tIns="0" rIns="0" bIns="0" rtlCol="0" anchor="ctr"/>
          <a:lstStyle/>
          <a:p>
            <a:pPr indent="0" marL="0">
              <a:buNone/>
            </a:pPr>
            <a:r>
              <a:rPr lang="en-US" sz="1600" b="1" dirty="0">
                <a:solidFill>
                  <a:schemeClr val="accent3"/>
                </a:solidFill>
              </a:rPr>
              <a:t>SAC Nominal</a:t>
            </a:r>
            <a:endParaRPr lang="en-US" sz="1600" dirty="0"/>
          </a:p>
          <a:p>
            <a:pPr indent="0" marL="0">
              <a:buNone/>
            </a:pPr>
            <a:r>
              <a:rPr lang="en-US" sz="1500" dirty="0">
                <a:solidFill>
                  <a:schemeClr val="tx1"/>
                </a:solidFill>
              </a:rPr>
              <a:t>3 of 3 seeds succeed · IQM 3,281</a:t>
            </a:r>
            <a:endParaRPr lang="en-US" sz="1600" dirty="0"/>
          </a:p>
          <a:p>
            <a:pPr indent="0" marL="0">
              <a:buNone/>
            </a:pPr>
            <a:r>
              <a:rPr lang="en-US" sz="1500" dirty="0">
                <a:solidFill>
                  <a:schemeClr val="tx1"/>
                </a:solidFill>
              </a:rPr>
              <a:t>100% nominal success</a:t>
            </a:r>
            <a:endParaRPr lang="en-US" sz="1600" dirty="0"/>
          </a:p>
        </p:txBody>
      </p:sp>
      <p:sp>
        <p:nvSpPr>
          <p:cNvPr id="7" name="PPO callout"/>
          <p:cNvSpPr/>
          <p:nvPr/>
        </p:nvSpPr>
        <p:spPr>
          <a:xfrm>
            <a:off x="8229600" y="3246120"/>
            <a:ext cx="3383280" cy="1371600"/>
          </a:xfrm>
          <a:prstGeom prst="roundRect">
            <a:avLst>
              <a:gd name="adj" fmla="val 5333"/>
            </a:avLst>
          </a:prstGeom>
          <a:solidFill>
            <a:srgbClr val="EEF3F7"/>
          </a:solidFill>
          <a:ln w="12700">
            <a:solidFill>
              <a:srgbClr val="EEF3F7"/>
            </a:solidFill>
            <a:prstDash val="solid"/>
          </a:ln>
          <a:effectLst>
            <a:outerShdw sx="100000" sy="100000" kx="0" ky="0" algn="bl" rotWithShape="0" blurRad="76200" dist="25400" dir="5400000">
              <a:srgbClr val="000000">
                <a:alpha val="12000"/>
              </a:srgbClr>
            </a:outerShdw>
          </a:effectLst>
        </p:spPr>
      </p:sp>
      <p:sp>
        <p:nvSpPr>
          <p:cNvPr id="8" name="Text 5"/>
          <p:cNvSpPr txBox="1"/>
          <p:nvPr/>
        </p:nvSpPr>
        <p:spPr>
          <a:xfrm>
            <a:off x="8412480" y="3337560"/>
            <a:ext cx="3063240" cy="1188720"/>
          </a:xfrm>
          <a:prstGeom prst="rect">
            <a:avLst/>
          </a:prstGeom>
          <a:noFill/>
          <a:ln/>
        </p:spPr>
        <p:txBody>
          <a:bodyPr wrap="square" lIns="0" tIns="0" rIns="0" bIns="0" rtlCol="0" anchor="ctr"/>
          <a:lstStyle/>
          <a:p>
            <a:pPr indent="0" marL="0">
              <a:buNone/>
            </a:pPr>
            <a:r>
              <a:rPr lang="en-US" sz="1600" b="1" dirty="0">
                <a:solidFill>
                  <a:schemeClr val="accent1"/>
                </a:solidFill>
              </a:rPr>
              <a:t>PPO Nominal</a:t>
            </a:r>
            <a:endParaRPr lang="en-US" sz="1600" dirty="0"/>
          </a:p>
          <a:p>
            <a:pPr indent="0" marL="0">
              <a:buNone/>
            </a:pPr>
            <a:r>
              <a:rPr lang="en-US" sz="1500" dirty="0">
                <a:solidFill>
                  <a:schemeClr val="tx1"/>
                </a:solidFill>
              </a:rPr>
              <a:t>2 of 3 seeds succeed · IQM 2,979</a:t>
            </a:r>
            <a:endParaRPr lang="en-US" sz="1600" dirty="0"/>
          </a:p>
          <a:p>
            <a:pPr indent="0" marL="0">
              <a:buNone/>
            </a:pPr>
            <a:r>
              <a:rPr lang="en-US" sz="1500" dirty="0">
                <a:solidFill>
                  <a:schemeClr val="tx1"/>
                </a:solidFill>
              </a:rPr>
              <a:t>Seed 0 collapsed late in training</a:t>
            </a:r>
            <a:endParaRPr lang="en-US" sz="1600" dirty="0"/>
          </a:p>
        </p:txBody>
      </p:sp>
      <p:sp>
        <p:nvSpPr>
          <p:cNvPr id="9" name="Randomized callout"/>
          <p:cNvSpPr/>
          <p:nvPr/>
        </p:nvSpPr>
        <p:spPr>
          <a:xfrm>
            <a:off x="8229600" y="4800600"/>
            <a:ext cx="3383280" cy="1325880"/>
          </a:xfrm>
          <a:prstGeom prst="roundRect">
            <a:avLst>
              <a:gd name="adj" fmla="val 5517"/>
            </a:avLst>
          </a:prstGeom>
          <a:solidFill>
            <a:srgbClr val="EEF3F7"/>
          </a:solidFill>
          <a:ln w="12700">
            <a:solidFill>
              <a:srgbClr val="EEF3F7"/>
            </a:solidFill>
            <a:prstDash val="solid"/>
          </a:ln>
          <a:effectLst>
            <a:outerShdw sx="100000" sy="100000" kx="0" ky="0" algn="bl" rotWithShape="0" blurRad="76200" dist="25400" dir="5400000">
              <a:srgbClr val="000000">
                <a:alpha val="12000"/>
              </a:srgbClr>
            </a:outerShdw>
          </a:effectLst>
        </p:spPr>
      </p:sp>
      <p:sp>
        <p:nvSpPr>
          <p:cNvPr id="10" name="Text 7"/>
          <p:cNvSpPr txBox="1"/>
          <p:nvPr/>
        </p:nvSpPr>
        <p:spPr>
          <a:xfrm>
            <a:off x="8412480" y="4892040"/>
            <a:ext cx="3063240" cy="1143000"/>
          </a:xfrm>
          <a:prstGeom prst="rect">
            <a:avLst/>
          </a:prstGeom>
          <a:noFill/>
          <a:ln/>
        </p:spPr>
        <p:txBody>
          <a:bodyPr wrap="square" lIns="0" tIns="0" rIns="0" bIns="0" rtlCol="0" anchor="ctr"/>
          <a:lstStyle/>
          <a:p>
            <a:pPr indent="0" marL="0">
              <a:buNone/>
            </a:pPr>
            <a:r>
              <a:rPr lang="en-US" sz="1600" b="1" dirty="0">
                <a:solidFill>
                  <a:schemeClr val="accent2"/>
                </a:solidFill>
              </a:rPr>
              <a:t>Randomized training</a:t>
            </a:r>
            <a:endParaRPr lang="en-US" sz="1600" dirty="0"/>
          </a:p>
          <a:p>
            <a:pPr indent="0" marL="0">
              <a:buNone/>
            </a:pPr>
            <a:r>
              <a:rPr lang="en-US" sz="1500" dirty="0">
                <a:solidFill>
                  <a:schemeClr val="tx1"/>
                </a:solidFill>
              </a:rPr>
              <a:t>One failed seed per algorithm (1,193 and 1,621)</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indent="0" marL="0">
              <a:buNone/>
            </a:pPr>
            <a:r>
              <a:rPr lang="en-US" sz="3400" b="1" dirty="0">
                <a:solidFill>
                  <a:srgbClr val="16263D"/>
                </a:solidFill>
                <a:latin typeface="Cambria" pitchFamily="34" charset="0"/>
                <a:ea typeface="Cambria" pitchFamily="34" charset="-122"/>
                <a:cs typeface="Cambria" pitchFamily="34" charset="-120"/>
              </a:rPr>
              <a:t>Result 2: robustness across 25 conditions</a:t>
            </a:r>
            <a:endParaRPr lang="en-US" sz="3400" dirty="0"/>
          </a:p>
        </p:txBody>
      </p:sp>
      <p:sp>
        <p:nvSpPr>
          <p:cNvPr id="3" name="Takeaway"/>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700" i="1" dirty="0">
                <a:solidFill>
                  <a:schemeClr val="accent1"/>
                </a:solidFill>
              </a:rPr>
              <a:t>One PPO Randomized seed was exceptional; the configuration as a whole was not</a:t>
            </a:r>
            <a:endParaRPr lang="en-US" sz="1700" dirty="0"/>
          </a:p>
        </p:txBody>
      </p:sp>
      <p:graphicFrame>
        <p:nvGraphicFramePr>
          <p:cNvPr id="4" name="Grid success rate per seed (%), all 25 conditions" descr=""/>
          <p:cNvGraphicFramePr/>
          <p:nvPr/>
        </p:nvGraphicFramePr>
        <p:xfrm>
          <a:off x="548640" y="1600200"/>
          <a:ext cx="7406640" cy="4526280"/>
        </p:xfrm>
        <a:graphic xmlns:a="http://schemas.openxmlformats.org/drawingml/2006/main">
          <a:graphicData uri="http://schemas.openxmlformats.org/drawingml/2006/chart">
            <c:chart xmlns:c="http://schemas.openxmlformats.org/drawingml/2006/chart" r:id="rId1"/>
          </a:graphicData>
        </a:graphic>
      </p:graphicFrame>
      <p:sp>
        <p:nvSpPr>
          <p:cNvPr id="5" name="Outlier callout"/>
          <p:cNvSpPr/>
          <p:nvPr/>
        </p:nvSpPr>
        <p:spPr>
          <a:xfrm>
            <a:off x="8229600" y="1691640"/>
            <a:ext cx="3383280" cy="1600200"/>
          </a:xfrm>
          <a:prstGeom prst="roundRect">
            <a:avLst>
              <a:gd name="adj" fmla="val 4571"/>
            </a:avLst>
          </a:prstGeom>
          <a:solidFill>
            <a:srgbClr val="FBEBDD"/>
          </a:solidFill>
          <a:ln w="12700">
            <a:solidFill>
              <a:srgbClr val="FBEBDD"/>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8412480" y="1783080"/>
            <a:ext cx="3063240" cy="1417320"/>
          </a:xfrm>
          <a:prstGeom prst="rect">
            <a:avLst/>
          </a:prstGeom>
          <a:noFill/>
          <a:ln/>
        </p:spPr>
        <p:txBody>
          <a:bodyPr wrap="square" lIns="0" tIns="0" rIns="0" bIns="0" rtlCol="0" anchor="ctr"/>
          <a:lstStyle/>
          <a:p>
            <a:pPr indent="0" marL="0">
              <a:buNone/>
            </a:pPr>
            <a:r>
              <a:rPr lang="en-US" sz="1600" b="1" dirty="0">
                <a:solidFill>
                  <a:schemeClr val="accent3"/>
                </a:solidFill>
              </a:rPr>
              <a:t>PPO Randomized, seed 1</a:t>
            </a:r>
            <a:endParaRPr lang="en-US" sz="1600" dirty="0"/>
          </a:p>
          <a:p>
            <a:pPr indent="0" marL="0">
              <a:buNone/>
            </a:pPr>
            <a:r>
              <a:rPr lang="en-US" sz="1500" dirty="0">
                <a:solidFill>
                  <a:schemeClr val="tx1"/>
                </a:solidFill>
              </a:rPr>
              <a:t>51% grid success: more than twice any other agent. Its other two seeds: 3% and 8%.</a:t>
            </a:r>
            <a:endParaRPr lang="en-US" sz="1600" dirty="0"/>
          </a:p>
        </p:txBody>
      </p:sp>
      <p:graphicFrame>
        <p:nvGraphicFramePr>
          <p:cNvPr id="13" name="Grid return table"/>
          <p:cNvGraphicFramePr>
            <a:graphicFrameLocks noGrp="1"/>
          </p:cNvGraphicFramePr>
          <p:nvPr>
            <p:extLst>
              <p:ext uri="{D42A27DB-BD31-4B8C-83A1-F6EECF244321}">
                <p14:modId xmlns:p14="http://schemas.microsoft.com/office/powerpoint/2010/main" val="1579011935"/>
              </p:ext>
            </p:extLst>
          </p:nvPr>
        </p:nvGraphicFramePr>
        <p:xfrm>
          <a:off x="8229600" y="3520440"/>
          <a:ext cx="3383280" cy="914400"/>
        </p:xfrm>
        <a:graphic>
          <a:graphicData uri="http://schemas.openxmlformats.org/drawingml/2006/table">
            <a:tbl>
              <a:tblPr/>
              <a:tblGrid>
                <a:gridCol w="1737360"/>
                <a:gridCol w="822960"/>
                <a:gridCol w="822960"/>
              </a:tblGrid>
              <a:tr h="41148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Grid return</a:t>
                      </a:r>
                      <a:endParaRPr lang="en-US" sz="1400" dirty="0">
                        <a:latin typeface="Calibri" charset="0"/>
                        <a:ea typeface="Calibri" charset="0"/>
                        <a:cs typeface="Calibri" charset="0"/>
                      </a:endParaRPr>
                    </a:p>
                  </a:txBody>
                  <a:tcPr marL="54864" marR="54864" marT="54864" marB="54864">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626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Mean</a:t>
                      </a:r>
                      <a:endParaRPr lang="en-US" sz="1400" dirty="0">
                        <a:latin typeface="Calibri" charset="0"/>
                        <a:ea typeface="Calibri" charset="0"/>
                        <a:cs typeface="Calibri" charset="0"/>
                      </a:endParaRPr>
                    </a:p>
                  </a:txBody>
                  <a:tcPr marL="54864" marR="54864" marT="54864" marB="54864">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626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IQM</a:t>
                      </a:r>
                      <a:endParaRPr lang="en-US" sz="1400" dirty="0">
                        <a:latin typeface="Calibri" charset="0"/>
                        <a:ea typeface="Calibri" charset="0"/>
                        <a:cs typeface="Calibri" charset="0"/>
                      </a:endParaRPr>
                    </a:p>
                  </a:txBody>
                  <a:tcPr marL="54864" marR="54864" marT="54864" marB="54864">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6263D"/>
                    </a:solidFill>
                  </a:tcPr>
                </a:tc>
              </a:tr>
              <a:tr h="411480">
                <a:tc>
                  <a:txBody>
                    <a:bodyPr/>
                    <a:lstStyle/>
                    <a:p>
                      <a:pPr algn="l" indent="0" marL="0">
                        <a:buNone/>
                      </a:pPr>
                      <a:r>
                        <a:rPr lang="en-US" sz="1400" dirty="0">
                          <a:solidFill>
                            <a:srgbClr val="1F2A37"/>
                          </a:solidFill>
                          <a:latin typeface="Calibri" pitchFamily="34" charset="0"/>
                          <a:ea typeface="Calibri" pitchFamily="34" charset="-122"/>
                          <a:cs typeface="Calibri" pitchFamily="34" charset="-120"/>
                        </a:rPr>
                        <a:t>PPO Nominal</a:t>
                      </a:r>
                      <a:endParaRPr lang="en-US" sz="1400" dirty="0">
                        <a:latin typeface="Calibri" charset="0"/>
                        <a:ea typeface="Calibri" charset="0"/>
                        <a:cs typeface="Calibri" charset="0"/>
                      </a:endParaRPr>
                    </a:p>
                  </a:txBody>
                  <a:tcPr marL="54864" marR="54864" marT="54864" marB="54864">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A37"/>
                          </a:solidFill>
                          <a:latin typeface="Calibri" pitchFamily="34" charset="0"/>
                          <a:ea typeface="Calibri" pitchFamily="34" charset="-122"/>
                          <a:cs typeface="Calibri" pitchFamily="34" charset="-120"/>
                        </a:rPr>
                        <a:t>993</a:t>
                      </a:r>
                      <a:endParaRPr lang="en-US" sz="1400" dirty="0">
                        <a:latin typeface="Calibri" charset="0"/>
                        <a:ea typeface="Calibri" charset="0"/>
                        <a:cs typeface="Calibri" charset="0"/>
                      </a:endParaRPr>
                    </a:p>
                  </a:txBody>
                  <a:tcPr marL="54864" marR="54864" marT="54864" marB="54864">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A37"/>
                          </a:solidFill>
                          <a:latin typeface="Calibri" pitchFamily="34" charset="0"/>
                          <a:ea typeface="Calibri" pitchFamily="34" charset="-122"/>
                          <a:cs typeface="Calibri" pitchFamily="34" charset="-120"/>
                        </a:rPr>
                        <a:t>969</a:t>
                      </a:r>
                      <a:endParaRPr lang="en-US" sz="1400" dirty="0">
                        <a:latin typeface="Calibri" charset="0"/>
                        <a:ea typeface="Calibri" charset="0"/>
                        <a:cs typeface="Calibri" charset="0"/>
                      </a:endParaRPr>
                    </a:p>
                  </a:txBody>
                  <a:tcPr marL="54864" marR="54864" marT="54864" marB="54864">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411480">
                <a:tc>
                  <a:txBody>
                    <a:bodyPr/>
                    <a:lstStyle/>
                    <a:p>
                      <a:pPr algn="l" indent="0" marL="0">
                        <a:buNone/>
                      </a:pPr>
                      <a:r>
                        <a:rPr lang="en-US" sz="1400" dirty="0">
                          <a:solidFill>
                            <a:srgbClr val="1F2A37"/>
                          </a:solidFill>
                          <a:latin typeface="Calibri" pitchFamily="34" charset="0"/>
                          <a:ea typeface="Calibri" pitchFamily="34" charset="-122"/>
                          <a:cs typeface="Calibri" pitchFamily="34" charset="-120"/>
                        </a:rPr>
                        <a:t>PPO Randomized</a:t>
                      </a:r>
                      <a:endParaRPr lang="en-US" sz="1400" dirty="0">
                        <a:latin typeface="Calibri" charset="0"/>
                        <a:ea typeface="Calibri" charset="0"/>
                        <a:cs typeface="Calibri" charset="0"/>
                      </a:endParaRPr>
                    </a:p>
                  </a:txBody>
                  <a:tcPr marL="54864" marR="54864" marT="54864" marB="54864">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A37"/>
                          </a:solidFill>
                          <a:latin typeface="Calibri" pitchFamily="34" charset="0"/>
                          <a:ea typeface="Calibri" pitchFamily="34" charset="-122"/>
                          <a:cs typeface="Calibri" pitchFamily="34" charset="-120"/>
                        </a:rPr>
                        <a:t>1,326</a:t>
                      </a:r>
                      <a:endParaRPr lang="en-US" sz="1400" dirty="0">
                        <a:latin typeface="Calibri" charset="0"/>
                        <a:ea typeface="Calibri" charset="0"/>
                        <a:cs typeface="Calibri" charset="0"/>
                      </a:endParaRPr>
                    </a:p>
                  </a:txBody>
                  <a:tcPr marL="54864" marR="54864" marT="54864" marB="54864">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A37"/>
                          </a:solidFill>
                          <a:latin typeface="Calibri" pitchFamily="34" charset="0"/>
                          <a:ea typeface="Calibri" pitchFamily="34" charset="-122"/>
                          <a:cs typeface="Calibri" pitchFamily="34" charset="-120"/>
                        </a:rPr>
                        <a:t>1,193</a:t>
                      </a:r>
                      <a:endParaRPr lang="en-US" sz="1400" dirty="0">
                        <a:latin typeface="Calibri" charset="0"/>
                        <a:ea typeface="Calibri" charset="0"/>
                        <a:cs typeface="Calibri" charset="0"/>
                      </a:endParaRPr>
                    </a:p>
                  </a:txBody>
                  <a:tcPr marL="54864" marR="54864" marT="54864" marB="54864">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411480">
                <a:tc>
                  <a:txBody>
                    <a:bodyPr/>
                    <a:lstStyle/>
                    <a:p>
                      <a:pPr algn="l" indent="0" marL="0">
                        <a:buNone/>
                      </a:pPr>
                      <a:r>
                        <a:rPr lang="en-US" sz="1400" dirty="0">
                          <a:solidFill>
                            <a:srgbClr val="1F2A37"/>
                          </a:solidFill>
                          <a:latin typeface="Calibri" pitchFamily="34" charset="0"/>
                          <a:ea typeface="Calibri" pitchFamily="34" charset="-122"/>
                          <a:cs typeface="Calibri" pitchFamily="34" charset="-120"/>
                        </a:rPr>
                        <a:t>SAC Nominal</a:t>
                      </a:r>
                      <a:endParaRPr lang="en-US" sz="1400" dirty="0">
                        <a:latin typeface="Calibri" charset="0"/>
                        <a:ea typeface="Calibri" charset="0"/>
                        <a:cs typeface="Calibri" charset="0"/>
                      </a:endParaRPr>
                    </a:p>
                  </a:txBody>
                  <a:tcPr marL="54864" marR="54864" marT="54864" marB="54864">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A37"/>
                          </a:solidFill>
                          <a:latin typeface="Calibri" pitchFamily="34" charset="0"/>
                          <a:ea typeface="Calibri" pitchFamily="34" charset="-122"/>
                          <a:cs typeface="Calibri" pitchFamily="34" charset="-120"/>
                        </a:rPr>
                        <a:t>1,012</a:t>
                      </a:r>
                      <a:endParaRPr lang="en-US" sz="1400" dirty="0">
                        <a:latin typeface="Calibri" charset="0"/>
                        <a:ea typeface="Calibri" charset="0"/>
                        <a:cs typeface="Calibri" charset="0"/>
                      </a:endParaRPr>
                    </a:p>
                  </a:txBody>
                  <a:tcPr marL="54864" marR="54864" marT="54864" marB="54864">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A37"/>
                          </a:solidFill>
                          <a:latin typeface="Calibri" pitchFamily="34" charset="0"/>
                          <a:ea typeface="Calibri" pitchFamily="34" charset="-122"/>
                          <a:cs typeface="Calibri" pitchFamily="34" charset="-120"/>
                        </a:rPr>
                        <a:t>1,032</a:t>
                      </a:r>
                      <a:endParaRPr lang="en-US" sz="1400" dirty="0">
                        <a:latin typeface="Calibri" charset="0"/>
                        <a:ea typeface="Calibri" charset="0"/>
                        <a:cs typeface="Calibri" charset="0"/>
                      </a:endParaRPr>
                    </a:p>
                  </a:txBody>
                  <a:tcPr marL="54864" marR="54864" marT="54864" marB="54864">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411480">
                <a:tc>
                  <a:txBody>
                    <a:bodyPr/>
                    <a:lstStyle/>
                    <a:p>
                      <a:pPr algn="l" indent="0" marL="0">
                        <a:buNone/>
                      </a:pPr>
                      <a:r>
                        <a:rPr lang="en-US" sz="1400" dirty="0">
                          <a:solidFill>
                            <a:srgbClr val="1F2A37"/>
                          </a:solidFill>
                          <a:latin typeface="Calibri" pitchFamily="34" charset="0"/>
                          <a:ea typeface="Calibri" pitchFamily="34" charset="-122"/>
                          <a:cs typeface="Calibri" pitchFamily="34" charset="-120"/>
                        </a:rPr>
                        <a:t>SAC Randomized</a:t>
                      </a:r>
                      <a:endParaRPr lang="en-US" sz="1400" dirty="0">
                        <a:latin typeface="Calibri" charset="0"/>
                        <a:ea typeface="Calibri" charset="0"/>
                        <a:cs typeface="Calibri" charset="0"/>
                      </a:endParaRPr>
                    </a:p>
                  </a:txBody>
                  <a:tcPr marL="54864" marR="54864" marT="54864" marB="54864">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A37"/>
                          </a:solidFill>
                          <a:latin typeface="Calibri" pitchFamily="34" charset="0"/>
                          <a:ea typeface="Calibri" pitchFamily="34" charset="-122"/>
                          <a:cs typeface="Calibri" pitchFamily="34" charset="-120"/>
                        </a:rPr>
                        <a:t>1,108</a:t>
                      </a:r>
                      <a:endParaRPr lang="en-US" sz="1400" dirty="0">
                        <a:latin typeface="Calibri" charset="0"/>
                        <a:ea typeface="Calibri" charset="0"/>
                        <a:cs typeface="Calibri" charset="0"/>
                      </a:endParaRPr>
                    </a:p>
                  </a:txBody>
                  <a:tcPr marL="54864" marR="54864" marT="54864" marB="54864">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A37"/>
                          </a:solidFill>
                          <a:latin typeface="Calibri" pitchFamily="34" charset="0"/>
                          <a:ea typeface="Calibri" pitchFamily="34" charset="-122"/>
                          <a:cs typeface="Calibri" pitchFamily="34" charset="-120"/>
                        </a:rPr>
                        <a:t>1,061</a:t>
                      </a:r>
                      <a:endParaRPr lang="en-US" sz="1400" dirty="0">
                        <a:latin typeface="Calibri" charset="0"/>
                        <a:ea typeface="Calibri" charset="0"/>
                        <a:cs typeface="Calibri" charset="0"/>
                      </a:endParaRPr>
                    </a:p>
                  </a:txBody>
                  <a:tcPr marL="54864" marR="54864" marT="54864" marB="54864">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8229600" y="5669280"/>
            <a:ext cx="3383280" cy="457200"/>
          </a:xfrm>
          <a:prstGeom prst="rect">
            <a:avLst/>
          </a:prstGeom>
          <a:noFill/>
          <a:ln/>
        </p:spPr>
        <p:txBody>
          <a:bodyPr wrap="square" lIns="0" tIns="0" rIns="0" bIns="0" rtlCol="0" anchor="ctr"/>
          <a:lstStyle/>
          <a:p>
            <a:pPr indent="0" marL="0">
              <a:buNone/>
            </a:pPr>
            <a:r>
              <a:rPr lang="en-US" sz="1200" i="1" dirty="0">
                <a:solidFill>
                  <a:srgbClr val="5F6B7A"/>
                </a:solidFill>
              </a:rPr>
              <a:t>The mean is pulled up by one seed; the IQM is the Part 1 metric.</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indent="0" marL="0">
              <a:buNone/>
            </a:pPr>
            <a:r>
              <a:rPr lang="en-US" sz="3400" b="1" dirty="0">
                <a:solidFill>
                  <a:srgbClr val="16263D"/>
                </a:solidFill>
                <a:latin typeface="Cambria" pitchFamily="34" charset="0"/>
                <a:ea typeface="Cambria" pitchFamily="34" charset="-122"/>
                <a:cs typeface="Cambria" pitchFamily="34" charset="-120"/>
              </a:rPr>
              <a:t>Where policies break</a:t>
            </a:r>
            <a:endParaRPr lang="en-US" sz="3400" dirty="0"/>
          </a:p>
        </p:txBody>
      </p:sp>
      <p:sp>
        <p:nvSpPr>
          <p:cNvPr id="3" name="Takeaway"/>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700" i="1" dirty="0">
                <a:solidFill>
                  <a:schemeClr val="accent1"/>
                </a:solidFill>
              </a:rPr>
              <a:t>High friction defeats every policy; randomized PPO has the widest working region</a:t>
            </a:r>
            <a:endParaRPr lang="en-US" sz="1700" dirty="0"/>
          </a:p>
        </p:txBody>
      </p:sp>
      <p:pic>
        <p:nvPicPr>
          <p:cNvPr id="4" name="Heatmap hm_ppo_nominal.png" descr="hm_ppo_nominal.png">    </p:cNvPr>
          <p:cNvPicPr>
            <a:picLocks noChangeAspect="1"/>
          </p:cNvPicPr>
          <p:nvPr/>
        </p:nvPicPr>
        <p:blipFill>
          <a:blip r:embed="rId1"/>
          <a:stretch>
            <a:fillRect/>
          </a:stretch>
        </p:blipFill>
        <p:spPr>
          <a:xfrm>
            <a:off x="548640" y="1572768"/>
            <a:ext cx="3017520" cy="2290815"/>
          </a:xfrm>
          <a:prstGeom prst="rect">
            <a:avLst/>
          </a:prstGeom>
        </p:spPr>
      </p:pic>
      <p:pic>
        <p:nvPicPr>
          <p:cNvPr id="5" name="Heatmap hm_ppo_randomized.png" descr="hm_ppo_randomized.png">    </p:cNvPr>
          <p:cNvPicPr>
            <a:picLocks noChangeAspect="1"/>
          </p:cNvPicPr>
          <p:nvPr/>
        </p:nvPicPr>
        <p:blipFill>
          <a:blip r:embed="rId2"/>
          <a:stretch>
            <a:fillRect/>
          </a:stretch>
        </p:blipFill>
        <p:spPr>
          <a:xfrm>
            <a:off x="3749040" y="1572768"/>
            <a:ext cx="3017520" cy="2290815"/>
          </a:xfrm>
          <a:prstGeom prst="rect">
            <a:avLst/>
          </a:prstGeom>
        </p:spPr>
      </p:pic>
      <p:pic>
        <p:nvPicPr>
          <p:cNvPr id="6" name="Heatmap hm_sac_nominal.png" descr="hm_sac_nominal.png">    </p:cNvPr>
          <p:cNvPicPr>
            <a:picLocks noChangeAspect="1"/>
          </p:cNvPicPr>
          <p:nvPr/>
        </p:nvPicPr>
        <p:blipFill>
          <a:blip r:embed="rId3"/>
          <a:stretch>
            <a:fillRect/>
          </a:stretch>
        </p:blipFill>
        <p:spPr>
          <a:xfrm>
            <a:off x="548640" y="4028175"/>
            <a:ext cx="3017520" cy="2290815"/>
          </a:xfrm>
          <a:prstGeom prst="rect">
            <a:avLst/>
          </a:prstGeom>
        </p:spPr>
      </p:pic>
      <p:pic>
        <p:nvPicPr>
          <p:cNvPr id="7" name="Heatmap hm_sac_randomized.png" descr="hm_sac_randomized.png">    </p:cNvPr>
          <p:cNvPicPr>
            <a:picLocks noChangeAspect="1"/>
          </p:cNvPicPr>
          <p:nvPr/>
        </p:nvPicPr>
        <p:blipFill>
          <a:blip r:embed="rId4"/>
          <a:stretch>
            <a:fillRect/>
          </a:stretch>
        </p:blipFill>
        <p:spPr>
          <a:xfrm>
            <a:off x="3749040" y="4028175"/>
            <a:ext cx="3017520" cy="2290815"/>
          </a:xfrm>
          <a:prstGeom prst="rect">
            <a:avLst/>
          </a:prstGeom>
        </p:spPr>
      </p:pic>
      <p:sp>
        <p:nvSpPr>
          <p:cNvPr id="8" name="What the maps show"/>
          <p:cNvSpPr/>
          <p:nvPr/>
        </p:nvSpPr>
        <p:spPr>
          <a:xfrm>
            <a:off x="7269480" y="1691640"/>
            <a:ext cx="4343400" cy="3840480"/>
          </a:xfrm>
          <a:prstGeom prst="roundRect">
            <a:avLst>
              <a:gd name="adj" fmla="val 1905"/>
            </a:avLst>
          </a:prstGeom>
          <a:solidFill>
            <a:srgbClr val="EEF3F7"/>
          </a:solidFill>
          <a:ln w="12700">
            <a:solidFill>
              <a:srgbClr val="EEF3F7"/>
            </a:solidFill>
            <a:prstDash val="solid"/>
          </a:ln>
          <a:effectLst>
            <a:outerShdw sx="100000" sy="100000" kx="0" ky="0" algn="bl" rotWithShape="0" blurRad="76200" dist="25400" dir="5400000">
              <a:srgbClr val="000000">
                <a:alpha val="12000"/>
              </a:srgbClr>
            </a:outerShdw>
          </a:effectLst>
        </p:spPr>
      </p:sp>
      <p:sp>
        <p:nvSpPr>
          <p:cNvPr id="9" name="Text 3"/>
          <p:cNvSpPr txBox="1"/>
          <p:nvPr/>
        </p:nvSpPr>
        <p:spPr>
          <a:xfrm>
            <a:off x="7498080" y="1828800"/>
            <a:ext cx="3931920" cy="3566160"/>
          </a:xfrm>
          <a:prstGeom prst="rect">
            <a:avLst/>
          </a:prstGeom>
          <a:noFill/>
          <a:ln/>
        </p:spPr>
        <p:txBody>
          <a:bodyPr wrap="square" lIns="0" tIns="0" rIns="0" bIns="0" rtlCol="0" anchor="t"/>
          <a:lstStyle/>
          <a:p>
            <a:pPr indent="0" marL="0">
              <a:spcAft>
                <a:spcPts val="900"/>
              </a:spcAft>
              <a:buNone/>
            </a:pPr>
            <a:r>
              <a:rPr lang="en-US" sz="1700" b="1" dirty="0">
                <a:solidFill>
                  <a:schemeClr val="accent1"/>
                </a:solidFill>
              </a:rPr>
              <a:t>What the maps show</a:t>
            </a:r>
            <a:endParaRPr lang="en-US" sz="1700" dirty="0"/>
          </a:p>
          <a:p>
            <a:pPr marL="342900" indent="-342900">
              <a:spcAft>
                <a:spcPts val="900"/>
              </a:spcAft>
              <a:buSzPct val="100000"/>
              <a:buChar char="•"/>
            </a:pPr>
            <a:r>
              <a:rPr lang="en-US" sz="1500" dirty="0">
                <a:solidFill>
                  <a:schemeClr val="tx1"/>
                </a:solidFill>
              </a:rPr>
              <a:t>High friction (1.5×) breaks every policy: every cell in that column scores below 600.</a:t>
            </a:r>
            <a:endParaRPr lang="en-US" sz="1700" dirty="0"/>
          </a:p>
          <a:p>
            <a:pPr marL="342900" indent="-342900">
              <a:spcAft>
                <a:spcPts val="900"/>
              </a:spcAft>
              <a:buSzPct val="100000"/>
              <a:buChar char="•"/>
            </a:pPr>
            <a:r>
              <a:rPr lang="en-US" sz="1500" dirty="0">
                <a:solidFill>
                  <a:schemeClr val="tx1"/>
                </a:solidFill>
              </a:rPr>
              <a:t>Nominal training gives a narrow peak: SAC Nominal scores 3,273 at the center but only 1,123–1,648 one step away in friction.</a:t>
            </a:r>
            <a:endParaRPr lang="en-US" sz="1700" dirty="0"/>
          </a:p>
          <a:p>
            <a:pPr marL="342900" indent="-342900">
              <a:spcAft>
                <a:spcPts val="900"/>
              </a:spcAft>
              <a:buSzPct val="100000"/>
              <a:buChar char="•"/>
            </a:pPr>
            <a:r>
              <a:rPr lang="en-US" sz="1500" dirty="0">
                <a:solidFill>
                  <a:schemeClr val="tx1"/>
                </a:solidFill>
              </a:rPr>
              <a:t>PPO Randomized keeps every in-distribution cell at 1,428 or above, the widest working region (helped most by seed 1).</a:t>
            </a:r>
            <a:endParaRPr lang="en-US" sz="1700" dirty="0"/>
          </a:p>
          <a:p>
            <a:pPr indent="0" marL="0">
              <a:spcAft>
                <a:spcPts val="900"/>
              </a:spcAft>
              <a:buNone/>
            </a:pPr>
            <a:r>
              <a:rPr lang="en-US" sz="1300" i="1" dirty="0">
                <a:solidFill>
                  <a:srgbClr val="5F6B7A"/>
                </a:solidFill>
              </a:rPr>
              <a:t>Rows: mass 0.6–1.4. Columns: friction 0.5–1.5. Red box: nominal.</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indent="0" marL="0">
              <a:buNone/>
            </a:pPr>
            <a:r>
              <a:rPr lang="en-US" sz="3400" b="1" dirty="0">
                <a:solidFill>
                  <a:srgbClr val="16263D"/>
                </a:solidFill>
                <a:latin typeface="Cambria" pitchFamily="34" charset="0"/>
                <a:ea typeface="Cambria" pitchFamily="34" charset="-122"/>
                <a:cs typeface="Cambria" pitchFamily="34" charset="-120"/>
              </a:rPr>
              <a:t>Result 3: what domain randomization changed</a:t>
            </a:r>
            <a:endParaRPr lang="en-US" sz="3400" dirty="0"/>
          </a:p>
        </p:txBody>
      </p:sp>
      <p:sp>
        <p:nvSpPr>
          <p:cNvPr id="3" name="Takeaway"/>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700" i="1" dirty="0">
                <a:solidFill>
                  <a:schemeClr val="accent1"/>
                </a:solidFill>
              </a:rPr>
              <a:t>Randomization raised out-of-distribution return, most consistently for SAC</a:t>
            </a:r>
            <a:endParaRPr lang="en-US" sz="1700" dirty="0"/>
          </a:p>
        </p:txBody>
      </p:sp>
      <p:graphicFrame>
        <p:nvGraphicFramePr>
          <p:cNvPr id="4" name="Out-of-distribution return per seed (16 outer cells)" descr=""/>
          <p:cNvGraphicFramePr/>
          <p:nvPr/>
        </p:nvGraphicFramePr>
        <p:xfrm>
          <a:off x="548640" y="1600200"/>
          <a:ext cx="7406640" cy="4526280"/>
        </p:xfrm>
        <a:graphic xmlns:a="http://schemas.openxmlformats.org/drawingml/2006/main">
          <a:graphicData uri="http://schemas.openxmlformats.org/drawingml/2006/chart">
            <c:chart xmlns:c="http://schemas.openxmlformats.org/drawingml/2006/chart" r:id="rId1"/>
          </a:graphicData>
        </a:graphic>
      </p:graphicFrame>
      <p:sp>
        <p:nvSpPr>
          <p:cNvPr id="5" name="SAC OOD callout"/>
          <p:cNvSpPr/>
          <p:nvPr/>
        </p:nvSpPr>
        <p:spPr>
          <a:xfrm>
            <a:off x="8229600" y="1691640"/>
            <a:ext cx="3383280" cy="1417320"/>
          </a:xfrm>
          <a:prstGeom prst="roundRect">
            <a:avLst>
              <a:gd name="adj" fmla="val 5161"/>
            </a:avLst>
          </a:prstGeom>
          <a:solidFill>
            <a:srgbClr val="EEF3F7"/>
          </a:solidFill>
          <a:ln w="12700">
            <a:solidFill>
              <a:srgbClr val="EEF3F7"/>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8412480" y="1783080"/>
            <a:ext cx="3063240" cy="1234440"/>
          </a:xfrm>
          <a:prstGeom prst="rect">
            <a:avLst/>
          </a:prstGeom>
          <a:noFill/>
          <a:ln/>
        </p:spPr>
        <p:txBody>
          <a:bodyPr wrap="square" lIns="0" tIns="0" rIns="0" bIns="0" rtlCol="0" anchor="ctr"/>
          <a:lstStyle/>
          <a:p>
            <a:pPr indent="0" marL="0">
              <a:buNone/>
            </a:pPr>
            <a:r>
              <a:rPr lang="en-US" sz="1600" b="1" dirty="0">
                <a:solidFill>
                  <a:schemeClr val="accent3"/>
                </a:solidFill>
              </a:rPr>
              <a:t>SAC</a:t>
            </a:r>
            <a:endParaRPr lang="en-US" sz="1600" dirty="0"/>
          </a:p>
          <a:p>
            <a:pPr indent="0" marL="0">
              <a:buNone/>
            </a:pPr>
            <a:r>
              <a:rPr lang="en-US" sz="1500" dirty="0">
                <a:solidFill>
                  <a:schemeClr val="tx1"/>
                </a:solidFill>
              </a:rPr>
              <a:t>Every randomized seed (803–923) beats every nominal seed (479–770).</a:t>
            </a:r>
            <a:endParaRPr lang="en-US" sz="1600" dirty="0"/>
          </a:p>
        </p:txBody>
      </p:sp>
      <p:sp>
        <p:nvSpPr>
          <p:cNvPr id="7" name="PPO OOD callout"/>
          <p:cNvSpPr/>
          <p:nvPr/>
        </p:nvSpPr>
        <p:spPr>
          <a:xfrm>
            <a:off x="8229600" y="3291840"/>
            <a:ext cx="3383280" cy="1417320"/>
          </a:xfrm>
          <a:prstGeom prst="roundRect">
            <a:avLst>
              <a:gd name="adj" fmla="val 5161"/>
            </a:avLst>
          </a:prstGeom>
          <a:solidFill>
            <a:srgbClr val="EEF3F7"/>
          </a:solidFill>
          <a:ln w="12700">
            <a:solidFill>
              <a:srgbClr val="EEF3F7"/>
            </a:solidFill>
            <a:prstDash val="solid"/>
          </a:ln>
          <a:effectLst>
            <a:outerShdw sx="100000" sy="100000" kx="0" ky="0" algn="bl" rotWithShape="0" blurRad="76200" dist="25400" dir="5400000">
              <a:srgbClr val="000000">
                <a:alpha val="12000"/>
              </a:srgbClr>
            </a:outerShdw>
          </a:effectLst>
        </p:spPr>
      </p:sp>
      <p:sp>
        <p:nvSpPr>
          <p:cNvPr id="8" name="Text 5"/>
          <p:cNvSpPr txBox="1"/>
          <p:nvPr/>
        </p:nvSpPr>
        <p:spPr>
          <a:xfrm>
            <a:off x="8412480" y="3383280"/>
            <a:ext cx="3063240" cy="1234440"/>
          </a:xfrm>
          <a:prstGeom prst="rect">
            <a:avLst/>
          </a:prstGeom>
          <a:noFill/>
          <a:ln/>
        </p:spPr>
        <p:txBody>
          <a:bodyPr wrap="square" lIns="0" tIns="0" rIns="0" bIns="0" rtlCol="0" anchor="ctr"/>
          <a:lstStyle/>
          <a:p>
            <a:pPr indent="0" marL="0">
              <a:buNone/>
            </a:pPr>
            <a:r>
              <a:rPr lang="en-US" sz="1600" b="1" dirty="0">
                <a:solidFill>
                  <a:schemeClr val="accent1"/>
                </a:solidFill>
              </a:rPr>
              <a:t>PPO</a:t>
            </a:r>
            <a:endParaRPr lang="en-US" sz="1600" dirty="0"/>
          </a:p>
          <a:p>
            <a:pPr indent="0" marL="0">
              <a:buNone/>
            </a:pPr>
            <a:r>
              <a:rPr lang="en-US" sz="1500" dirty="0">
                <a:solidFill>
                  <a:schemeClr val="tx1"/>
                </a:solidFill>
              </a:rPr>
              <a:t>IQM 956 vs. 700, but the seed ranges overlap.</a:t>
            </a:r>
            <a:endParaRPr lang="en-US" sz="1600" dirty="0"/>
          </a:p>
        </p:txBody>
      </p:sp>
      <p:sp>
        <p:nvSpPr>
          <p:cNvPr id="9" name="Not solved callout"/>
          <p:cNvSpPr/>
          <p:nvPr/>
        </p:nvSpPr>
        <p:spPr>
          <a:xfrm>
            <a:off x="8229600" y="4892040"/>
            <a:ext cx="3383280" cy="1234440"/>
          </a:xfrm>
          <a:prstGeom prst="roundRect">
            <a:avLst>
              <a:gd name="adj" fmla="val 5926"/>
            </a:avLst>
          </a:prstGeom>
          <a:solidFill>
            <a:srgbClr val="FBEBDD"/>
          </a:solidFill>
          <a:ln w="12700">
            <a:solidFill>
              <a:srgbClr val="FBEBDD"/>
            </a:solidFill>
            <a:prstDash val="solid"/>
          </a:ln>
          <a:effectLst>
            <a:outerShdw sx="100000" sy="100000" kx="0" ky="0" algn="bl" rotWithShape="0" blurRad="76200" dist="25400" dir="5400000">
              <a:srgbClr val="000000">
                <a:alpha val="12000"/>
              </a:srgbClr>
            </a:outerShdw>
          </a:effectLst>
        </p:spPr>
      </p:sp>
      <p:sp>
        <p:nvSpPr>
          <p:cNvPr id="10" name="Text 7"/>
          <p:cNvSpPr txBox="1"/>
          <p:nvPr/>
        </p:nvSpPr>
        <p:spPr>
          <a:xfrm>
            <a:off x="8412480" y="4983480"/>
            <a:ext cx="3063240" cy="1051560"/>
          </a:xfrm>
          <a:prstGeom prst="rect">
            <a:avLst/>
          </a:prstGeom>
          <a:noFill/>
          <a:ln/>
        </p:spPr>
        <p:txBody>
          <a:bodyPr wrap="square" lIns="0" tIns="0" rIns="0" bIns="0" rtlCol="0" anchor="ctr"/>
          <a:lstStyle/>
          <a:p>
            <a:pPr indent="0" marL="0">
              <a:buNone/>
            </a:pPr>
            <a:r>
              <a:rPr lang="en-US" sz="1600" b="1" dirty="0">
                <a:solidFill>
                  <a:schemeClr val="accent5"/>
                </a:solidFill>
              </a:rPr>
              <a:t>Not solved</a:t>
            </a:r>
            <a:endParaRPr lang="en-US" sz="1600" dirty="0"/>
          </a:p>
          <a:p>
            <a:pPr indent="0" marL="0">
              <a:buNone/>
            </a:pPr>
            <a:r>
              <a:rPr lang="en-US" sz="1500" dirty="0">
                <a:solidFill>
                  <a:schemeClr val="tx1"/>
                </a:solidFill>
              </a:rPr>
              <a:t>Best OOD success IQM: only 9%.</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indent="0" marL="0">
              <a:buNone/>
            </a:pPr>
            <a:r>
              <a:rPr lang="en-US" sz="3400" b="1" dirty="0">
                <a:solidFill>
                  <a:srgbClr val="16263D"/>
                </a:solidFill>
                <a:latin typeface="Cambria" pitchFamily="34" charset="0"/>
                <a:ea typeface="Cambria" pitchFamily="34" charset="-122"/>
                <a:cs typeface="Cambria" pitchFamily="34" charset="-120"/>
              </a:rPr>
              <a:t>Hypothesis scorecard</a:t>
            </a:r>
            <a:endParaRPr lang="en-US" sz="3400" dirty="0"/>
          </a:p>
        </p:txBody>
      </p:sp>
      <p:sp>
        <p:nvSpPr>
          <p:cNvPr id="3" name="Takeaway"/>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700" i="1" dirty="0">
                <a:solidFill>
                  <a:schemeClr val="accent1"/>
                </a:solidFill>
              </a:rPr>
              <a:t>Brittleness is confirmed; the benefits of SAC and randomization hold only partly</a:t>
            </a:r>
            <a:endParaRPr lang="en-US" sz="1700" dirty="0"/>
          </a:p>
        </p:txBody>
      </p:sp>
      <p:graphicFrame>
        <p:nvGraphicFramePr>
          <p:cNvPr id="16" name="Scorecard"/>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822960"/>
                <a:gridCol w="3017520"/>
                <a:gridCol w="5486400"/>
                <a:gridCol w="1737360"/>
              </a:tblGrid>
              <a:tr h="457200">
                <a:tc>
                  <a:txBody>
                    <a:bodyPr/>
                    <a:lstStyle/>
                    <a:p>
                      <a:pPr indent="0" marL="0">
                        <a:buNone/>
                      </a:pP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626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Prediction</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626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Evidence (IQM across seeds)</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626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Verdict</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6263D"/>
                    </a:solidFill>
                  </a:tcPr>
                </a:tc>
              </a:tr>
              <a:tr h="914400">
                <a:tc>
                  <a:txBody>
                    <a:bodyPr/>
                    <a:lstStyle/>
                    <a:p>
                      <a:pPr indent="0" marL="0">
                        <a:buNone/>
                      </a:pPr>
                      <a:r>
                        <a:rPr lang="en-US" sz="1400" b="1" dirty="0">
                          <a:solidFill>
                            <a:srgbClr val="1F2A37"/>
                          </a:solidFill>
                          <a:latin typeface="Calibri" pitchFamily="34" charset="0"/>
                          <a:ea typeface="Calibri" pitchFamily="34" charset="-122"/>
                          <a:cs typeface="Calibri" pitchFamily="34" charset="-120"/>
                        </a:rPr>
                        <a:t>H1</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SAC learns faster than PPO</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Curve area 2,293 vs. 1,871; return 1,500 by 75–125K vs. 75–225K (SAC: 2 complete seeds)</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Directional</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C9932E"/>
                    </a:solidFill>
                  </a:tcPr>
                </a:tc>
              </a:tr>
              <a:tr h="777240">
                <a:tc>
                  <a:txBody>
                    <a:bodyPr/>
                    <a:lstStyle/>
                    <a:p>
                      <a:pPr indent="0" marL="0">
                        <a:buNone/>
                      </a:pPr>
                      <a:r>
                        <a:rPr lang="en-US" sz="1400" b="1" dirty="0">
                          <a:solidFill>
                            <a:srgbClr val="1F2A37"/>
                          </a:solidFill>
                          <a:latin typeface="Calibri" pitchFamily="34" charset="0"/>
                          <a:ea typeface="Calibri" pitchFamily="34" charset="-122"/>
                          <a:cs typeface="Calibri" pitchFamily="34" charset="-120"/>
                        </a:rPr>
                        <a:t>H2</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Nominal policies keep &lt; 70% of return OOD</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Robustness ratio PPO 0.28, SAC 0.22; OOD success 2%</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Supported</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2E8B57"/>
                    </a:solidFill>
                  </a:tcPr>
                </a:tc>
              </a:tr>
              <a:tr h="1051560">
                <a:tc>
                  <a:txBody>
                    <a:bodyPr/>
                    <a:lstStyle/>
                    <a:p>
                      <a:pPr indent="0" marL="0">
                        <a:buNone/>
                      </a:pPr>
                      <a:r>
                        <a:rPr lang="en-US" sz="1400" b="1" dirty="0">
                          <a:solidFill>
                            <a:srgbClr val="1F2A37"/>
                          </a:solidFill>
                          <a:latin typeface="Calibri" pitchFamily="34" charset="0"/>
                          <a:ea typeface="Calibri" pitchFamily="34" charset="-122"/>
                          <a:cs typeface="Calibri" pitchFamily="34" charset="-120"/>
                        </a:rPr>
                        <a:t>H3</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Randomization raises robustness at &lt; 10% nominal cost</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Ratio 0.28→0.42 (PPO), 0.22→0.32 (SAC); OOD success 2→9%, 2→7%; nominal loss 5.5% (PPO), 10.7% (SAC)</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Partly</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C9932E"/>
                    </a:solidFill>
                  </a:tcPr>
                </a:tc>
              </a:tr>
              <a:tr h="822960">
                <a:tc>
                  <a:txBody>
                    <a:bodyPr/>
                    <a:lstStyle/>
                    <a:p>
                      <a:pPr indent="0" marL="0">
                        <a:buNone/>
                      </a:pPr>
                      <a:r>
                        <a:rPr lang="en-US" sz="1400" b="1" dirty="0">
                          <a:solidFill>
                            <a:srgbClr val="1F2A37"/>
                          </a:solidFill>
                          <a:latin typeface="Calibri" pitchFamily="34" charset="0"/>
                          <a:ea typeface="Calibri" pitchFamily="34" charset="-122"/>
                          <a:cs typeface="Calibri" pitchFamily="34" charset="-120"/>
                        </a:rPr>
                        <a:t>Goal</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IQM nominal return ≥ 1,500 and success ≥ 80%</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A37"/>
                          </a:solidFill>
                          <a:latin typeface="Calibri" pitchFamily="34" charset="0"/>
                          <a:ea typeface="Calibri" pitchFamily="34" charset="-122"/>
                          <a:cs typeface="Calibri" pitchFamily="34" charset="-120"/>
                        </a:rPr>
                        <a:t>PPO 2,979 and 83%; SAC 3,281 and 100%; all 4 conditions × 3 seeds tested</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Met</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2E8B57"/>
                    </a:solidFill>
                  </a:tcPr>
                </a:tc>
              </a:tr>
            </a:tbl>
          </a:graphicData>
        </a:graphic>
      </p:graphicFrame>
      <p:sp>
        <p:nvSpPr>
          <p:cNvPr id="5" name="Text 2"/>
          <p:cNvSpPr txBox="1"/>
          <p:nvPr/>
        </p:nvSpPr>
        <p:spPr>
          <a:xfrm>
            <a:off x="548640" y="5806440"/>
            <a:ext cx="11064240" cy="411480"/>
          </a:xfrm>
          <a:prstGeom prst="rect">
            <a:avLst/>
          </a:prstGeom>
          <a:noFill/>
          <a:ln/>
        </p:spPr>
        <p:txBody>
          <a:bodyPr wrap="square" lIns="0" tIns="0" rIns="0" bIns="0" rtlCol="0" anchor="ctr"/>
          <a:lstStyle/>
          <a:p>
            <a:pPr indent="0" marL="0">
              <a:buNone/>
            </a:pPr>
            <a:r>
              <a:rPr lang="en-US" sz="1200" i="1" dirty="0">
                <a:solidFill>
                  <a:srgbClr val="5F6B7A"/>
                </a:solidFill>
              </a:rPr>
              <a:t>Ratios include failed seeds as computed in the pre-specified analysis, which inflates them; among seeds that learned to hop, every ratio is ≤ 0.37.</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indent="0" marL="0">
              <a:buNone/>
            </a:pPr>
            <a:r>
              <a:rPr lang="en-US" sz="3400" b="1" dirty="0">
                <a:solidFill>
                  <a:srgbClr val="16263D"/>
                </a:solidFill>
                <a:latin typeface="Cambria" pitchFamily="34" charset="0"/>
                <a:ea typeface="Cambria" pitchFamily="34" charset="-122"/>
                <a:cs typeface="Cambria" pitchFamily="34" charset="-120"/>
              </a:rPr>
              <a:t>Demonstration: trained policies in Hopper-v5</a:t>
            </a:r>
            <a:endParaRPr lang="en-US" sz="3400" dirty="0"/>
          </a:p>
        </p:txBody>
      </p:sp>
      <p:sp>
        <p:nvSpPr>
          <p:cNvPr id="3" name="Takeaway"/>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700" i="1" dirty="0">
                <a:solidFill>
                  <a:schemeClr val="accent1"/>
                </a:solidFill>
              </a:rPr>
              <a:t>Both walk at nominal physics; at 1.4× mass and 1.5× friction both fail, PPO Randomized later</a:t>
            </a:r>
            <a:endParaRPr lang="en-US" sz="1700" dirty="0"/>
          </a:p>
        </p:txBody>
      </p:sp>
      <p:pic>
        <p:nvPicPr>
          <p:cNvPr id="3" name="demo_nominal.mp4">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572768"/>
            <a:ext cx="6400800" cy="2100263"/>
          </a:xfrm>
          <a:prstGeom prst="rect">
            <a:avLst/>
          </a:prstGeom>
        </p:spPr>
      </p:pic>
      <p:sp>
        <p:nvSpPr>
          <p:cNvPr id="5" name="Text 2"/>
          <p:cNvSpPr txBox="1"/>
          <p:nvPr/>
        </p:nvSpPr>
        <p:spPr>
          <a:xfrm>
            <a:off x="7269480" y="1572768"/>
            <a:ext cx="4343400" cy="2100263"/>
          </a:xfrm>
          <a:prstGeom prst="rect">
            <a:avLst/>
          </a:prstGeom>
          <a:noFill/>
          <a:ln/>
        </p:spPr>
        <p:txBody>
          <a:bodyPr wrap="square" lIns="0" tIns="0" rIns="0" bIns="0" rtlCol="0" anchor="ctr"/>
          <a:lstStyle/>
          <a:p>
            <a:pPr indent="0" marL="0">
              <a:spcAft>
                <a:spcPts val="600"/>
              </a:spcAft>
              <a:buNone/>
            </a:pPr>
            <a:r>
              <a:rPr lang="en-US" sz="1600" b="1" dirty="0">
                <a:solidFill>
                  <a:schemeClr val="accent1"/>
                </a:solidFill>
              </a:rPr>
              <a:t>Nominal dynamics · real time</a:t>
            </a:r>
            <a:endParaRPr lang="en-US" sz="1600" dirty="0"/>
          </a:p>
          <a:p>
            <a:pPr indent="0" marL="0">
              <a:spcAft>
                <a:spcPts val="600"/>
              </a:spcAft>
              <a:buNone/>
            </a:pPr>
            <a:r>
              <a:rPr lang="en-US" sz="1400" dirty="0">
                <a:solidFill>
                  <a:schemeClr val="tx1"/>
                </a:solidFill>
              </a:rPr>
              <a:t>SAC Nominal: 1,000 steps · 18.64 m · return 3,330</a:t>
            </a:r>
            <a:endParaRPr lang="en-US" sz="1600" dirty="0"/>
          </a:p>
          <a:p>
            <a:pPr indent="0" marL="0">
              <a:spcAft>
                <a:spcPts val="600"/>
              </a:spcAft>
              <a:buNone/>
            </a:pPr>
            <a:r>
              <a:rPr lang="en-US" sz="1400" dirty="0">
                <a:solidFill>
                  <a:schemeClr val="tx1"/>
                </a:solidFill>
              </a:rPr>
              <a:t>PPO Randomized: 1,000 steps · 19.24 m · return 3,404</a:t>
            </a:r>
            <a:endParaRPr lang="en-US" sz="1600" dirty="0"/>
          </a:p>
        </p:txBody>
      </p:sp>
      <p:pic>
        <p:nvPicPr>
          <p:cNvPr id="6" name="demo_severe_ood_slowmo.mp4">
            <a:hlinkClick r:id="" action="ppaction://media"/>
          </p:cNvPr>
          <p:cNvPicPr>
            <a:picLocks noChangeAspect="1"/>
          </p:cNvPicPr>
          <p:nvPr>
            <a:videoFile r:link="rId4"/>
            <p:extLst>
              <p:ext uri="{DAA4B4D4-6D71-4841-9C94-3DE7FCFB9230}">
                <p14:media xmlns:p14="http://schemas.microsoft.com/office/powerpoint/2010/main" r:embed="rId5"/>
              </p:ext>
            </p:extLst>
          </p:nvPr>
        </p:nvPicPr>
        <p:blipFill>
          <a:blip r:embed="rId6"/>
          <a:stretch>
            <a:fillRect/>
          </a:stretch>
        </p:blipFill>
        <p:spPr>
          <a:xfrm>
            <a:off x="548640" y="3855911"/>
            <a:ext cx="6400800" cy="2100263"/>
          </a:xfrm>
          <a:prstGeom prst="rect">
            <a:avLst/>
          </a:prstGeom>
        </p:spPr>
      </p:pic>
      <p:sp>
        <p:nvSpPr>
          <p:cNvPr id="7" name="Text 3"/>
          <p:cNvSpPr txBox="1"/>
          <p:nvPr/>
        </p:nvSpPr>
        <p:spPr>
          <a:xfrm>
            <a:off x="7269480" y="3855911"/>
            <a:ext cx="4343400" cy="2100263"/>
          </a:xfrm>
          <a:prstGeom prst="rect">
            <a:avLst/>
          </a:prstGeom>
          <a:noFill/>
          <a:ln/>
        </p:spPr>
        <p:txBody>
          <a:bodyPr wrap="square" lIns="0" tIns="0" rIns="0" bIns="0" rtlCol="0" anchor="ctr"/>
          <a:lstStyle/>
          <a:p>
            <a:pPr indent="0" marL="0">
              <a:spcAft>
                <a:spcPts val="600"/>
              </a:spcAft>
              <a:buNone/>
            </a:pPr>
            <a:r>
              <a:rPr lang="en-US" sz="1600" b="1" dirty="0">
                <a:solidFill>
                  <a:schemeClr val="accent1"/>
                </a:solidFill>
              </a:rPr>
              <a:t>Severe OOD: mass 1.4×, friction 1.5× · 3× slow motion</a:t>
            </a:r>
            <a:endParaRPr lang="en-US" sz="1600" dirty="0"/>
          </a:p>
          <a:p>
            <a:pPr indent="0" marL="0">
              <a:spcAft>
                <a:spcPts val="600"/>
              </a:spcAft>
              <a:buNone/>
            </a:pPr>
            <a:r>
              <a:rPr lang="en-US" sz="1400" dirty="0">
                <a:solidFill>
                  <a:schemeClr val="tx1"/>
                </a:solidFill>
              </a:rPr>
              <a:t>SAC Nominal: falls at step 153 · 2.04 m</a:t>
            </a:r>
            <a:endParaRPr lang="en-US" sz="1600" dirty="0"/>
          </a:p>
          <a:p>
            <a:pPr indent="0" marL="0">
              <a:spcAft>
                <a:spcPts val="600"/>
              </a:spcAft>
              <a:buNone/>
            </a:pPr>
            <a:r>
              <a:rPr lang="en-US" sz="1400" dirty="0">
                <a:solidFill>
                  <a:schemeClr val="tx1"/>
                </a:solidFill>
              </a:rPr>
              <a:t>PPO Randomized: falls at step 223 · 4.05 m</a:t>
            </a:r>
            <a:endParaRPr lang="en-US" sz="1600" dirty="0"/>
          </a:p>
        </p:txBody>
      </p:sp>
      <p:sp>
        <p:nvSpPr>
          <p:cNvPr id="8" name="Text 4"/>
          <p:cNvSpPr txBox="1"/>
          <p:nvPr/>
        </p:nvSpPr>
        <p:spPr>
          <a:xfrm>
            <a:off x="548640" y="6035040"/>
            <a:ext cx="11064240" cy="320040"/>
          </a:xfrm>
          <a:prstGeom prst="rect">
            <a:avLst/>
          </a:prstGeom>
          <a:noFill/>
          <a:ln/>
        </p:spPr>
        <p:txBody>
          <a:bodyPr wrap="square" lIns="0" tIns="0" rIns="0" bIns="0" rtlCol="0" anchor="ctr"/>
          <a:lstStyle/>
          <a:p>
            <a:pPr indent="0" marL="0">
              <a:buNone/>
            </a:pPr>
            <a:r>
              <a:rPr lang="en-US" sz="1200" i="1" dirty="0">
                <a:solidFill>
                  <a:srgbClr val="5F6B7A"/>
                </a:solidFill>
              </a:rPr>
              <a:t>Actual deterministic rollouts of the trained policies, drawn from MuJoCo simulation state. Best seed of each configuration; conclusions rest on the full 3,000-episode grid.</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indent="0" marL="0">
              <a:buNone/>
            </a:pPr>
            <a:r>
              <a:rPr lang="en-US" sz="3400" b="1" dirty="0">
                <a:solidFill>
                  <a:srgbClr val="16263D"/>
                </a:solidFill>
                <a:latin typeface="Cambria" pitchFamily="34" charset="0"/>
                <a:ea typeface="Cambria" pitchFamily="34" charset="-122"/>
                <a:cs typeface="Cambria" pitchFamily="34" charset="-120"/>
              </a:rPr>
              <a:t>Ethical and practical considerations</a:t>
            </a:r>
            <a:endParaRPr lang="en-US" sz="3400" dirty="0"/>
          </a:p>
        </p:txBody>
      </p:sp>
      <p:sp>
        <p:nvSpPr>
          <p:cNvPr id="3" name="Takeaway"/>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700" i="1" dirty="0">
                <a:solidFill>
                  <a:schemeClr val="accent1"/>
                </a:solidFill>
              </a:rPr>
              <a:t>Simulation robustness is evidence, not a safety guarantee</a:t>
            </a:r>
            <a:endParaRPr lang="en-US" sz="1700" dirty="0"/>
          </a:p>
        </p:txBody>
      </p:sp>
      <p:sp>
        <p:nvSpPr>
          <p:cNvPr id="4" name="Safety"/>
          <p:cNvSpPr/>
          <p:nvPr/>
        </p:nvSpPr>
        <p:spPr>
          <a:xfrm>
            <a:off x="548640" y="1691640"/>
            <a:ext cx="5440680" cy="2057400"/>
          </a:xfrm>
          <a:prstGeom prst="roundRect">
            <a:avLst>
              <a:gd name="adj" fmla="val 3556"/>
            </a:avLst>
          </a:prstGeom>
          <a:solidFill>
            <a:srgbClr val="EEF3F7"/>
          </a:solidFill>
          <a:ln w="12700">
            <a:solidFill>
              <a:srgbClr val="EEF3F7"/>
            </a:solidFill>
            <a:prstDash val="solid"/>
          </a:ln>
          <a:effectLst>
            <a:outerShdw sx="100000" sy="100000" kx="0" ky="0" algn="bl" rotWithShape="0" blurRad="76200" dist="25400" dir="5400000">
              <a:srgbClr val="000000">
                <a:alpha val="12000"/>
              </a:srgbClr>
            </a:outerShdw>
          </a:effectLst>
        </p:spPr>
      </p:sp>
      <p:sp>
        <p:nvSpPr>
          <p:cNvPr id="5" name="Badge S"/>
          <p:cNvSpPr/>
          <p:nvPr/>
        </p:nvSpPr>
        <p:spPr>
          <a:xfrm>
            <a:off x="822960" y="1947672"/>
            <a:ext cx="566928" cy="566928"/>
          </a:xfrm>
          <a:prstGeom prst="ellipse">
            <a:avLst/>
          </a:prstGeom>
          <a:solidFill>
            <a:srgbClr val="B83B3B"/>
          </a:solidFill>
          <a:ln w="12700">
            <a:solidFill>
              <a:srgbClr val="B83B3B"/>
            </a:solidFill>
            <a:prstDash val="solid"/>
          </a:ln>
        </p:spPr>
      </p:sp>
      <p:sp>
        <p:nvSpPr>
          <p:cNvPr id="6" name="Text 4"/>
          <p:cNvSpPr txBox="1"/>
          <p:nvPr/>
        </p:nvSpPr>
        <p:spPr>
          <a:xfrm>
            <a:off x="822960" y="1947672"/>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rPr>
              <a:t>S</a:t>
            </a:r>
            <a:endParaRPr lang="en-US" sz="1600" dirty="0"/>
          </a:p>
        </p:txBody>
      </p:sp>
      <p:sp>
        <p:nvSpPr>
          <p:cNvPr id="7" name="Text 5"/>
          <p:cNvSpPr txBox="1"/>
          <p:nvPr/>
        </p:nvSpPr>
        <p:spPr>
          <a:xfrm>
            <a:off x="1600200" y="1947672"/>
            <a:ext cx="4206240" cy="566928"/>
          </a:xfrm>
          <a:prstGeom prst="rect">
            <a:avLst/>
          </a:prstGeom>
          <a:noFill/>
          <a:ln/>
        </p:spPr>
        <p:txBody>
          <a:bodyPr wrap="square" lIns="0" tIns="0" rIns="0" bIns="0" rtlCol="0" anchor="ctr"/>
          <a:lstStyle/>
          <a:p>
            <a:pPr indent="0" marL="0">
              <a:buNone/>
            </a:pPr>
            <a:r>
              <a:rPr lang="en-US" sz="1800" b="1" dirty="0">
                <a:solidFill>
                  <a:srgbClr val="B83B3B"/>
                </a:solidFill>
              </a:rPr>
              <a:t>Safety</a:t>
            </a:r>
            <a:endParaRPr lang="en-US" sz="1800" dirty="0"/>
          </a:p>
        </p:txBody>
      </p:sp>
      <p:sp>
        <p:nvSpPr>
          <p:cNvPr id="8" name="Text 6"/>
          <p:cNvSpPr txBox="1"/>
          <p:nvPr/>
        </p:nvSpPr>
        <p:spPr>
          <a:xfrm>
            <a:off x="822960" y="2606040"/>
            <a:ext cx="4937760" cy="1051560"/>
          </a:xfrm>
          <a:prstGeom prst="rect">
            <a:avLst/>
          </a:prstGeom>
          <a:noFill/>
          <a:ln/>
        </p:spPr>
        <p:txBody>
          <a:bodyPr wrap="square" lIns="0" tIns="0" rIns="0" bIns="0" rtlCol="0" anchor="t"/>
          <a:lstStyle/>
          <a:p>
            <a:pPr indent="0" marL="0">
              <a:buNone/>
            </a:pPr>
            <a:r>
              <a:rPr lang="en-US" sz="1500" dirty="0">
                <a:solidFill>
                  <a:schemeClr val="tx1"/>
                </a:solidFill>
              </a:rPr>
              <a:t>A policy that fails at 1.4× mass in simulation could damage hardware or injure people on a real robot. Deployment would need safety constraints, staged testing and human oversight.</a:t>
            </a:r>
            <a:endParaRPr lang="en-US" sz="1500" dirty="0"/>
          </a:p>
        </p:txBody>
      </p:sp>
      <p:sp>
        <p:nvSpPr>
          <p:cNvPr id="9" name="Reliability and accountability"/>
          <p:cNvSpPr/>
          <p:nvPr/>
        </p:nvSpPr>
        <p:spPr>
          <a:xfrm>
            <a:off x="6172200" y="1691640"/>
            <a:ext cx="5440680" cy="2057400"/>
          </a:xfrm>
          <a:prstGeom prst="roundRect">
            <a:avLst>
              <a:gd name="adj" fmla="val 3556"/>
            </a:avLst>
          </a:prstGeom>
          <a:solidFill>
            <a:srgbClr val="EEF3F7"/>
          </a:solidFill>
          <a:ln w="12700">
            <a:solidFill>
              <a:srgbClr val="EEF3F7"/>
            </a:solidFill>
            <a:prstDash val="solid"/>
          </a:ln>
          <a:effectLst>
            <a:outerShdw sx="100000" sy="100000" kx="0" ky="0" algn="bl" rotWithShape="0" blurRad="76200" dist="25400" dir="5400000">
              <a:srgbClr val="000000">
                <a:alpha val="12000"/>
              </a:srgbClr>
            </a:outerShdw>
          </a:effectLst>
        </p:spPr>
      </p:sp>
      <p:sp>
        <p:nvSpPr>
          <p:cNvPr id="10" name="Badge R"/>
          <p:cNvSpPr/>
          <p:nvPr/>
        </p:nvSpPr>
        <p:spPr>
          <a:xfrm>
            <a:off x="6446520" y="1947672"/>
            <a:ext cx="566928" cy="566928"/>
          </a:xfrm>
          <a:prstGeom prst="ellipse">
            <a:avLst/>
          </a:prstGeom>
          <a:solidFill>
            <a:srgbClr val="2E5E8C"/>
          </a:solidFill>
          <a:ln w="12700">
            <a:solidFill>
              <a:srgbClr val="2E5E8C"/>
            </a:solidFill>
            <a:prstDash val="solid"/>
          </a:ln>
        </p:spPr>
      </p:sp>
      <p:sp>
        <p:nvSpPr>
          <p:cNvPr id="11" name="Text 9"/>
          <p:cNvSpPr txBox="1"/>
          <p:nvPr/>
        </p:nvSpPr>
        <p:spPr>
          <a:xfrm>
            <a:off x="6446520" y="1947672"/>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rPr>
              <a:t>R</a:t>
            </a:r>
            <a:endParaRPr lang="en-US" sz="1600" dirty="0"/>
          </a:p>
        </p:txBody>
      </p:sp>
      <p:sp>
        <p:nvSpPr>
          <p:cNvPr id="12" name="Text 10"/>
          <p:cNvSpPr txBox="1"/>
          <p:nvPr/>
        </p:nvSpPr>
        <p:spPr>
          <a:xfrm>
            <a:off x="7223760" y="1947672"/>
            <a:ext cx="4206240" cy="566928"/>
          </a:xfrm>
          <a:prstGeom prst="rect">
            <a:avLst/>
          </a:prstGeom>
          <a:noFill/>
          <a:ln/>
        </p:spPr>
        <p:txBody>
          <a:bodyPr wrap="square" lIns="0" tIns="0" rIns="0" bIns="0" rtlCol="0" anchor="ctr"/>
          <a:lstStyle/>
          <a:p>
            <a:pPr indent="0" marL="0">
              <a:buNone/>
            </a:pPr>
            <a:r>
              <a:rPr lang="en-US" sz="1800" b="1" dirty="0">
                <a:solidFill>
                  <a:srgbClr val="2E5E8C"/>
                </a:solidFill>
              </a:rPr>
              <a:t>Reliability and accountability</a:t>
            </a:r>
            <a:endParaRPr lang="en-US" sz="1800" dirty="0"/>
          </a:p>
        </p:txBody>
      </p:sp>
      <p:sp>
        <p:nvSpPr>
          <p:cNvPr id="13" name="Text 11"/>
          <p:cNvSpPr txBox="1"/>
          <p:nvPr/>
        </p:nvSpPr>
        <p:spPr>
          <a:xfrm>
            <a:off x="6446520" y="2606040"/>
            <a:ext cx="4937760" cy="1051560"/>
          </a:xfrm>
          <a:prstGeom prst="rect">
            <a:avLst/>
          </a:prstGeom>
          <a:noFill/>
          <a:ln/>
        </p:spPr>
        <p:txBody>
          <a:bodyPr wrap="square" lIns="0" tIns="0" rIns="0" bIns="0" rtlCol="0" anchor="t"/>
          <a:lstStyle/>
          <a:p>
            <a:pPr indent="0" marL="0">
              <a:buNone/>
            </a:pPr>
            <a:r>
              <a:rPr lang="en-US" sz="1500" dirty="0">
                <a:solidFill>
                  <a:schemeClr val="tx1"/>
                </a:solidFill>
              </a:rPr>
              <a:t>Only 1 of 3 randomized PPO seeds was robust. Certifying a controller from its best seed would be misleading, so all seeds must be reported and tested.</a:t>
            </a:r>
            <a:endParaRPr lang="en-US" sz="1500" dirty="0"/>
          </a:p>
        </p:txBody>
      </p:sp>
      <p:sp>
        <p:nvSpPr>
          <p:cNvPr id="14" name="Honest reporting"/>
          <p:cNvSpPr/>
          <p:nvPr/>
        </p:nvSpPr>
        <p:spPr>
          <a:xfrm>
            <a:off x="548640" y="3977640"/>
            <a:ext cx="5440680" cy="2057400"/>
          </a:xfrm>
          <a:prstGeom prst="roundRect">
            <a:avLst>
              <a:gd name="adj" fmla="val 3556"/>
            </a:avLst>
          </a:prstGeom>
          <a:solidFill>
            <a:srgbClr val="EEF3F7"/>
          </a:solidFill>
          <a:ln w="12700">
            <a:solidFill>
              <a:srgbClr val="EEF3F7"/>
            </a:solidFill>
            <a:prstDash val="solid"/>
          </a:ln>
          <a:effectLst>
            <a:outerShdw sx="100000" sy="100000" kx="0" ky="0" algn="bl" rotWithShape="0" blurRad="76200" dist="25400" dir="5400000">
              <a:srgbClr val="000000">
                <a:alpha val="12000"/>
              </a:srgbClr>
            </a:outerShdw>
          </a:effectLst>
        </p:spPr>
      </p:sp>
      <p:sp>
        <p:nvSpPr>
          <p:cNvPr id="15" name="Badge H"/>
          <p:cNvSpPr/>
          <p:nvPr/>
        </p:nvSpPr>
        <p:spPr>
          <a:xfrm>
            <a:off x="822960" y="4233672"/>
            <a:ext cx="566928" cy="566928"/>
          </a:xfrm>
          <a:prstGeom prst="ellipse">
            <a:avLst/>
          </a:prstGeom>
          <a:solidFill>
            <a:srgbClr val="1F8A8A"/>
          </a:solidFill>
          <a:ln w="12700">
            <a:solidFill>
              <a:srgbClr val="1F8A8A"/>
            </a:solidFill>
            <a:prstDash val="solid"/>
          </a:ln>
        </p:spPr>
      </p:sp>
      <p:sp>
        <p:nvSpPr>
          <p:cNvPr id="16" name="Text 14"/>
          <p:cNvSpPr txBox="1"/>
          <p:nvPr/>
        </p:nvSpPr>
        <p:spPr>
          <a:xfrm>
            <a:off x="822960" y="4233672"/>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rPr>
              <a:t>H</a:t>
            </a:r>
            <a:endParaRPr lang="en-US" sz="1600" dirty="0"/>
          </a:p>
        </p:txBody>
      </p:sp>
      <p:sp>
        <p:nvSpPr>
          <p:cNvPr id="17" name="Text 15"/>
          <p:cNvSpPr txBox="1"/>
          <p:nvPr/>
        </p:nvSpPr>
        <p:spPr>
          <a:xfrm>
            <a:off x="1600200" y="4233672"/>
            <a:ext cx="4206240" cy="566928"/>
          </a:xfrm>
          <a:prstGeom prst="rect">
            <a:avLst/>
          </a:prstGeom>
          <a:noFill/>
          <a:ln/>
        </p:spPr>
        <p:txBody>
          <a:bodyPr wrap="square" lIns="0" tIns="0" rIns="0" bIns="0" rtlCol="0" anchor="ctr"/>
          <a:lstStyle/>
          <a:p>
            <a:pPr indent="0" marL="0">
              <a:buNone/>
            </a:pPr>
            <a:r>
              <a:rPr lang="en-US" sz="1800" b="1" dirty="0">
                <a:solidFill>
                  <a:srgbClr val="1F8A8A"/>
                </a:solidFill>
              </a:rPr>
              <a:t>Honest reporting</a:t>
            </a:r>
            <a:endParaRPr lang="en-US" sz="1800" dirty="0"/>
          </a:p>
        </p:txBody>
      </p:sp>
      <p:sp>
        <p:nvSpPr>
          <p:cNvPr id="18" name="Text 16"/>
          <p:cNvSpPr txBox="1"/>
          <p:nvPr/>
        </p:nvSpPr>
        <p:spPr>
          <a:xfrm>
            <a:off x="822960" y="4892040"/>
            <a:ext cx="4937760" cy="1051560"/>
          </a:xfrm>
          <a:prstGeom prst="rect">
            <a:avLst/>
          </a:prstGeom>
          <a:noFill/>
          <a:ln/>
        </p:spPr>
        <p:txBody>
          <a:bodyPr wrap="square" lIns="0" tIns="0" rIns="0" bIns="0" rtlCol="0" anchor="t"/>
          <a:lstStyle/>
          <a:p>
            <a:pPr indent="0" marL="0">
              <a:buNone/>
            </a:pPr>
            <a:r>
              <a:rPr lang="en-US" sz="1500" dirty="0">
                <a:solidFill>
                  <a:schemeClr val="tx1"/>
                </a:solidFill>
              </a:rPr>
              <a:t>Missing validation data was disclosed, not reconstructed. The demo shows labeled best seeds; aggregate claims use the full grid.</a:t>
            </a:r>
            <a:endParaRPr lang="en-US" sz="1500" dirty="0"/>
          </a:p>
        </p:txBody>
      </p:sp>
      <p:sp>
        <p:nvSpPr>
          <p:cNvPr id="19" name="Dual use and cost"/>
          <p:cNvSpPr/>
          <p:nvPr/>
        </p:nvSpPr>
        <p:spPr>
          <a:xfrm>
            <a:off x="6172200" y="3977640"/>
            <a:ext cx="5440680" cy="2057400"/>
          </a:xfrm>
          <a:prstGeom prst="roundRect">
            <a:avLst>
              <a:gd name="adj" fmla="val 3556"/>
            </a:avLst>
          </a:prstGeom>
          <a:solidFill>
            <a:srgbClr val="EEF3F7"/>
          </a:solidFill>
          <a:ln w="12700">
            <a:solidFill>
              <a:srgbClr val="EEF3F7"/>
            </a:solidFill>
            <a:prstDash val="solid"/>
          </a:ln>
          <a:effectLst>
            <a:outerShdw sx="100000" sy="100000" kx="0" ky="0" algn="bl" rotWithShape="0" blurRad="76200" dist="25400" dir="5400000">
              <a:srgbClr val="000000">
                <a:alpha val="12000"/>
              </a:srgbClr>
            </a:outerShdw>
          </a:effectLst>
        </p:spPr>
      </p:sp>
      <p:sp>
        <p:nvSpPr>
          <p:cNvPr id="20" name="Badge D"/>
          <p:cNvSpPr/>
          <p:nvPr/>
        </p:nvSpPr>
        <p:spPr>
          <a:xfrm>
            <a:off x="6446520" y="4233672"/>
            <a:ext cx="566928" cy="566928"/>
          </a:xfrm>
          <a:prstGeom prst="ellipse">
            <a:avLst/>
          </a:prstGeom>
          <a:solidFill>
            <a:srgbClr val="D2802F"/>
          </a:solidFill>
          <a:ln w="12700">
            <a:solidFill>
              <a:srgbClr val="D2802F"/>
            </a:solidFill>
            <a:prstDash val="solid"/>
          </a:ln>
        </p:spPr>
      </p:sp>
      <p:sp>
        <p:nvSpPr>
          <p:cNvPr id="21" name="Text 19"/>
          <p:cNvSpPr txBox="1"/>
          <p:nvPr/>
        </p:nvSpPr>
        <p:spPr>
          <a:xfrm>
            <a:off x="6446520" y="4233672"/>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rPr>
              <a:t>D</a:t>
            </a:r>
            <a:endParaRPr lang="en-US" sz="1600" dirty="0"/>
          </a:p>
        </p:txBody>
      </p:sp>
      <p:sp>
        <p:nvSpPr>
          <p:cNvPr id="22" name="Text 20"/>
          <p:cNvSpPr txBox="1"/>
          <p:nvPr/>
        </p:nvSpPr>
        <p:spPr>
          <a:xfrm>
            <a:off x="7223760" y="4233672"/>
            <a:ext cx="4206240" cy="566928"/>
          </a:xfrm>
          <a:prstGeom prst="rect">
            <a:avLst/>
          </a:prstGeom>
          <a:noFill/>
          <a:ln/>
        </p:spPr>
        <p:txBody>
          <a:bodyPr wrap="square" lIns="0" tIns="0" rIns="0" bIns="0" rtlCol="0" anchor="ctr"/>
          <a:lstStyle/>
          <a:p>
            <a:pPr indent="0" marL="0">
              <a:buNone/>
            </a:pPr>
            <a:r>
              <a:rPr lang="en-US" sz="1800" b="1" dirty="0">
                <a:solidFill>
                  <a:srgbClr val="D2802F"/>
                </a:solidFill>
              </a:rPr>
              <a:t>Dual use and cost</a:t>
            </a:r>
            <a:endParaRPr lang="en-US" sz="1800" dirty="0"/>
          </a:p>
        </p:txBody>
      </p:sp>
      <p:sp>
        <p:nvSpPr>
          <p:cNvPr id="23" name="Text 21"/>
          <p:cNvSpPr txBox="1"/>
          <p:nvPr/>
        </p:nvSpPr>
        <p:spPr>
          <a:xfrm>
            <a:off x="6446520" y="4892040"/>
            <a:ext cx="4937760" cy="1051560"/>
          </a:xfrm>
          <a:prstGeom prst="rect">
            <a:avLst/>
          </a:prstGeom>
          <a:noFill/>
          <a:ln/>
        </p:spPr>
        <p:txBody>
          <a:bodyPr wrap="square" lIns="0" tIns="0" rIns="0" bIns="0" rtlCol="0" anchor="t"/>
          <a:lstStyle/>
          <a:p>
            <a:pPr indent="0" marL="0">
              <a:buNone/>
            </a:pPr>
            <a:r>
              <a:rPr lang="en-US" sz="1500" dirty="0">
                <a:solidFill>
                  <a:schemeClr val="tx1"/>
                </a:solidFill>
              </a:rPr>
              <a:t>Robust legged locomotion has beneficial and military or surveillance uses. GPU training also carries energy and access costs.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indent="0" marL="0">
              <a:buNone/>
            </a:pPr>
            <a:r>
              <a:rPr lang="en-US" sz="3400" b="1" dirty="0">
                <a:solidFill>
                  <a:srgbClr val="16263D"/>
                </a:solidFill>
                <a:latin typeface="Cambria" pitchFamily="34" charset="0"/>
                <a:ea typeface="Cambria" pitchFamily="34" charset="-122"/>
                <a:cs typeface="Cambria" pitchFamily="34" charset="-120"/>
              </a:rPr>
              <a:t>Limitations and lessons learned</a:t>
            </a:r>
            <a:endParaRPr lang="en-US" sz="3400" dirty="0"/>
          </a:p>
        </p:txBody>
      </p:sp>
      <p:sp>
        <p:nvSpPr>
          <p:cNvPr id="3" name="Takeaway"/>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700" i="1" dirty="0">
                <a:solidFill>
                  <a:schemeClr val="accent1"/>
                </a:solidFill>
              </a:rPr>
              <a:t>What constrains these conclusions, and what I would do differently</a:t>
            </a:r>
            <a:endParaRPr lang="en-US" sz="1700" dirty="0"/>
          </a:p>
        </p:txBody>
      </p:sp>
      <p:sp>
        <p:nvSpPr>
          <p:cNvPr id="4" name="Limitations"/>
          <p:cNvSpPr/>
          <p:nvPr/>
        </p:nvSpPr>
        <p:spPr>
          <a:xfrm>
            <a:off x="548640" y="1691640"/>
            <a:ext cx="5440680" cy="3566160"/>
          </a:xfrm>
          <a:prstGeom prst="roundRect">
            <a:avLst>
              <a:gd name="adj" fmla="val 2051"/>
            </a:avLst>
          </a:prstGeom>
          <a:solidFill>
            <a:srgbClr val="EEF3F7"/>
          </a:solidFill>
          <a:ln w="12700">
            <a:solidFill>
              <a:srgbClr val="EEF3F7"/>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822960" y="1874520"/>
            <a:ext cx="4937760" cy="3291840"/>
          </a:xfrm>
          <a:prstGeom prst="rect">
            <a:avLst/>
          </a:prstGeom>
          <a:noFill/>
          <a:ln/>
        </p:spPr>
        <p:txBody>
          <a:bodyPr wrap="square" lIns="0" tIns="0" rIns="0" bIns="0" rtlCol="0" anchor="t"/>
          <a:lstStyle/>
          <a:p>
            <a:pPr indent="0" marL="0">
              <a:spcAft>
                <a:spcPts val="1000"/>
              </a:spcAft>
              <a:buNone/>
            </a:pPr>
            <a:r>
              <a:rPr lang="en-US" sz="1800" b="1" dirty="0">
                <a:solidFill>
                  <a:schemeClr val="accent5"/>
                </a:solidFill>
              </a:rPr>
              <a:t>Limitations</a:t>
            </a:r>
            <a:endParaRPr lang="en-US" sz="1800" dirty="0"/>
          </a:p>
          <a:p>
            <a:pPr marL="342900" indent="-342900">
              <a:spcAft>
                <a:spcPts val="1000"/>
              </a:spcAft>
              <a:buSzPct val="100000"/>
              <a:buChar char="•"/>
            </a:pPr>
            <a:r>
              <a:rPr lang="en-US" sz="1600" dirty="0">
                <a:solidFill>
                  <a:schemeClr val="tx1"/>
                </a:solidFill>
              </a:rPr>
              <a:t>Three seeds per condition: results hinge on single seeds and confidence intervals are not meaningful.</a:t>
            </a:r>
            <a:endParaRPr lang="en-US" sz="1800" dirty="0"/>
          </a:p>
          <a:p>
            <a:pPr marL="342900" indent="-342900">
              <a:spcAft>
                <a:spcPts val="1000"/>
              </a:spcAft>
              <a:buSzPct val="100000"/>
              <a:buChar char="•"/>
            </a:pPr>
            <a:r>
              <a:rPr lang="en-US" sz="1600" dirty="0">
                <a:solidFill>
                  <a:schemeClr val="tx1"/>
                </a:solidFill>
              </a:rPr>
              <a:t>Mass scaling does not scale rotational inertia; friction scaling changes all three MuJoCo friction coefficients.</a:t>
            </a:r>
            <a:endParaRPr lang="en-US" sz="1800" dirty="0"/>
          </a:p>
          <a:p>
            <a:pPr marL="342900" indent="-342900">
              <a:spcAft>
                <a:spcPts val="1000"/>
              </a:spcAft>
              <a:buSzPct val="100000"/>
              <a:buChar char="•"/>
            </a:pPr>
            <a:r>
              <a:rPr lang="en-US" sz="1600" dirty="0">
                <a:solidFill>
                  <a:schemeClr val="tx1"/>
                </a:solidFill>
              </a:rPr>
              <a:t>Return and the 3 m success rule are simplified proxies for real robot objectives.</a:t>
            </a:r>
            <a:endParaRPr lang="en-US" sz="1800" dirty="0"/>
          </a:p>
          <a:p>
            <a:pPr marL="342900" indent="-342900">
              <a:spcAft>
                <a:spcPts val="1000"/>
              </a:spcAft>
              <a:buSzPct val="100000"/>
              <a:buChar char="•"/>
            </a:pPr>
            <a:r>
              <a:rPr lang="en-US" sz="1600" dirty="0">
                <a:solidFill>
                  <a:schemeClr val="tx1"/>
                </a:solidFill>
              </a:rPr>
              <a:t>Only one task (Hopper) and two physics parameters were tested.</a:t>
            </a:r>
            <a:endParaRPr lang="en-US" sz="1800" dirty="0"/>
          </a:p>
        </p:txBody>
      </p:sp>
      <p:sp>
        <p:nvSpPr>
          <p:cNvPr id="6" name="Lessons"/>
          <p:cNvSpPr/>
          <p:nvPr/>
        </p:nvSpPr>
        <p:spPr>
          <a:xfrm>
            <a:off x="6172200" y="1691640"/>
            <a:ext cx="5440680" cy="3566160"/>
          </a:xfrm>
          <a:prstGeom prst="roundRect">
            <a:avLst>
              <a:gd name="adj" fmla="val 2051"/>
            </a:avLst>
          </a:prstGeom>
          <a:solidFill>
            <a:srgbClr val="EEF3F7"/>
          </a:solidFill>
          <a:ln w="12700">
            <a:solidFill>
              <a:srgbClr val="EEF3F7"/>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6446520" y="1874520"/>
            <a:ext cx="4937760" cy="3291840"/>
          </a:xfrm>
          <a:prstGeom prst="rect">
            <a:avLst/>
          </a:prstGeom>
          <a:noFill/>
          <a:ln/>
        </p:spPr>
        <p:txBody>
          <a:bodyPr wrap="square" lIns="0" tIns="0" rIns="0" bIns="0" rtlCol="0" anchor="t"/>
          <a:lstStyle/>
          <a:p>
            <a:pPr indent="0" marL="0">
              <a:spcAft>
                <a:spcPts val="1000"/>
              </a:spcAft>
              <a:buNone/>
            </a:pPr>
            <a:r>
              <a:rPr lang="en-US" sz="1800" b="1" dirty="0">
                <a:solidFill>
                  <a:schemeClr val="accent6"/>
                </a:solidFill>
              </a:rPr>
              <a:t>What I learned</a:t>
            </a:r>
            <a:endParaRPr lang="en-US" sz="1800" dirty="0"/>
          </a:p>
          <a:p>
            <a:pPr marL="342900" indent="-342900">
              <a:spcAft>
                <a:spcPts val="1000"/>
              </a:spcAft>
              <a:buSzPct val="100000"/>
              <a:buChar char="•"/>
            </a:pPr>
            <a:r>
              <a:rPr lang="en-US" sz="1600" dirty="0">
                <a:solidFill>
                  <a:schemeClr val="tx1"/>
                </a:solidFill>
              </a:rPr>
              <a:t>High nominal return and robustness are different properties and must be measured separately.</a:t>
            </a:r>
            <a:endParaRPr lang="en-US" sz="1800" dirty="0"/>
          </a:p>
          <a:p>
            <a:pPr marL="342900" indent="-342900">
              <a:spcAft>
                <a:spcPts val="1000"/>
              </a:spcAft>
              <a:buSzPct val="100000"/>
              <a:buChar char="•"/>
            </a:pPr>
            <a:r>
              <a:rPr lang="en-US" sz="1600" dirty="0">
                <a:solidFill>
                  <a:schemeClr val="tx1"/>
                </a:solidFill>
              </a:rPr>
              <a:t>Seed variance can dominate an RL comparison: always show every seed and use robust statistics.</a:t>
            </a:r>
            <a:endParaRPr lang="en-US" sz="1800" dirty="0"/>
          </a:p>
          <a:p>
            <a:pPr marL="342900" indent="-342900">
              <a:spcAft>
                <a:spcPts val="1000"/>
              </a:spcAft>
              <a:buSzPct val="100000"/>
              <a:buChar char="•"/>
            </a:pPr>
            <a:r>
              <a:rPr lang="en-US" sz="1600" dirty="0">
                <a:solidFill>
                  <a:schemeClr val="tx1"/>
                </a:solidFill>
              </a:rPr>
              <a:t>Log incrementally and checkpoint everything; long Colab runs will be interrupted.</a:t>
            </a:r>
            <a:endParaRPr lang="en-US" sz="1800" dirty="0"/>
          </a:p>
          <a:p>
            <a:pPr marL="342900" indent="-342900">
              <a:spcAft>
                <a:spcPts val="1000"/>
              </a:spcAft>
              <a:buSzPct val="100000"/>
              <a:buChar char="•"/>
            </a:pPr>
            <a:r>
              <a:rPr lang="en-US" sz="1600" dirty="0">
                <a:solidFill>
                  <a:schemeClr val="tx1"/>
                </a:solidFill>
              </a:rPr>
              <a:t>Small implementation details (when PPO updates relative to evaluation) can change conclusions.</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0698480" cy="822960"/>
          </a:xfrm>
          <a:prstGeom prst="rect">
            <a:avLst/>
          </a:prstGeom>
          <a:noFill/>
          <a:ln/>
        </p:spPr>
        <p:txBody>
          <a:bodyPr wrap="square" lIns="0" tIns="0" rIns="0" bIns="0" rtlCol="0" anchor="ctr"/>
          <a:lstStyle/>
          <a:p>
            <a:pPr algn="l" indent="0" marL="0">
              <a:buNone/>
            </a:pPr>
            <a:r>
              <a:rPr lang="en-US" sz="3600" b="1" dirty="0">
                <a:solidFill>
                  <a:srgbClr val="FFFFFF"/>
                </a:solidFill>
                <a:latin typeface="Cambria" pitchFamily="34" charset="0"/>
                <a:ea typeface="Cambria" pitchFamily="34" charset="-122"/>
                <a:cs typeface="Cambria" pitchFamily="34" charset="-120"/>
              </a:rPr>
              <a:t>Conclusion and future work</a:t>
            </a:r>
            <a:endParaRPr lang="en-US" sz="3600" dirty="0"/>
          </a:p>
        </p:txBody>
      </p:sp>
      <p:sp>
        <p:nvSpPr>
          <p:cNvPr id="3" name="Badge 1"/>
          <p:cNvSpPr/>
          <p:nvPr/>
        </p:nvSpPr>
        <p:spPr>
          <a:xfrm>
            <a:off x="731520" y="1737360"/>
            <a:ext cx="621792" cy="621792"/>
          </a:xfrm>
          <a:prstGeom prst="ellipse">
            <a:avLst/>
          </a:prstGeom>
          <a:solidFill>
            <a:srgbClr val="D2802F"/>
          </a:solidFill>
          <a:ln w="12700">
            <a:solidFill>
              <a:srgbClr val="D2802F"/>
            </a:solidFill>
            <a:prstDash val="solid"/>
          </a:ln>
        </p:spPr>
      </p:sp>
      <p:sp>
        <p:nvSpPr>
          <p:cNvPr id="4" name="Text 2"/>
          <p:cNvSpPr txBox="1"/>
          <p:nvPr/>
        </p:nvSpPr>
        <p:spPr>
          <a:xfrm>
            <a:off x="731520" y="1737360"/>
            <a:ext cx="621792" cy="621792"/>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5" name="Text 3"/>
          <p:cNvSpPr txBox="1"/>
          <p:nvPr/>
        </p:nvSpPr>
        <p:spPr>
          <a:xfrm>
            <a:off x="1600200" y="1600200"/>
            <a:ext cx="6035040" cy="914400"/>
          </a:xfrm>
          <a:prstGeom prst="rect">
            <a:avLst/>
          </a:prstGeom>
          <a:noFill/>
          <a:ln/>
        </p:spPr>
        <p:txBody>
          <a:bodyPr wrap="square" lIns="0" tIns="0" rIns="0" bIns="0" rtlCol="0" anchor="ctr"/>
          <a:lstStyle/>
          <a:p>
            <a:pPr indent="0" marL="0">
              <a:buNone/>
            </a:pPr>
            <a:r>
              <a:rPr lang="en-US" sz="1900" b="1" dirty="0">
                <a:solidFill>
                  <a:srgbClr val="FFFFFF"/>
                </a:solidFill>
              </a:rPr>
              <a:t>Brittleness is real</a:t>
            </a:r>
            <a:endParaRPr lang="en-US" sz="1900" dirty="0"/>
          </a:p>
          <a:p>
            <a:pPr indent="0" marL="0">
              <a:buNone/>
            </a:pPr>
            <a:r>
              <a:rPr lang="en-US" sz="1500" dirty="0">
                <a:solidFill>
                  <a:srgbClr val="CADCEB"/>
                </a:solidFill>
              </a:rPr>
              <a:t>Every nominal policy kept at most 37% of its return out of distribution (H2).</a:t>
            </a:r>
            <a:endParaRPr lang="en-US" sz="1900" dirty="0"/>
          </a:p>
        </p:txBody>
      </p:sp>
      <p:sp>
        <p:nvSpPr>
          <p:cNvPr id="6" name="Badge 2"/>
          <p:cNvSpPr/>
          <p:nvPr/>
        </p:nvSpPr>
        <p:spPr>
          <a:xfrm>
            <a:off x="731520" y="2834640"/>
            <a:ext cx="621792" cy="621792"/>
          </a:xfrm>
          <a:prstGeom prst="ellipse">
            <a:avLst/>
          </a:prstGeom>
          <a:solidFill>
            <a:srgbClr val="D2802F"/>
          </a:solidFill>
          <a:ln w="12700">
            <a:solidFill>
              <a:srgbClr val="D2802F"/>
            </a:solidFill>
            <a:prstDash val="solid"/>
          </a:ln>
        </p:spPr>
      </p:sp>
      <p:sp>
        <p:nvSpPr>
          <p:cNvPr id="7" name="Text 5"/>
          <p:cNvSpPr txBox="1"/>
          <p:nvPr/>
        </p:nvSpPr>
        <p:spPr>
          <a:xfrm>
            <a:off x="731520" y="2834640"/>
            <a:ext cx="621792" cy="621792"/>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8" name="Text 6"/>
          <p:cNvSpPr txBox="1"/>
          <p:nvPr/>
        </p:nvSpPr>
        <p:spPr>
          <a:xfrm>
            <a:off x="1600200" y="2697480"/>
            <a:ext cx="6035040" cy="914400"/>
          </a:xfrm>
          <a:prstGeom prst="rect">
            <a:avLst/>
          </a:prstGeom>
          <a:noFill/>
          <a:ln/>
        </p:spPr>
        <p:txBody>
          <a:bodyPr wrap="square" lIns="0" tIns="0" rIns="0" bIns="0" rtlCol="0" anchor="ctr"/>
          <a:lstStyle/>
          <a:p>
            <a:pPr indent="0" marL="0">
              <a:buNone/>
            </a:pPr>
            <a:r>
              <a:rPr lang="en-US" sz="1900" b="1" dirty="0">
                <a:solidFill>
                  <a:srgbClr val="FFFFFF"/>
                </a:solidFill>
              </a:rPr>
              <a:t>SAC was the reliable specialist</a:t>
            </a:r>
            <a:endParaRPr lang="en-US" sz="1900" dirty="0"/>
          </a:p>
          <a:p>
            <a:pPr indent="0" marL="0">
              <a:buNone/>
            </a:pPr>
            <a:r>
              <a:rPr lang="en-US" sz="1500" dirty="0">
                <a:solidFill>
                  <a:srgbClr val="CADCEB"/>
                </a:solidFill>
              </a:rPr>
              <a:t>All 3 SAC Nominal seeds learned to hop; it was the strongest nominal configuration.</a:t>
            </a:r>
            <a:endParaRPr lang="en-US" sz="1900" dirty="0"/>
          </a:p>
        </p:txBody>
      </p:sp>
      <p:sp>
        <p:nvSpPr>
          <p:cNvPr id="9" name="Badge 3"/>
          <p:cNvSpPr/>
          <p:nvPr/>
        </p:nvSpPr>
        <p:spPr>
          <a:xfrm>
            <a:off x="731520" y="3931920"/>
            <a:ext cx="621792" cy="621792"/>
          </a:xfrm>
          <a:prstGeom prst="ellipse">
            <a:avLst/>
          </a:prstGeom>
          <a:solidFill>
            <a:srgbClr val="D2802F"/>
          </a:solidFill>
          <a:ln w="12700">
            <a:solidFill>
              <a:srgbClr val="D2802F"/>
            </a:solidFill>
            <a:prstDash val="solid"/>
          </a:ln>
        </p:spPr>
      </p:sp>
      <p:sp>
        <p:nvSpPr>
          <p:cNvPr id="10" name="Text 8"/>
          <p:cNvSpPr txBox="1"/>
          <p:nvPr/>
        </p:nvSpPr>
        <p:spPr>
          <a:xfrm>
            <a:off x="731520" y="3931920"/>
            <a:ext cx="621792" cy="621792"/>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1" name="Text 9"/>
          <p:cNvSpPr txBox="1"/>
          <p:nvPr/>
        </p:nvSpPr>
        <p:spPr>
          <a:xfrm>
            <a:off x="1600200" y="3794760"/>
            <a:ext cx="6035040" cy="914400"/>
          </a:xfrm>
          <a:prstGeom prst="rect">
            <a:avLst/>
          </a:prstGeom>
          <a:noFill/>
          <a:ln/>
        </p:spPr>
        <p:txBody>
          <a:bodyPr wrap="square" lIns="0" tIns="0" rIns="0" bIns="0" rtlCol="0" anchor="ctr"/>
          <a:lstStyle/>
          <a:p>
            <a:pPr indent="0" marL="0">
              <a:buNone/>
            </a:pPr>
            <a:r>
              <a:rPr lang="en-US" sz="1900" b="1" dirty="0">
                <a:solidFill>
                  <a:srgbClr val="FFFFFF"/>
                </a:solidFill>
              </a:rPr>
              <a:t>Randomization helps, unreliably</a:t>
            </a:r>
            <a:endParaRPr lang="en-US" sz="1900" dirty="0"/>
          </a:p>
          <a:p>
            <a:pPr indent="0" marL="0">
              <a:buNone/>
            </a:pPr>
            <a:r>
              <a:rPr lang="en-US" sz="1500" dirty="0">
                <a:solidFill>
                  <a:srgbClr val="CADCEB"/>
                </a:solidFill>
              </a:rPr>
              <a:t>OOD return rose (every SAC seed), but strong robustness appeared in only 1 of 3 PPO seeds.</a:t>
            </a:r>
            <a:endParaRPr lang="en-US" sz="1900" dirty="0"/>
          </a:p>
        </p:txBody>
      </p:sp>
      <p:sp>
        <p:nvSpPr>
          <p:cNvPr id="12" name="Future work card"/>
          <p:cNvSpPr/>
          <p:nvPr/>
        </p:nvSpPr>
        <p:spPr>
          <a:xfrm>
            <a:off x="7955280" y="1600200"/>
            <a:ext cx="3657600" cy="3108960"/>
          </a:xfrm>
          <a:prstGeom prst="roundRect">
            <a:avLst>
              <a:gd name="adj" fmla="val 2353"/>
            </a:avLst>
          </a:prstGeom>
          <a:solidFill>
            <a:srgbClr val="22385A"/>
          </a:solidFill>
          <a:ln w="12700">
            <a:solidFill>
              <a:srgbClr val="22385A"/>
            </a:solidFill>
            <a:prstDash val="solid"/>
          </a:ln>
        </p:spPr>
      </p:sp>
      <p:sp>
        <p:nvSpPr>
          <p:cNvPr id="13" name="Text 11"/>
          <p:cNvSpPr txBox="1"/>
          <p:nvPr/>
        </p:nvSpPr>
        <p:spPr>
          <a:xfrm>
            <a:off x="8183880" y="1737360"/>
            <a:ext cx="3246120" cy="2880360"/>
          </a:xfrm>
          <a:prstGeom prst="rect">
            <a:avLst/>
          </a:prstGeom>
          <a:noFill/>
          <a:ln/>
        </p:spPr>
        <p:txBody>
          <a:bodyPr wrap="square" lIns="0" tIns="0" rIns="0" bIns="0" rtlCol="0" anchor="t"/>
          <a:lstStyle/>
          <a:p>
            <a:pPr indent="0" marL="0">
              <a:spcAft>
                <a:spcPts val="600"/>
              </a:spcAft>
              <a:buNone/>
            </a:pPr>
            <a:r>
              <a:rPr lang="en-US" sz="1800" b="1" dirty="0">
                <a:solidFill>
                  <a:srgbClr val="D2802F"/>
                </a:solidFill>
              </a:rPr>
              <a:t>Future work</a:t>
            </a:r>
            <a:endParaRPr lang="en-US" sz="1800" dirty="0"/>
          </a:p>
          <a:p>
            <a:pPr marL="342900" indent="-342900">
              <a:spcAft>
                <a:spcPts val="600"/>
              </a:spcAft>
              <a:buSzPct val="100000"/>
              <a:buChar char="•"/>
            </a:pPr>
            <a:r>
              <a:rPr lang="en-US" sz="1500" dirty="0">
                <a:solidFill>
                  <a:srgbClr val="FFFFFF"/>
                </a:solidFill>
              </a:rPr>
              <a:t>5+ seeds with bootstrap confidence intervals</a:t>
            </a:r>
            <a:endParaRPr lang="en-US" sz="1800" dirty="0"/>
          </a:p>
          <a:p>
            <a:pPr marL="342900" indent="-342900">
              <a:spcAft>
                <a:spcPts val="600"/>
              </a:spcAft>
              <a:buSzPct val="100000"/>
              <a:buChar char="•"/>
            </a:pPr>
            <a:r>
              <a:rPr lang="en-US" sz="1500" dirty="0">
                <a:solidFill>
                  <a:srgbClr val="FFFFFF"/>
                </a:solidFill>
              </a:rPr>
              <a:t>Scale inertia with mass; wider and continuous shifts</a:t>
            </a:r>
            <a:endParaRPr lang="en-US" sz="1800" dirty="0"/>
          </a:p>
          <a:p>
            <a:pPr marL="342900" indent="-342900">
              <a:spcAft>
                <a:spcPts val="600"/>
              </a:spcAft>
              <a:buSzPct val="100000"/>
              <a:buChar char="•"/>
            </a:pPr>
            <a:r>
              <a:rPr lang="en-US" sz="1500" dirty="0">
                <a:solidFill>
                  <a:srgbClr val="FFFFFF"/>
                </a:solidFill>
              </a:rPr>
              <a:t>Adaptive randomization or recurrent policies</a:t>
            </a:r>
            <a:endParaRPr lang="en-US" sz="1800" dirty="0"/>
          </a:p>
          <a:p>
            <a:pPr marL="342900" indent="-342900">
              <a:spcAft>
                <a:spcPts val="600"/>
              </a:spcAft>
              <a:buSzPct val="100000"/>
              <a:buChar char="•"/>
            </a:pPr>
            <a:r>
              <a:rPr lang="en-US" sz="1500" dirty="0">
                <a:solidFill>
                  <a:srgbClr val="FFFFFF"/>
                </a:solidFill>
              </a:rPr>
              <a:t>System identification before any hardware test</a:t>
            </a:r>
            <a:endParaRPr lang="en-US" sz="1800" dirty="0"/>
          </a:p>
        </p:txBody>
      </p:sp>
      <p:sp>
        <p:nvSpPr>
          <p:cNvPr id="14" name="Text 12"/>
          <p:cNvSpPr txBox="1"/>
          <p:nvPr/>
        </p:nvSpPr>
        <p:spPr>
          <a:xfrm>
            <a:off x="731520" y="5120640"/>
            <a:ext cx="10881360" cy="822960"/>
          </a:xfrm>
          <a:prstGeom prst="rect">
            <a:avLst/>
          </a:prstGeom>
          <a:noFill/>
          <a:ln/>
        </p:spPr>
        <p:txBody>
          <a:bodyPr wrap="square" lIns="0" tIns="0" rIns="0" bIns="0" rtlCol="0" anchor="ctr"/>
          <a:lstStyle/>
          <a:p>
            <a:pPr indent="0" marL="0">
              <a:buNone/>
            </a:pPr>
            <a:r>
              <a:rPr lang="en-US" sz="1900" i="1" dirty="0">
                <a:solidFill>
                  <a:srgbClr val="FFFFFF"/>
                </a:solidFill>
                <a:latin typeface="Cambria" pitchFamily="34" charset="0"/>
                <a:ea typeface="Cambria" pitchFamily="34" charset="-122"/>
                <a:cs typeface="Cambria" pitchFamily="34" charset="-120"/>
              </a:rPr>
              <a:t>Takeaway: a policy that scores well in its training simulator is not automatically robust. Test under controlled shift, and report every seed.</a:t>
            </a:r>
            <a:endParaRPr lang="en-US" sz="1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indent="0" marL="0">
              <a:buNone/>
            </a:pPr>
            <a:r>
              <a:rPr lang="en-US" sz="3400" b="1" dirty="0">
                <a:solidFill>
                  <a:srgbClr val="16263D"/>
                </a:solidFill>
                <a:latin typeface="Cambria" pitchFamily="34" charset="0"/>
                <a:ea typeface="Cambria" pitchFamily="34" charset="-122"/>
                <a:cs typeface="Cambria" pitchFamily="34" charset="-120"/>
              </a:rPr>
              <a:t>References</a:t>
            </a:r>
            <a:endParaRPr lang="en-US" sz="3400" dirty="0"/>
          </a:p>
        </p:txBody>
      </p:sp>
      <p:sp>
        <p:nvSpPr>
          <p:cNvPr id="3" name="Text 1"/>
          <p:cNvSpPr txBox="1"/>
          <p:nvPr/>
        </p:nvSpPr>
        <p:spPr>
          <a:xfrm>
            <a:off x="548640" y="1325880"/>
            <a:ext cx="11064240" cy="4892040"/>
          </a:xfrm>
          <a:prstGeom prst="rect">
            <a:avLst/>
          </a:prstGeom>
          <a:noFill/>
          <a:ln/>
        </p:spPr>
        <p:txBody>
          <a:bodyPr wrap="square" lIns="0" tIns="0" rIns="0" bIns="0" rtlCol="0" anchor="t"/>
          <a:lstStyle/>
          <a:p>
            <a:pPr indent="0" marL="0">
              <a:spcAft>
                <a:spcPts val="700"/>
              </a:spcAft>
              <a:buNone/>
            </a:pPr>
            <a:r>
              <a:rPr lang="en-US" sz="1400" dirty="0">
                <a:solidFill>
                  <a:schemeClr val="tx1"/>
                </a:solidFill>
              </a:rPr>
              <a:t>Agarwal, R., et al. (2021). Deep reinforcement learning at the edge of the statistical precipice. NeurIPS, 34, 29304–29320.</a:t>
            </a:r>
            <a:endParaRPr lang="en-US" sz="1400" dirty="0"/>
          </a:p>
          <a:p>
            <a:pPr indent="0" marL="0">
              <a:spcAft>
                <a:spcPts val="700"/>
              </a:spcAft>
              <a:buNone/>
            </a:pPr>
            <a:r>
              <a:rPr lang="en-US" sz="1400" dirty="0">
                <a:solidFill>
                  <a:schemeClr val="tx1"/>
                </a:solidFill>
              </a:rPr>
              <a:t>Haarnoja, T., Zhou, A., Abbeel, P., &amp; Levine, S. (2018). Soft actor-critic. Proceedings of ICML, PMLR 80, 1861–1870.</a:t>
            </a:r>
            <a:endParaRPr lang="en-US" sz="1400" dirty="0"/>
          </a:p>
          <a:p>
            <a:pPr indent="0" marL="0">
              <a:spcAft>
                <a:spcPts val="700"/>
              </a:spcAft>
              <a:buNone/>
            </a:pPr>
            <a:r>
              <a:rPr lang="en-US" sz="1400" dirty="0">
                <a:solidFill>
                  <a:schemeClr val="tx1"/>
                </a:solidFill>
              </a:rPr>
              <a:t>Henderson, P., et al. (2018). Deep reinforcement learning that matters. Proceedings of AAAI, 32(1), 3207–3214.</a:t>
            </a:r>
            <a:endParaRPr lang="en-US" sz="1400" dirty="0"/>
          </a:p>
          <a:p>
            <a:pPr indent="0" marL="0">
              <a:spcAft>
                <a:spcPts val="700"/>
              </a:spcAft>
              <a:buNone/>
            </a:pPr>
            <a:r>
              <a:rPr lang="en-US" sz="1400" dirty="0">
                <a:solidFill>
                  <a:schemeClr val="tx1"/>
                </a:solidFill>
              </a:rPr>
              <a:t>Peng, X. B., Andrychowicz, M., Zaremba, W., &amp; Abbeel, P. (2018). Sim-to-real transfer of robotic control with dynamics randomization. ICRA, 3803–3810.</a:t>
            </a:r>
            <a:endParaRPr lang="en-US" sz="1400" dirty="0"/>
          </a:p>
          <a:p>
            <a:pPr indent="0" marL="0">
              <a:spcAft>
                <a:spcPts val="700"/>
              </a:spcAft>
              <a:buNone/>
            </a:pPr>
            <a:r>
              <a:rPr lang="en-US" sz="1400" dirty="0">
                <a:solidFill>
                  <a:schemeClr val="tx1"/>
                </a:solidFill>
              </a:rPr>
              <a:t>Raffin, A., et al. (2021). Stable-Baselines3: Reliable reinforcement learning implementations. JMLR, 22(268), 1–8.</a:t>
            </a:r>
            <a:endParaRPr lang="en-US" sz="1400" dirty="0"/>
          </a:p>
          <a:p>
            <a:pPr indent="0" marL="0">
              <a:spcAft>
                <a:spcPts val="700"/>
              </a:spcAft>
              <a:buNone/>
            </a:pPr>
            <a:r>
              <a:rPr lang="en-US" sz="1400" dirty="0">
                <a:solidFill>
                  <a:schemeClr val="tx1"/>
                </a:solidFill>
              </a:rPr>
              <a:t>Rajeswaran, A., Ghotra, S., Ravindran, B., &amp; Levine, S. (2017). EPOpt: Learning robust neural network policies using model ensembles. ICLR.</a:t>
            </a:r>
            <a:endParaRPr lang="en-US" sz="1400" dirty="0"/>
          </a:p>
          <a:p>
            <a:pPr indent="0" marL="0">
              <a:spcAft>
                <a:spcPts val="700"/>
              </a:spcAft>
              <a:buNone/>
            </a:pPr>
            <a:r>
              <a:rPr lang="en-US" sz="1400" dirty="0">
                <a:solidFill>
                  <a:schemeClr val="tx1"/>
                </a:solidFill>
              </a:rPr>
              <a:t>Schulman, J., Wolski, F., Dhariwal, P., Radford, A., &amp; Klimov, O. (2017). Proximal policy optimization algorithms. arXiv:1707.06347.</a:t>
            </a:r>
            <a:endParaRPr lang="en-US" sz="1400" dirty="0"/>
          </a:p>
          <a:p>
            <a:pPr indent="0" marL="0">
              <a:spcAft>
                <a:spcPts val="700"/>
              </a:spcAft>
              <a:buNone/>
            </a:pPr>
            <a:r>
              <a:rPr lang="en-US" sz="1400" dirty="0">
                <a:solidFill>
                  <a:schemeClr val="tx1"/>
                </a:solidFill>
              </a:rPr>
              <a:t>Tobin, J., et al. (2017). Domain randomization for transferring deep neural networks from simulation to the real world. IROS, 23–30.</a:t>
            </a:r>
            <a:endParaRPr lang="en-US" sz="1400" dirty="0"/>
          </a:p>
          <a:p>
            <a:pPr indent="0" marL="0">
              <a:spcAft>
                <a:spcPts val="700"/>
              </a:spcAft>
              <a:buNone/>
            </a:pPr>
            <a:r>
              <a:rPr lang="en-US" sz="1400" dirty="0">
                <a:solidFill>
                  <a:schemeClr val="tx1"/>
                </a:solidFill>
              </a:rPr>
              <a:t>Todorov, E., Erez, T., &amp; Tassa, Y. (2012). MuJoCo: A physics engine for model-based control. IROS, 5026–5033.</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indent="0" marL="0">
              <a:buNone/>
            </a:pPr>
            <a:r>
              <a:rPr lang="en-US" sz="3400" b="1" dirty="0">
                <a:solidFill>
                  <a:srgbClr val="16263D"/>
                </a:solidFill>
                <a:latin typeface="Cambria" pitchFamily="34" charset="0"/>
                <a:ea typeface="Cambria" pitchFamily="34" charset="-122"/>
                <a:cs typeface="Cambria" pitchFamily="34" charset="-120"/>
              </a:rPr>
              <a:t>AI disclosure</a:t>
            </a:r>
            <a:endParaRPr lang="en-US" sz="3400" dirty="0"/>
          </a:p>
        </p:txBody>
      </p:sp>
      <p:sp>
        <p:nvSpPr>
          <p:cNvPr id="3" name="Takeaway"/>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700" i="1" dirty="0">
                <a:solidFill>
                  <a:schemeClr val="accent1"/>
                </a:solidFill>
              </a:rPr>
              <a:t>How I used an AI assistant in Part 2</a:t>
            </a:r>
            <a:endParaRPr lang="en-US" sz="1700" dirty="0"/>
          </a:p>
        </p:txBody>
      </p:sp>
      <p:sp>
        <p:nvSpPr>
          <p:cNvPr id="4" name="AI use"/>
          <p:cNvSpPr/>
          <p:nvPr/>
        </p:nvSpPr>
        <p:spPr>
          <a:xfrm>
            <a:off x="548640" y="1691640"/>
            <a:ext cx="6766560" cy="3566160"/>
          </a:xfrm>
          <a:prstGeom prst="roundRect">
            <a:avLst>
              <a:gd name="adj" fmla="val 2051"/>
            </a:avLst>
          </a:prstGeom>
          <a:solidFill>
            <a:srgbClr val="EEF3F7"/>
          </a:solidFill>
          <a:ln w="12700">
            <a:solidFill>
              <a:srgbClr val="EEF3F7"/>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822960" y="1920240"/>
            <a:ext cx="6263640" cy="3200400"/>
          </a:xfrm>
          <a:prstGeom prst="rect">
            <a:avLst/>
          </a:prstGeom>
          <a:noFill/>
          <a:ln/>
        </p:spPr>
        <p:txBody>
          <a:bodyPr wrap="square" lIns="0" tIns="0" rIns="0" bIns="0" rtlCol="0" anchor="t"/>
          <a:lstStyle/>
          <a:p>
            <a:pPr indent="0" marL="0">
              <a:spcAft>
                <a:spcPts val="1200"/>
              </a:spcAft>
              <a:buNone/>
            </a:pPr>
            <a:r>
              <a:rPr lang="en-US" sz="1700" b="1" dirty="0">
                <a:solidFill>
                  <a:schemeClr val="accent1"/>
                </a:solidFill>
              </a:rPr>
              <a:t>I used Claude (Anthropic) to:</a:t>
            </a:r>
            <a:endParaRPr lang="en-US" sz="1700" dirty="0"/>
          </a:p>
          <a:p>
            <a:pPr marL="342900" indent="-342900">
              <a:spcAft>
                <a:spcPts val="1200"/>
              </a:spcAft>
              <a:buSzPct val="100000"/>
              <a:buChar char="•"/>
            </a:pPr>
            <a:r>
              <a:rPr lang="en-US" sz="1700" dirty="0">
                <a:solidFill>
                  <a:schemeClr val="tx1"/>
                </a:solidFill>
              </a:rPr>
              <a:t>Review my slides, notebooks and result files against the assignment rubric</a:t>
            </a:r>
            <a:endParaRPr lang="en-US" sz="1700" dirty="0"/>
          </a:p>
          <a:p>
            <a:pPr marL="342900" indent="-342900">
              <a:spcAft>
                <a:spcPts val="1200"/>
              </a:spcAft>
              <a:buSzPct val="100000"/>
              <a:buChar char="•"/>
            </a:pPr>
            <a:r>
              <a:rPr lang="en-US" sz="1700" dirty="0">
                <a:solidFill>
                  <a:schemeClr val="tx1"/>
                </a:solidFill>
              </a:rPr>
              <a:t>Recompute per-seed statistics and IQMs from my own CSV outputs</a:t>
            </a:r>
            <a:endParaRPr lang="en-US" sz="1700" dirty="0"/>
          </a:p>
          <a:p>
            <a:pPr marL="342900" indent="-342900">
              <a:spcAft>
                <a:spcPts val="1200"/>
              </a:spcAft>
              <a:buSzPct val="100000"/>
              <a:buChar char="•"/>
            </a:pPr>
            <a:r>
              <a:rPr lang="en-US" sz="1700" dirty="0">
                <a:solidFill>
                  <a:schemeClr val="tx1"/>
                </a:solidFill>
              </a:rPr>
              <a:t>Diagnose the Colab rendering crash and write the demo-video notebook</a:t>
            </a:r>
            <a:endParaRPr lang="en-US" sz="1700" dirty="0"/>
          </a:p>
          <a:p>
            <a:pPr marL="342900" indent="-342900">
              <a:spcAft>
                <a:spcPts val="1200"/>
              </a:spcAft>
              <a:buSzPct val="100000"/>
              <a:buChar char="•"/>
            </a:pPr>
            <a:r>
              <a:rPr lang="en-US" sz="1700" dirty="0">
                <a:solidFill>
                  <a:schemeClr val="tx1"/>
                </a:solidFill>
              </a:rPr>
              <a:t>Draft this slide deck and the speaker notes</a:t>
            </a:r>
            <a:endParaRPr lang="en-US" sz="1700" dirty="0"/>
          </a:p>
        </p:txBody>
      </p:sp>
      <p:sp>
        <p:nvSpPr>
          <p:cNvPr id="6" name="Responsibility"/>
          <p:cNvSpPr/>
          <p:nvPr/>
        </p:nvSpPr>
        <p:spPr>
          <a:xfrm>
            <a:off x="7589520" y="1691640"/>
            <a:ext cx="4023360" cy="3566160"/>
          </a:xfrm>
          <a:prstGeom prst="roundRect">
            <a:avLst>
              <a:gd name="adj" fmla="val 2051"/>
            </a:avLst>
          </a:prstGeom>
          <a:solidFill>
            <a:srgbClr val="E3F1EF"/>
          </a:solidFill>
          <a:ln w="12700">
            <a:solidFill>
              <a:srgbClr val="E3F1EF"/>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7818120" y="1920240"/>
            <a:ext cx="3611880" cy="3200400"/>
          </a:xfrm>
          <a:prstGeom prst="rect">
            <a:avLst/>
          </a:prstGeom>
          <a:noFill/>
          <a:ln/>
        </p:spPr>
        <p:txBody>
          <a:bodyPr wrap="square" lIns="0" tIns="0" rIns="0" bIns="0" rtlCol="0" anchor="t"/>
          <a:lstStyle/>
          <a:p>
            <a:pPr indent="0" marL="0">
              <a:spcAft>
                <a:spcPts val="800"/>
              </a:spcAft>
              <a:buNone/>
            </a:pPr>
            <a:r>
              <a:rPr lang="en-US" sz="1700" b="1" dirty="0">
                <a:solidFill>
                  <a:schemeClr val="accent2"/>
                </a:solidFill>
              </a:rPr>
              <a:t>My responsibility</a:t>
            </a:r>
            <a:endParaRPr lang="en-US" sz="1700" dirty="0"/>
          </a:p>
          <a:p>
            <a:pPr indent="0" marL="0">
              <a:spcAft>
                <a:spcPts val="800"/>
              </a:spcAft>
              <a:buNone/>
            </a:pPr>
            <a:r>
              <a:rPr lang="en-US" sz="1700" dirty="0">
                <a:solidFill>
                  <a:schemeClr val="tx1"/>
                </a:solidFill>
              </a:rPr>
              <a:t>I designed the study in Part 1, ran all training and evaluation, checked every number in this deck against my result files, and take responsibility for the content and conclusions.</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RL Robustness">
  <a:themeElements>
    <a:clrScheme name="RL Robustness">
      <a:dk1>
        <a:srgbClr val="1F2A37"/>
      </a:dk1>
      <a:lt1>
        <a:srgbClr val="FFFFFF"/>
      </a:lt1>
      <a:dk2>
        <a:srgbClr val="16263D"/>
      </a:dk2>
      <a:lt2>
        <a:srgbClr val="EEF3F7"/>
      </a:lt2>
      <a:accent1>
        <a:srgbClr val="2E5E8C"/>
      </a:accent1>
      <a:accent2>
        <a:srgbClr val="1F8A8A"/>
      </a:accent2>
      <a:accent3>
        <a:srgbClr val="D2802F"/>
      </a:accent3>
      <a:accent4>
        <a:srgbClr val="8DB4DA"/>
      </a:accent4>
      <a:accent5>
        <a:srgbClr val="B83B3B"/>
      </a:accent5>
      <a:accent6>
        <a:srgbClr val="2E8B57"/>
      </a:accent6>
      <a:hlink>
        <a:srgbClr val="2E5E8C"/>
      </a:hlink>
      <a:folHlink>
        <a:srgbClr val="5F6B7A"/>
      </a:folHlink>
    </a:clrScheme>
    <a:fontScheme name="RL Robustnes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Robust Locomotion Under Dynamics Shift</dc:title>
  <dc:subject>PptxGenJS Presentation</dc:subject>
  <dc:creator>Suresh Tammana</dc:creator>
  <cp:lastModifiedBy>Suresh Tammana</cp:lastModifiedBy>
  <cp:revision>1</cp:revision>
  <dcterms:created xsi:type="dcterms:W3CDTF">2026-10-07T04:00:59Z</dcterms:created>
  <dcterms:modified xsi:type="dcterms:W3CDTF">2026-10-07T04:00:59Z</dcterms:modified>
</cp:coreProperties>
</file>